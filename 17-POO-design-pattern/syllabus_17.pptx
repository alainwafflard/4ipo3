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3" r:id="rId1"/>
  </p:sldMasterIdLst>
  <p:notesMasterIdLst>
    <p:notesMasterId r:id="rId79"/>
  </p:notesMasterIdLst>
  <p:sldIdLst>
    <p:sldId id="473" r:id="rId2"/>
    <p:sldId id="575" r:id="rId3"/>
    <p:sldId id="256" r:id="rId4"/>
    <p:sldId id="491" r:id="rId5"/>
    <p:sldId id="494" r:id="rId6"/>
    <p:sldId id="539" r:id="rId7"/>
    <p:sldId id="495" r:id="rId8"/>
    <p:sldId id="570" r:id="rId9"/>
    <p:sldId id="496" r:id="rId10"/>
    <p:sldId id="497" r:id="rId11"/>
    <p:sldId id="258" r:id="rId12"/>
    <p:sldId id="503" r:id="rId13"/>
    <p:sldId id="507" r:id="rId14"/>
    <p:sldId id="505" r:id="rId15"/>
    <p:sldId id="506" r:id="rId16"/>
    <p:sldId id="508" r:id="rId17"/>
    <p:sldId id="568" r:id="rId18"/>
    <p:sldId id="569" r:id="rId19"/>
    <p:sldId id="270" r:id="rId20"/>
    <p:sldId id="283" r:id="rId21"/>
    <p:sldId id="536" r:id="rId22"/>
    <p:sldId id="535" r:id="rId23"/>
    <p:sldId id="537" r:id="rId24"/>
    <p:sldId id="538" r:id="rId25"/>
    <p:sldId id="514" r:id="rId26"/>
    <p:sldId id="518" r:id="rId27"/>
    <p:sldId id="519" r:id="rId28"/>
    <p:sldId id="520" r:id="rId29"/>
    <p:sldId id="516" r:id="rId30"/>
    <p:sldId id="513" r:id="rId31"/>
    <p:sldId id="515" r:id="rId32"/>
    <p:sldId id="517" r:id="rId33"/>
    <p:sldId id="522" r:id="rId34"/>
    <p:sldId id="533" r:id="rId35"/>
    <p:sldId id="523" r:id="rId36"/>
    <p:sldId id="534" r:id="rId37"/>
    <p:sldId id="502" r:id="rId38"/>
    <p:sldId id="562" r:id="rId39"/>
    <p:sldId id="574" r:id="rId40"/>
    <p:sldId id="553" r:id="rId41"/>
    <p:sldId id="540" r:id="rId42"/>
    <p:sldId id="545" r:id="rId43"/>
    <p:sldId id="500" r:id="rId44"/>
    <p:sldId id="499" r:id="rId45"/>
    <p:sldId id="563" r:id="rId46"/>
    <p:sldId id="546" r:id="rId47"/>
    <p:sldId id="552" r:id="rId48"/>
    <p:sldId id="542" r:id="rId49"/>
    <p:sldId id="551" r:id="rId50"/>
    <p:sldId id="554" r:id="rId51"/>
    <p:sldId id="548" r:id="rId52"/>
    <p:sldId id="549" r:id="rId53"/>
    <p:sldId id="557" r:id="rId54"/>
    <p:sldId id="559" r:id="rId55"/>
    <p:sldId id="493" r:id="rId56"/>
    <p:sldId id="543" r:id="rId57"/>
    <p:sldId id="560" r:id="rId58"/>
    <p:sldId id="547" r:id="rId59"/>
    <p:sldId id="550" r:id="rId60"/>
    <p:sldId id="555" r:id="rId61"/>
    <p:sldId id="492" r:id="rId62"/>
    <p:sldId id="525" r:id="rId63"/>
    <p:sldId id="528" r:id="rId64"/>
    <p:sldId id="531" r:id="rId65"/>
    <p:sldId id="527" r:id="rId66"/>
    <p:sldId id="532" r:id="rId67"/>
    <p:sldId id="561" r:id="rId68"/>
    <p:sldId id="526" r:id="rId69"/>
    <p:sldId id="529" r:id="rId70"/>
    <p:sldId id="530" r:id="rId71"/>
    <p:sldId id="577" r:id="rId72"/>
    <p:sldId id="578" r:id="rId73"/>
    <p:sldId id="579" r:id="rId74"/>
    <p:sldId id="580" r:id="rId75"/>
    <p:sldId id="581" r:id="rId76"/>
    <p:sldId id="582" r:id="rId77"/>
    <p:sldId id="573" r:id="rId78"/>
  </p:sldIdLst>
  <p:sldSz cx="12192000" cy="6858000"/>
  <p:notesSz cx="6858000" cy="9144000"/>
  <p:embeddedFontLst>
    <p:embeddedFont>
      <p:font typeface="Consolas" panose="020B0609020204030204" pitchFamily="49" charset="0"/>
      <p:regular r:id="rId80"/>
      <p:bold r:id="rId81"/>
      <p:italic r:id="rId82"/>
      <p:boldItalic r:id="rId83"/>
    </p:embeddedFont>
    <p:embeddedFont>
      <p:font typeface="Garamond" panose="02020404030301010803" pitchFamily="18" charset="0"/>
      <p:regular r:id="rId84"/>
      <p:bold r:id="rId85"/>
      <p:italic r:id="rId86"/>
      <p:boldItalic r:id="rId87"/>
    </p:embeddedFont>
  </p:embeddedFont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7-00 : introduction" id="{4217CD71-C1EE-4761-86A2-06414B319C86}">
          <p14:sldIdLst>
            <p14:sldId id="473"/>
            <p14:sldId id="575"/>
            <p14:sldId id="256"/>
            <p14:sldId id="491"/>
            <p14:sldId id="494"/>
            <p14:sldId id="539"/>
            <p14:sldId id="495"/>
            <p14:sldId id="570"/>
            <p14:sldId id="496"/>
            <p14:sldId id="497"/>
          </p14:sldIdLst>
        </p14:section>
        <p14:section name="17-01 : decorator" id="{5F86CBB3-57F6-438B-B223-3DD32B3F9EC4}">
          <p14:sldIdLst>
            <p14:sldId id="258"/>
            <p14:sldId id="503"/>
            <p14:sldId id="507"/>
            <p14:sldId id="505"/>
            <p14:sldId id="506"/>
            <p14:sldId id="508"/>
            <p14:sldId id="568"/>
            <p14:sldId id="569"/>
          </p14:sldIdLst>
        </p14:section>
        <p14:section name="17-02 : factory" id="{79608662-34A6-483E-A30B-86BAFEF70152}">
          <p14:sldIdLst>
            <p14:sldId id="270"/>
            <p14:sldId id="283"/>
            <p14:sldId id="536"/>
            <p14:sldId id="535"/>
            <p14:sldId id="537"/>
            <p14:sldId id="538"/>
          </p14:sldIdLst>
        </p14:section>
        <p14:section name="17-13 : iterator" id="{1EC0E855-9306-4FFC-935B-FBCBAE403521}">
          <p14:sldIdLst>
            <p14:sldId id="514"/>
            <p14:sldId id="518"/>
            <p14:sldId id="519"/>
            <p14:sldId id="520"/>
            <p14:sldId id="516"/>
            <p14:sldId id="513"/>
            <p14:sldId id="515"/>
            <p14:sldId id="517"/>
            <p14:sldId id="522"/>
            <p14:sldId id="533"/>
            <p14:sldId id="523"/>
            <p14:sldId id="534"/>
          </p14:sldIdLst>
        </p14:section>
        <p14:section name="17-16 : observer" id="{249C52F6-58F8-4CC3-AB7D-7BF4E9CAC11F}">
          <p14:sldIdLst>
            <p14:sldId id="502"/>
            <p14:sldId id="562"/>
            <p14:sldId id="574"/>
            <p14:sldId id="553"/>
            <p14:sldId id="540"/>
            <p14:sldId id="545"/>
            <p14:sldId id="500"/>
            <p14:sldId id="499"/>
            <p14:sldId id="563"/>
            <p14:sldId id="546"/>
            <p14:sldId id="552"/>
            <p14:sldId id="542"/>
            <p14:sldId id="551"/>
            <p14:sldId id="554"/>
            <p14:sldId id="548"/>
            <p14:sldId id="549"/>
            <p14:sldId id="557"/>
            <p14:sldId id="559"/>
            <p14:sldId id="493"/>
            <p14:sldId id="543"/>
            <p14:sldId id="560"/>
            <p14:sldId id="547"/>
            <p14:sldId id="550"/>
            <p14:sldId id="555"/>
          </p14:sldIdLst>
        </p14:section>
        <p14:section name="17-19 : singleton" id="{DEB16324-FE72-4A7F-9388-12D7784F538F}">
          <p14:sldIdLst>
            <p14:sldId id="492"/>
            <p14:sldId id="525"/>
            <p14:sldId id="528"/>
            <p14:sldId id="531"/>
            <p14:sldId id="527"/>
            <p14:sldId id="532"/>
            <p14:sldId id="561"/>
            <p14:sldId id="526"/>
            <p14:sldId id="529"/>
            <p14:sldId id="530"/>
          </p14:sldIdLst>
        </p14:section>
        <p14:section name="17-20 : strategy" id="{AC3C5887-716B-4487-B34F-FBAD019773C1}">
          <p14:sldIdLst>
            <p14:sldId id="577"/>
            <p14:sldId id="578"/>
            <p14:sldId id="579"/>
            <p14:sldId id="580"/>
            <p14:sldId id="581"/>
            <p14:sldId id="582"/>
          </p14:sldIdLst>
        </p14:section>
        <p14:section name="Explicit liber" id="{F8389637-7E28-4A95-8212-B790EA63C7B8}">
          <p14:sldIdLst>
            <p14:sldId id="5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8" roundtripDataSignature="AMtx7mjSZQRmqTMWKYRBXmlYNJjeBKn4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98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customschemas.google.com/relationships/presentationmetadata" Target="meta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1</a:t>
            </a:fld>
            <a:endParaRPr lang="fr-B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fr-BE" dirty="0"/>
              <a:t>GESTIONNAIRE DE BASE DE DONNEES – NIVEAU ELEMENTAIRE - MS ACCESS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BE" dirty="0"/>
              <a:t>Professeur : Alain Wafflard</a:t>
            </a:r>
          </a:p>
        </p:txBody>
      </p:sp>
    </p:spTree>
    <p:extLst>
      <p:ext uri="{BB962C8B-B14F-4D97-AF65-F5344CB8AC3E}">
        <p14:creationId xmlns:p14="http://schemas.microsoft.com/office/powerpoint/2010/main" val="4219714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775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277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082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1908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4890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9644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02E0B54C-17A9-B21D-2554-AD32F87E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>
            <a:extLst>
              <a:ext uri="{FF2B5EF4-FFF2-40B4-BE49-F238E27FC236}">
                <a16:creationId xmlns:a16="http://schemas.microsoft.com/office/drawing/2014/main" id="{EB601282-FDD9-3655-940E-776D0CA58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:notes">
            <a:extLst>
              <a:ext uri="{FF2B5EF4-FFF2-40B4-BE49-F238E27FC236}">
                <a16:creationId xmlns:a16="http://schemas.microsoft.com/office/drawing/2014/main" id="{C93BAE3D-1BD1-00A1-F40F-620D95E19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9686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77</a:t>
            </a:fld>
            <a:endParaRPr lang="fr-B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fr-BE" dirty="0"/>
              <a:t>GESTIONNAIRE DE BASE DE DONNEES – NIVEAU ELEMENTAIRE - MS ACCESS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BE" dirty="0"/>
              <a:t>Professeur : Alain Wafflard</a:t>
            </a:r>
          </a:p>
        </p:txBody>
      </p:sp>
    </p:spTree>
    <p:extLst>
      <p:ext uri="{BB962C8B-B14F-4D97-AF65-F5344CB8AC3E}">
        <p14:creationId xmlns:p14="http://schemas.microsoft.com/office/powerpoint/2010/main" val="187828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555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1382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51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322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956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321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8702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24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874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  <a:defRPr sz="4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1695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462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19-12-25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3853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teacher.com/python/decorator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teacher.com/python/classmethod-decorato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svg"/><Relationship Id="rId7" Type="http://schemas.openxmlformats.org/officeDocument/2006/relationships/image" Target="../media/image1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20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2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svg"/><Relationship Id="rId3" Type="http://schemas.openxmlformats.org/officeDocument/2006/relationships/image" Target="../media/image11.svg"/><Relationship Id="rId7" Type="http://schemas.openxmlformats.org/officeDocument/2006/relationships/image" Target="../media/image26.svg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3.svg"/><Relationship Id="rId5" Type="http://schemas.openxmlformats.org/officeDocument/2006/relationships/image" Target="../media/image24.svg"/><Relationship Id="rId10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22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svg"/><Relationship Id="rId3" Type="http://schemas.openxmlformats.org/officeDocument/2006/relationships/image" Target="../media/image11.svg"/><Relationship Id="rId7" Type="http://schemas.openxmlformats.org/officeDocument/2006/relationships/image" Target="../media/image26.svg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3.svg"/><Relationship Id="rId5" Type="http://schemas.openxmlformats.org/officeDocument/2006/relationships/image" Target="../media/image24.svg"/><Relationship Id="rId15" Type="http://schemas.openxmlformats.org/officeDocument/2006/relationships/image" Target="../media/image30.svg"/><Relationship Id="rId10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22.svg"/><Relationship Id="rId1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8.svg"/><Relationship Id="rId3" Type="http://schemas.openxmlformats.org/officeDocument/2006/relationships/image" Target="../media/image11.svg"/><Relationship Id="rId7" Type="http://schemas.openxmlformats.org/officeDocument/2006/relationships/image" Target="../media/image26.svg"/><Relationship Id="rId12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13.svg"/><Relationship Id="rId5" Type="http://schemas.openxmlformats.org/officeDocument/2006/relationships/image" Target="../media/image24.svg"/><Relationship Id="rId15" Type="http://schemas.openxmlformats.org/officeDocument/2006/relationships/image" Target="../media/image30.svg"/><Relationship Id="rId10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22.svg"/><Relationship Id="rId1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7354" y="1122363"/>
            <a:ext cx="8100646" cy="2387600"/>
          </a:xfrm>
        </p:spPr>
        <p:txBody>
          <a:bodyPr>
            <a:normAutofit fontScale="90000"/>
          </a:bodyPr>
          <a:lstStyle/>
          <a:p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 dirty="0"/>
            </a:br>
            <a:r>
              <a:rPr lang="fr-BE" dirty="0"/>
              <a:t>Programmation Orientée Objet</a:t>
            </a:r>
            <a:endParaRPr lang="fr-BE" noProof="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fr-BE" sz="3200" dirty="0"/>
              <a:t>Enseignement supérieur économique de type court</a:t>
            </a:r>
          </a:p>
          <a:p>
            <a:r>
              <a:rPr lang="fr-BE" sz="3200" dirty="0"/>
              <a:t>Code FWB : 7525 21 </a:t>
            </a:r>
            <a:r>
              <a:rPr lang="fr-BE" sz="3200" err="1"/>
              <a:t>U32</a:t>
            </a:r>
            <a:r>
              <a:rPr lang="fr-BE" sz="3200"/>
              <a:t> D3</a:t>
            </a:r>
            <a:endParaRPr lang="fr-BE" sz="3200" dirty="0"/>
          </a:p>
          <a:p>
            <a:r>
              <a:rPr lang="fr-BE" sz="3200" dirty="0"/>
              <a:t>Code ISFCE </a:t>
            </a:r>
            <a:r>
              <a:rPr lang="fr-BE" sz="3200"/>
              <a:t>: 4IPO3</a:t>
            </a:r>
            <a:endParaRPr lang="fr-FR" sz="3200" dirty="0"/>
          </a:p>
          <a:p>
            <a:endParaRPr lang="fr-FR" sz="3200" dirty="0"/>
          </a:p>
        </p:txBody>
      </p:sp>
      <p:pic>
        <p:nvPicPr>
          <p:cNvPr id="17" name="Picture 1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6" y="289351"/>
            <a:ext cx="1674557" cy="167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6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Table des matières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 lnSpcReduction="10000"/>
          </a:bodyPr>
          <a:lstStyle/>
          <a:p>
            <a:r>
              <a:rPr lang="fr-BE"/>
              <a:t>Introduction</a:t>
            </a:r>
          </a:p>
          <a:p>
            <a:pPr lvl="1"/>
            <a:r>
              <a:rPr lang="fr-BE"/>
              <a:t>00. Propos liminaires</a:t>
            </a:r>
          </a:p>
          <a:p>
            <a:pPr lvl="1"/>
            <a:r>
              <a:rPr lang="fr-BE"/>
              <a:t>01. Programmation procédurale : rappel</a:t>
            </a:r>
          </a:p>
          <a:p>
            <a:r>
              <a:rPr lang="fr-BE"/>
              <a:t>Concepts de Programmation Orientée Objet</a:t>
            </a:r>
          </a:p>
          <a:p>
            <a:pPr lvl="1"/>
            <a:r>
              <a:rPr lang="fr-BE"/>
              <a:t>11. Programmation orientée objet : bases </a:t>
            </a:r>
          </a:p>
          <a:p>
            <a:pPr lvl="1"/>
            <a:r>
              <a:rPr lang="fr-BE"/>
              <a:t>13</a:t>
            </a:r>
            <a:r>
              <a:rPr lang="fr-BE" dirty="0"/>
              <a:t>. Programmation orientée objet : aspects avancés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17. Patron de conception (design pattern)</a:t>
            </a:r>
          </a:p>
          <a:p>
            <a:r>
              <a:rPr lang="fr-BE"/>
              <a:t>Applications de la POO</a:t>
            </a:r>
          </a:p>
          <a:p>
            <a:pPr lvl="1"/>
            <a:r>
              <a:rPr lang="fr-BE"/>
              <a:t>21. Graphical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76897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45700" rIns="91425" bIns="45700" anchor="b" anchorCtr="0">
            <a:normAutofit/>
          </a:bodyPr>
          <a:lstStyle/>
          <a:p>
            <a:pPr lvl="0" algn="ctr"/>
            <a:r>
              <a:rPr lang="fr-BE"/>
              <a:t>Partie 17</a:t>
            </a:r>
            <a:br>
              <a:rPr lang="fr-BE" dirty="0"/>
            </a:br>
            <a:r>
              <a:rPr lang="fr-BE" dirty="0"/>
              <a:t>Programmation Orientée Objet </a:t>
            </a:r>
            <a:br>
              <a:rPr lang="fr-BE" dirty="0"/>
            </a:br>
            <a:r>
              <a:rPr lang="fr-BE" dirty="0"/>
              <a:t>"Patron de </a:t>
            </a:r>
            <a:r>
              <a:rPr lang="fr-BE"/>
              <a:t>Conception" (</a:t>
            </a:r>
            <a:r>
              <a:rPr lang="fr-BE" dirty="0"/>
              <a:t>Design Pattern)</a:t>
            </a:r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 dirty="0"/>
              <a:t>Syllabus &amp; Exercices</a:t>
            </a:r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69119C4E-C480-8DE1-E4D3-3D7595F6C4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D76AD-2F5A-4CE9-801D-727C99B7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17. POO Design Pattern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953906-A3F8-4E39-80AF-AEAA5929D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fr-BE" dirty="0"/>
              <a:t>17-01 </a:t>
            </a:r>
            <a:r>
              <a:rPr lang="fr-BE" dirty="0" err="1"/>
              <a:t>Decorator</a:t>
            </a:r>
            <a:endParaRPr lang="fr-BE"/>
          </a:p>
          <a:p>
            <a:r>
              <a:rPr lang="fr-BE"/>
              <a:t>17-02 Factory</a:t>
            </a:r>
          </a:p>
          <a:p>
            <a:r>
              <a:rPr lang="fr-BE"/>
              <a:t>17-13 Iterator </a:t>
            </a:r>
          </a:p>
          <a:p>
            <a:r>
              <a:rPr lang="fr-BE"/>
              <a:t>17-16 Event &amp; Observer</a:t>
            </a:r>
          </a:p>
          <a:p>
            <a:r>
              <a:rPr lang="fr-BE"/>
              <a:t>17-19 Singleton</a:t>
            </a:r>
          </a:p>
          <a:p>
            <a:pPr marL="0" indent="0">
              <a:buNone/>
            </a:pPr>
            <a:endParaRPr lang="fr-BE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8150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ED76AD-2F5A-4CE9-801D-727C99B7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06562" cy="1325563"/>
          </a:xfrm>
        </p:spPr>
        <p:txBody>
          <a:bodyPr>
            <a:normAutofit/>
          </a:bodyPr>
          <a:lstStyle/>
          <a:p>
            <a:r>
              <a:rPr lang="fr-BE"/>
              <a:t>Design Pattern : références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953906-A3F8-4E39-80AF-AEAA5929D8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numCol="1">
            <a:normAutofit/>
          </a:bodyPr>
          <a:lstStyle/>
          <a:p>
            <a:r>
              <a:rPr lang="en-US"/>
              <a:t>"Design Patterns – Elements of Reusable Object-Oriented Software"</a:t>
            </a:r>
          </a:p>
          <a:p>
            <a:r>
              <a:rPr lang="en-US"/>
              <a:t>By the </a:t>
            </a:r>
            <a:r>
              <a:rPr lang="en-US" i="1"/>
              <a:t>Gang of Four </a:t>
            </a:r>
            <a:endParaRPr lang="fr-BE" i="1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927152-51A2-45D9-8EE3-0DE7BF7AE5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CA6D413-6BF7-410A-8775-62ED25D96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525" y="0"/>
            <a:ext cx="54514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665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7752F4D-10F7-41D9-AD2F-29205A92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références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74BFA2E-AFCB-4ABB-82EF-C1E5FBBE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https://refactoring.guru/design-patterns</a:t>
            </a:r>
          </a:p>
        </p:txBody>
      </p:sp>
    </p:spTree>
    <p:extLst>
      <p:ext uri="{BB962C8B-B14F-4D97-AF65-F5344CB8AC3E}">
        <p14:creationId xmlns:p14="http://schemas.microsoft.com/office/powerpoint/2010/main" val="150346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FF06B-6D89-4907-9743-52DDCB28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définition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FA2CDD-02D6-43F6-BE8F-941566E0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concept de </a:t>
            </a:r>
            <a:r>
              <a:rPr lang="fr-BE">
                <a:solidFill>
                  <a:schemeClr val="accent2"/>
                </a:solidFill>
              </a:rPr>
              <a:t>génie logiciel </a:t>
            </a:r>
          </a:p>
          <a:p>
            <a:r>
              <a:rPr lang="fr-BE"/>
              <a:t>résolution de problèmes </a:t>
            </a:r>
            <a:r>
              <a:rPr lang="fr-BE">
                <a:solidFill>
                  <a:schemeClr val="accent2"/>
                </a:solidFill>
              </a:rPr>
              <a:t>récurrents</a:t>
            </a:r>
            <a:r>
              <a:rPr lang="fr-BE"/>
              <a:t> de conception logicielle</a:t>
            </a:r>
          </a:p>
          <a:p>
            <a:r>
              <a:rPr lang="fr-BE"/>
              <a:t>formalisation de </a:t>
            </a:r>
            <a:r>
              <a:rPr lang="fr-BE">
                <a:solidFill>
                  <a:schemeClr val="accent2"/>
                </a:solidFill>
              </a:rPr>
              <a:t>bonnes pratiques </a:t>
            </a:r>
          </a:p>
          <a:p>
            <a:pPr lvl="1"/>
            <a:r>
              <a:rPr lang="fr-BE"/>
              <a:t>issu de l'expérience des concepteurs de logiciels</a:t>
            </a:r>
          </a:p>
          <a:p>
            <a:pPr lvl="1"/>
            <a:r>
              <a:rPr lang="fr-BE"/>
              <a:t>vocabulaire commun entre les intervenants (concepteur, programmeur, testeurs, ..)</a:t>
            </a:r>
          </a:p>
          <a:p>
            <a:r>
              <a:rPr lang="fr-BE"/>
              <a:t>capitalisation de </a:t>
            </a:r>
            <a:r>
              <a:rPr lang="fr-BE">
                <a:solidFill>
                  <a:schemeClr val="accent2"/>
                </a:solidFill>
              </a:rPr>
              <a:t>l'expérience</a:t>
            </a:r>
          </a:p>
          <a:p>
            <a:pPr lvl="1"/>
            <a:r>
              <a:rPr lang="fr-BE"/>
              <a:t>solution standard et (ré)utilisable</a:t>
            </a:r>
          </a:p>
          <a:p>
            <a:pPr lvl="1"/>
            <a:r>
              <a:rPr lang="fr-BE"/>
              <a:t>grandes lignes d'une solution, adaptable</a:t>
            </a:r>
          </a:p>
        </p:txBody>
      </p:sp>
    </p:spTree>
    <p:extLst>
      <p:ext uri="{BB962C8B-B14F-4D97-AF65-F5344CB8AC3E}">
        <p14:creationId xmlns:p14="http://schemas.microsoft.com/office/powerpoint/2010/main" val="349832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344B-ECF9-1C3E-0D55-FAFF653C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38557E-B701-79D3-7D22-8A993E38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BE"/>
              <a:t>Design Pattern : pro &amp; con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AF9EDDB-D95B-322A-FD6D-EF96523B8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>
            <a:normAutofit/>
          </a:bodyPr>
          <a:lstStyle/>
          <a:p>
            <a:r>
              <a:rPr lang="fr-BE" sz="3600" b="0">
                <a:solidFill>
                  <a:schemeClr val="accent2"/>
                </a:solidFill>
              </a:rPr>
              <a:t>PRO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7DECC3B-C3D1-9EE8-916E-47D0B0D86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>
            <a:normAutofit lnSpcReduction="10000"/>
          </a:bodyPr>
          <a:lstStyle/>
          <a:p>
            <a:r>
              <a:rPr lang="fr-BE"/>
              <a:t>clarté du code </a:t>
            </a:r>
          </a:p>
          <a:p>
            <a:r>
              <a:rPr lang="fr-BE"/>
              <a:t>réduction des interactions entre objets</a:t>
            </a:r>
          </a:p>
          <a:p>
            <a:pPr lvl="1"/>
            <a:r>
              <a:rPr lang="fr-BE"/>
              <a:t>maintainabilité accrue</a:t>
            </a:r>
          </a:p>
          <a:p>
            <a:r>
              <a:rPr lang="fr-BE"/>
              <a:t>diminution du temps de développement</a:t>
            </a:r>
          </a:p>
          <a:p>
            <a:pPr lvl="1"/>
            <a:r>
              <a:rPr lang="fr-BE"/>
              <a:t>si appliqué judicieusement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FF94BA-8B3C-3F1D-449B-3B95ED257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>
            <a:normAutofit/>
          </a:bodyPr>
          <a:lstStyle/>
          <a:p>
            <a:r>
              <a:rPr lang="fr-BE" sz="3600" b="0">
                <a:solidFill>
                  <a:schemeClr val="accent2"/>
                </a:solidFill>
              </a:rPr>
              <a:t>CON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D970C16-82A4-976D-806D-7B267182AA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fr-BE"/>
              <a:t>suringénierie </a:t>
            </a:r>
          </a:p>
          <a:p>
            <a:pPr lvl="1"/>
            <a:r>
              <a:rPr lang="fr-BE"/>
              <a:t>complexité du code</a:t>
            </a:r>
          </a:p>
          <a:p>
            <a:pPr lvl="1"/>
            <a:r>
              <a:rPr lang="fr-BE"/>
              <a:t>or : agile =&gt; simplicité</a:t>
            </a:r>
          </a:p>
          <a:p>
            <a:r>
              <a:rPr lang="fr-BE"/>
              <a:t>langages modernes intégrant de base certains DP </a:t>
            </a:r>
          </a:p>
        </p:txBody>
      </p:sp>
    </p:spTree>
    <p:extLst>
      <p:ext uri="{BB962C8B-B14F-4D97-AF65-F5344CB8AC3E}">
        <p14:creationId xmlns:p14="http://schemas.microsoft.com/office/powerpoint/2010/main" val="427170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BE0F8-115E-4D8B-ACF6-E333FBBE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familles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304036-0B4D-4978-87AB-D257283C1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Créateurs</a:t>
            </a:r>
          </a:p>
          <a:p>
            <a:pPr lvl="1"/>
            <a:r>
              <a:rPr lang="fr-BE"/>
              <a:t>instanciation et configuration des classes et des objets</a:t>
            </a:r>
          </a:p>
          <a:p>
            <a:r>
              <a:rPr lang="fr-BE">
                <a:solidFill>
                  <a:schemeClr val="accent2"/>
                </a:solidFill>
              </a:rPr>
              <a:t>Structuraux</a:t>
            </a:r>
          </a:p>
          <a:p>
            <a:pPr lvl="1"/>
            <a:r>
              <a:rPr lang="fr-BE"/>
              <a:t>organisation des classes d'un programme dans une structure plus large</a:t>
            </a:r>
          </a:p>
          <a:p>
            <a:r>
              <a:rPr lang="fr-BE">
                <a:solidFill>
                  <a:schemeClr val="accent2"/>
                </a:solidFill>
              </a:rPr>
              <a:t>Comportementaux</a:t>
            </a:r>
          </a:p>
          <a:p>
            <a:pPr lvl="1"/>
            <a:r>
              <a:rPr lang="fr-BE"/>
              <a:t>Organisation des objets en vue d'une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73921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ADB5DC-6A45-4254-BD4D-D9690BA3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design patterns du </a:t>
            </a:r>
            <a:r>
              <a:rPr lang="fr-BE" i="1"/>
              <a:t>gang of four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F48697-943C-4215-B2D0-D5976D2E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925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fr-BE">
                <a:solidFill>
                  <a:schemeClr val="accent2"/>
                </a:solidFill>
              </a:rPr>
              <a:t>Décorateur</a:t>
            </a:r>
          </a:p>
          <a:p>
            <a:pPr marL="742950" indent="-742950">
              <a:buFont typeface="+mj-lt"/>
              <a:buAutoNum type="arabicPeriod"/>
            </a:pPr>
            <a:r>
              <a:rPr lang="fr-BE">
                <a:solidFill>
                  <a:schemeClr val="accent2"/>
                </a:solidFill>
              </a:rPr>
              <a:t>Fabrique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Fabrique abstraite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Adaptateur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Pont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Monteur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Chaîne de responsabilité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Commande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Composite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Façade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Flyweight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Interpreter</a:t>
            </a:r>
          </a:p>
          <a:p>
            <a:pPr marL="742950" indent="-742950">
              <a:buFont typeface="+mj-lt"/>
              <a:buAutoNum type="arabicPeriod"/>
            </a:pPr>
            <a:r>
              <a:rPr lang="fr-BE">
                <a:solidFill>
                  <a:schemeClr val="accent2"/>
                </a:solidFill>
              </a:rPr>
              <a:t>Iterator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Mediator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Memento</a:t>
            </a:r>
          </a:p>
          <a:p>
            <a:pPr marL="742950" indent="-742950">
              <a:buFont typeface="+mj-lt"/>
              <a:buAutoNum type="arabicPeriod"/>
            </a:pPr>
            <a:r>
              <a:rPr lang="fr-BE">
                <a:solidFill>
                  <a:schemeClr val="accent2"/>
                </a:solidFill>
              </a:rPr>
              <a:t>Observer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Prototype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Proxy</a:t>
            </a:r>
          </a:p>
          <a:p>
            <a:pPr marL="742950" indent="-742950">
              <a:buFont typeface="+mj-lt"/>
              <a:buAutoNum type="arabicPeriod"/>
            </a:pPr>
            <a:r>
              <a:rPr lang="fr-BE">
                <a:solidFill>
                  <a:schemeClr val="accent2"/>
                </a:solidFill>
              </a:rPr>
              <a:t>Singleton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Strategy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Template method</a:t>
            </a:r>
          </a:p>
          <a:p>
            <a:pPr marL="742950" indent="-742950">
              <a:buFont typeface="+mj-lt"/>
              <a:buAutoNum type="arabicPeriod"/>
            </a:pPr>
            <a:r>
              <a:rPr lang="fr-BE"/>
              <a:t>Visitor</a:t>
            </a:r>
          </a:p>
          <a:p>
            <a:pPr marL="742950" indent="-742950">
              <a:buFont typeface="+mj-lt"/>
              <a:buAutoNum type="arabicPeriod"/>
            </a:pP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5184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Chapitre 17-01 : Décorateur</a:t>
            </a: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Design Pattern comportemental</a:t>
            </a:r>
          </a:p>
        </p:txBody>
      </p:sp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E2C01648-8616-82FB-253A-6F34464650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BFCFA09-0061-4F5D-B7DD-108131FE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Decorator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B8A5BA-CD15-4A2A-81E9-83CDD93F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BE"/>
              <a:t>Utilité : Ajouter des fonctionnalités à un objet. </a:t>
            </a:r>
          </a:p>
          <a:p>
            <a:pPr lvl="1"/>
            <a:r>
              <a:rPr lang="fr-BE"/>
              <a:t>Par ex. lors du développement d'une nouvelle version d'un module</a:t>
            </a:r>
          </a:p>
          <a:p>
            <a:r>
              <a:rPr lang="fr-BE"/>
              <a:t>Il faut savoir qu'en Python</a:t>
            </a:r>
          </a:p>
          <a:p>
            <a:pPr lvl="1"/>
            <a:r>
              <a:rPr lang="fr-BE"/>
              <a:t>Une fonction peut être passée en argument à une autre fonction.</a:t>
            </a:r>
          </a:p>
          <a:p>
            <a:pPr lvl="1"/>
            <a:r>
              <a:rPr lang="fr-BE"/>
              <a:t>On peut définir une fonction à l'intérieur d'une autre fonction.</a:t>
            </a:r>
          </a:p>
          <a:p>
            <a:pPr lvl="1"/>
            <a:r>
              <a:rPr lang="fr-BE"/>
              <a:t>Une fonction peut retourner une autre fonction.</a:t>
            </a:r>
          </a:p>
          <a:p>
            <a:r>
              <a:rPr lang="fr-BE">
                <a:solidFill>
                  <a:schemeClr val="accent2"/>
                </a:solidFill>
              </a:rPr>
              <a:t>Décorateur en Python </a:t>
            </a:r>
          </a:p>
          <a:p>
            <a:pPr lvl="1"/>
            <a:r>
              <a:rPr lang="fr-BE"/>
              <a:t>Fonction recevant une autre fonction en argument</a:t>
            </a:r>
          </a:p>
          <a:p>
            <a:pPr lvl="1"/>
            <a:r>
              <a:rPr lang="fr-BE"/>
              <a:t>Comportement de la fonction argument </a:t>
            </a:r>
            <a:r>
              <a:rPr lang="fr-BE">
                <a:solidFill>
                  <a:schemeClr val="accent2"/>
                </a:solidFill>
              </a:rPr>
              <a:t>étendu</a:t>
            </a:r>
            <a:r>
              <a:rPr lang="fr-BE"/>
              <a:t> par le décorateur </a:t>
            </a:r>
          </a:p>
          <a:p>
            <a:r>
              <a:rPr lang="fr-BE"/>
              <a:t>Syntaxe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@decorator</a:t>
            </a:r>
          </a:p>
        </p:txBody>
      </p:sp>
    </p:spTree>
    <p:extLst>
      <p:ext uri="{BB962C8B-B14F-4D97-AF65-F5344CB8AC3E}">
        <p14:creationId xmlns:p14="http://schemas.microsoft.com/office/powerpoint/2010/main" val="3677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BFCFA09-0061-4F5D-B7DD-108131FE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Decorator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B8A5BA-CD15-4A2A-81E9-83CDD93F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Exo 17-01-05</a:t>
            </a:r>
          </a:p>
          <a:p>
            <a:r>
              <a:rPr lang="fr-BE"/>
              <a:t>Référence</a:t>
            </a:r>
          </a:p>
          <a:p>
            <a:pPr lvl="1"/>
            <a:r>
              <a:rPr lang="fr-BE">
                <a:hlinkClick r:id="rId2"/>
              </a:rPr>
              <a:t>https://www.tutorialsteacher.com/python/decorators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209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5CA7AA-3A8F-4617-854B-C75F5057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Decorator :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@classmethod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7F5AAA-0FBC-48C5-886F-C5D245F0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Utilité : Pouvoir appeler une méthode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MethodName</a:t>
            </a:r>
            <a:r>
              <a:rPr lang="fr-BE"/>
              <a:t> </a:t>
            </a:r>
            <a:r>
              <a:rPr lang="fr-BE">
                <a:solidFill>
                  <a:schemeClr val="accent2"/>
                </a:solidFill>
              </a:rPr>
              <a:t>sans créer </a:t>
            </a:r>
            <a:r>
              <a:rPr lang="fr-BE"/>
              <a:t>l'objet de classe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endParaRPr lang="fr-BE"/>
          </a:p>
          <a:p>
            <a:pPr lvl="1"/>
            <a:r>
              <a:rPr lang="fr-BE"/>
              <a:t>Syntaxe pour la déclaration</a:t>
            </a:r>
          </a:p>
          <a:p>
            <a:pPr marL="1793875" lvl="2" indent="0">
              <a:buNone/>
              <a:tabLst>
                <a:tab pos="1793875" algn="l"/>
              </a:tabLst>
            </a:pP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@classmethod</a:t>
            </a:r>
            <a:b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MethodName():</a:t>
            </a:r>
          </a:p>
          <a:p>
            <a:pPr marL="1793875" lvl="2" indent="0">
              <a:buNone/>
              <a:tabLst>
                <a:tab pos="1793875" algn="l"/>
              </a:tabLst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lvl="1"/>
            <a:r>
              <a:rPr lang="fr-BE"/>
              <a:t>Syntaxe pour l'appel</a:t>
            </a:r>
          </a:p>
          <a:p>
            <a:pPr marL="1793875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ClassName.MethodName()</a:t>
            </a:r>
          </a:p>
          <a:p>
            <a:r>
              <a:rPr lang="fr-BE"/>
              <a:t>Remarque</a:t>
            </a:r>
          </a:p>
          <a:p>
            <a:pPr lvl="1"/>
            <a:r>
              <a:rPr lang="fr-BE"/>
              <a:t>alternative à la fonction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classmethod()</a:t>
            </a:r>
            <a:r>
              <a:rPr lang="fr-BE"/>
              <a:t> (obsolète)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04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5CA7AA-3A8F-4617-854B-C75F5057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Decorator :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@classmethod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7F5AAA-0FBC-48C5-886F-C5D245F00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Décorateur d'une méthode de classe, p.ex.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MethodName</a:t>
            </a:r>
            <a:endParaRPr lang="fr-BE"/>
          </a:p>
          <a:p>
            <a:pPr lvl="1"/>
            <a:r>
              <a:rPr lang="fr-BE"/>
              <a:t>Souvent d'une classe abstraite</a:t>
            </a:r>
          </a:p>
          <a:p>
            <a:r>
              <a:rPr lang="fr-BE"/>
              <a:t>Premier paramètre 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cls</a:t>
            </a:r>
          </a:p>
          <a:p>
            <a:pPr lvl="1"/>
            <a:r>
              <a:rPr lang="fr-BE"/>
              <a:t>utilisé pour accéder aux attributs de classe</a:t>
            </a:r>
          </a:p>
          <a:p>
            <a:r>
              <a:rPr lang="fr-BE"/>
              <a:t>Accès uniquement aux attributs de classe</a:t>
            </a:r>
          </a:p>
          <a:p>
            <a:pPr lvl="1"/>
            <a:r>
              <a:rPr lang="fr-BE"/>
              <a:t>non aux attributs d'instance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MethodName</a:t>
            </a:r>
            <a:r>
              <a:rPr lang="fr-BE"/>
              <a:t> peut retourner un objet de la classe.</a:t>
            </a:r>
          </a:p>
          <a:p>
            <a:pPr lvl="1"/>
            <a:r>
              <a:rPr lang="fr-BE"/>
              <a:t>Application remarquable à certains design patterns : Factory, Singleton, …</a:t>
            </a:r>
          </a:p>
        </p:txBody>
      </p:sp>
    </p:spTree>
    <p:extLst>
      <p:ext uri="{BB962C8B-B14F-4D97-AF65-F5344CB8AC3E}">
        <p14:creationId xmlns:p14="http://schemas.microsoft.com/office/powerpoint/2010/main" val="287084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BFCFA09-0061-4F5D-B7DD-108131FEF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Decorator : </a:t>
            </a:r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@classmethod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B8A5BA-CD15-4A2A-81E9-83CDD93F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Exo 17-01-07, 17-01-08</a:t>
            </a:r>
          </a:p>
          <a:p>
            <a:r>
              <a:rPr lang="fr-BE"/>
              <a:t>Remarques:</a:t>
            </a:r>
          </a:p>
          <a:p>
            <a:pPr lvl="1"/>
            <a:r>
              <a:rPr lang="fr-BE"/>
              <a:t>Les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@classmethod</a:t>
            </a:r>
            <a:r>
              <a:rPr lang="fr-BE"/>
              <a:t> ne peuvent manipuler que les attributs de classe, pas les attributs d'objet.</a:t>
            </a:r>
          </a:p>
          <a:p>
            <a:r>
              <a:rPr lang="fr-BE"/>
              <a:t>Référence</a:t>
            </a:r>
          </a:p>
          <a:p>
            <a:pPr lvl="1"/>
            <a:r>
              <a:rPr lang="fr-BE">
                <a:hlinkClick r:id="rId2"/>
              </a:rPr>
              <a:t>https://www.tutorialsteacher.com/python/classmethod-decorator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326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3C1E3-87E0-ECDB-9EE2-BB1C75BDF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BE"/>
              <a:t>Remarque : décorateurs </a:t>
            </a:r>
            <a:br>
              <a:rPr lang="fr-BE"/>
            </a:b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@classmethod</a:t>
            </a:r>
            <a:r>
              <a:rPr lang="fr-BE"/>
              <a:t> vs.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@staticmethod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24C8667-A1C1-5C0E-852B-DAD08EE03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/>
          <a:lstStyle/>
          <a:p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@classmethod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F1D7A4-FA8B-26D0-F37F-0B235E584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1er argument : cls</a:t>
            </a:r>
          </a:p>
          <a:p>
            <a:r>
              <a:rPr lang="en-US"/>
              <a:t>accès en lecture et en écriture aux attributs de la classe </a:t>
            </a:r>
          </a:p>
          <a:p>
            <a:r>
              <a:rPr lang="en-US"/>
              <a:t>application</a:t>
            </a:r>
          </a:p>
          <a:p>
            <a:pPr lvl="1"/>
            <a:r>
              <a:rPr lang="en-US"/>
              <a:t>modification des attributs de la classe</a:t>
            </a:r>
          </a:p>
          <a:p>
            <a:pPr lvl="1"/>
            <a:r>
              <a:rPr lang="en-US"/>
              <a:t>générateur d'objet (cf design pattern "factory")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27DF88A-3F74-47D1-1C73-75113A28F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/>
          <a:lstStyle/>
          <a:p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@staticmethod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6F44F9D-D9C3-85F8-48B4-DE6337707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>
            <a:normAutofit fontScale="92500" lnSpcReduction="20000"/>
          </a:bodyPr>
          <a:lstStyle/>
          <a:p>
            <a:r>
              <a:rPr lang="fr-BE"/>
              <a:t>pas de 1er argument spécifique</a:t>
            </a:r>
          </a:p>
          <a:p>
            <a:r>
              <a:rPr lang="en-US"/>
              <a:t>aucun accès aux attributs de la classe </a:t>
            </a:r>
          </a:p>
          <a:p>
            <a:r>
              <a:rPr lang="en-US"/>
              <a:t>application : </a:t>
            </a:r>
          </a:p>
          <a:p>
            <a:pPr lvl="1"/>
            <a:r>
              <a:rPr lang="en-US"/>
              <a:t>tâche utilitaire </a:t>
            </a:r>
          </a:p>
          <a:p>
            <a:pPr lvl="1"/>
            <a:r>
              <a:rPr lang="en-US"/>
              <a:t>calcul </a:t>
            </a:r>
          </a:p>
          <a:p>
            <a:endParaRPr lang="en-US" dirty="0"/>
          </a:p>
          <a:p>
            <a:endParaRPr lang="en-US" dirty="0"/>
          </a:p>
          <a:p>
            <a:endParaRPr lang="fr-BE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0A4520-4A1D-0150-DFA1-C8CEC6EE2C18}"/>
              </a:ext>
            </a:extLst>
          </p:cNvPr>
          <p:cNvSpPr txBox="1"/>
          <p:nvPr/>
        </p:nvSpPr>
        <p:spPr>
          <a:xfrm>
            <a:off x="753940" y="6396335"/>
            <a:ext cx="10007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>
                <a:solidFill>
                  <a:schemeClr val="bg1">
                    <a:lumMod val="50000"/>
                  </a:schemeClr>
                </a:solidFill>
                <a:latin typeface="Garamond" panose="02020404030301010803" pitchFamily="18" charset="0"/>
              </a:rPr>
              <a:t>https://www.tutorialspoint.com/class-method-vs-static-method-in-python</a:t>
            </a:r>
          </a:p>
        </p:txBody>
      </p:sp>
    </p:spTree>
    <p:extLst>
      <p:ext uri="{BB962C8B-B14F-4D97-AF65-F5344CB8AC3E}">
        <p14:creationId xmlns:p14="http://schemas.microsoft.com/office/powerpoint/2010/main" val="272126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3C1E3-87E0-ECDB-9EE2-BB1C75BD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Remarque : décorateurs </a:t>
            </a:r>
            <a:br>
              <a:rPr lang="fr-BE"/>
            </a:b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@classmethod</a:t>
            </a:r>
            <a:r>
              <a:rPr lang="fr-BE"/>
              <a:t> vs.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@staticmethod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F1D7A4-FA8B-26D0-F37F-0B235E584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3749" cy="3603625"/>
          </a:xfrm>
        </p:spPr>
        <p:txBody>
          <a:bodyPr numCol="2" spcCol="18000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class Employee: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__min_age = 25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def __init__(self, name, age):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self.name = 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self.age = age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@staticmethod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def isAdult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(age)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if 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age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&gt; 18: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return True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return False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   @classmethod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def factory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(cls, name, year)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current_age = today().year - 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year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if 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cls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.isAdult(current_age)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and current_age &gt;= 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cls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.__min_age: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 return 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cls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name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,current_age)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   @classmethod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def set_age_to_work(</a:t>
            </a: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cls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, new_age):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>
                <a:solidFill>
                  <a:schemeClr val="accent2"/>
                </a:solidFill>
                <a:latin typeface="Consolas" panose="020B0609020204030204" pitchFamily="49" charset="0"/>
              </a:rPr>
              <a:t>      cls</a:t>
            </a:r>
            <a:r>
              <a:rPr lang="en-US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.__min_age = 18</a:t>
            </a:r>
          </a:p>
        </p:txBody>
      </p:sp>
    </p:spTree>
    <p:extLst>
      <p:ext uri="{BB962C8B-B14F-4D97-AF65-F5344CB8AC3E}">
        <p14:creationId xmlns:p14="http://schemas.microsoft.com/office/powerpoint/2010/main" val="94719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E3F96A23-0E72-44CB-ADC1-9B82A4D7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Chapitre 17-02 : Factory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391F885-F486-4A84-88A9-A1551149C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Design Pattern créateur</a:t>
            </a:r>
          </a:p>
        </p:txBody>
      </p:sp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EBD8C7B2-C055-38A8-C502-86D6C57B3A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 Design Pattern : Factory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CBBABB2C-54AE-4A0D-8432-C8EBB97C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Utilité : </a:t>
            </a:r>
            <a:r>
              <a:rPr lang="fr-BE">
                <a:solidFill>
                  <a:schemeClr val="accent2"/>
                </a:solidFill>
              </a:rPr>
              <a:t>Créer une instance </a:t>
            </a:r>
            <a:r>
              <a:rPr lang="fr-BE"/>
              <a:t>à partir d'une famille de classes. </a:t>
            </a:r>
          </a:p>
          <a:p>
            <a:pPr lvl="1"/>
            <a:r>
              <a:rPr lang="fr-BE"/>
              <a:t>Isolement du processus de création d'un objet</a:t>
            </a:r>
          </a:p>
          <a:p>
            <a:pPr lvl="1"/>
            <a:r>
              <a:rPr lang="fr-BE"/>
              <a:t>En pratique, quand la création d'un objet et le choix de la classe adaptée est complexe, par ex. quand elle dépend de nombreux paramètres</a:t>
            </a:r>
          </a:p>
          <a:p>
            <a:pPr lvl="1"/>
            <a:r>
              <a:rPr lang="fr-BE"/>
              <a:t>Code simplifié, réutilisable et facile à entretenir.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 Design Pattern : Factory 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CBBABB2C-54AE-4A0D-8432-C8EBB97C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Implantation </a:t>
            </a:r>
          </a:p>
          <a:p>
            <a:pPr lvl="1"/>
            <a:r>
              <a:rPr lang="fr-BE"/>
              <a:t>Via la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factory() </a:t>
            </a:r>
          </a:p>
          <a:p>
            <a:pPr lvl="1"/>
            <a:r>
              <a:rPr lang="fr-BE"/>
              <a:t>Elle crée l'objet sur base</a:t>
            </a:r>
          </a:p>
          <a:p>
            <a:pPr lvl="2"/>
            <a:r>
              <a:rPr lang="fr-BE"/>
              <a:t>des paramètres fournis </a:t>
            </a:r>
          </a:p>
          <a:p>
            <a:pPr lvl="2"/>
            <a:r>
              <a:rPr lang="fr-BE"/>
              <a:t>de l'algorithme contenu dans la méthode </a:t>
            </a:r>
          </a:p>
          <a:p>
            <a:pPr lvl="1"/>
            <a:r>
              <a:rPr lang="fr-BE"/>
              <a:t>Elle retourne l'objet. </a:t>
            </a:r>
          </a:p>
          <a:p>
            <a:pPr lvl="1"/>
            <a:r>
              <a:rPr lang="fr-BE"/>
              <a:t>Méthode </a:t>
            </a:r>
            <a:r>
              <a:rPr lang="fr-BE" dirty="0"/>
              <a:t>statique, appelable depuis </a:t>
            </a:r>
            <a:r>
              <a:rPr lang="fr-BE"/>
              <a:t>la classe parente</a:t>
            </a:r>
          </a:p>
          <a:p>
            <a:pPr lvl="2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@classmethod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905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ACBFEB-1FD3-4A74-8CD5-8DC675F4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17-02-05 : translator (sample)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B64058-746A-4D62-92FF-49E9C5033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class </a:t>
            </a:r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</a:rPr>
              <a:t>Translator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	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</a:rPr>
              <a:t>@classmethod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	def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</a:rPr>
              <a:t>factory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(cls, language="English"):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		</a:t>
            </a: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"""Factory Method"""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		…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		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</a:rPr>
              <a:t>return a_given_object</a:t>
            </a:r>
          </a:p>
          <a:p>
            <a:pPr marL="0" indent="0">
              <a:buNone/>
            </a:pP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# MAIN </a:t>
            </a:r>
          </a:p>
          <a:p>
            <a:pPr marL="0" indent="0">
              <a:buNone/>
            </a:pP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f = </a:t>
            </a:r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</a:rPr>
              <a:t>Translator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.factory("French")</a:t>
            </a:r>
          </a:p>
        </p:txBody>
      </p:sp>
    </p:spTree>
    <p:extLst>
      <p:ext uri="{BB962C8B-B14F-4D97-AF65-F5344CB8AC3E}">
        <p14:creationId xmlns:p14="http://schemas.microsoft.com/office/powerpoint/2010/main" val="181814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5FF7A-719F-4EC3-B5DF-78B47ED8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17-02-13 : quadrilatère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56E0A6-0BEA-4189-9DC9-72F4D136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20450" cy="4351339"/>
          </a:xfrm>
        </p:spPr>
        <p:txBody>
          <a:bodyPr>
            <a:normAutofit fontScale="55000" lnSpcReduction="20000"/>
          </a:bodyPr>
          <a:lstStyle/>
          <a:p>
            <a:r>
              <a:rPr lang="fr-BE"/>
              <a:t>Partez du fichier </a:t>
            </a:r>
            <a:r>
              <a:rPr lang="fr-BE">
                <a:solidFill>
                  <a:schemeClr val="tx1"/>
                </a:solidFill>
                <a:latin typeface="Courier New" panose="02070309020205020404" pitchFamily="49" charset="0"/>
              </a:rPr>
              <a:t>17-02-13_quadrilateres_start</a:t>
            </a:r>
          </a:p>
          <a:p>
            <a:pPr lvl="1"/>
            <a:r>
              <a:rPr lang="fr-BE"/>
              <a:t>La fonction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dump</a:t>
            </a:r>
            <a:r>
              <a:rPr lang="fr-BE"/>
              <a:t> est fournie. </a:t>
            </a:r>
          </a:p>
          <a:p>
            <a:r>
              <a:rPr lang="fr-BE"/>
              <a:t>Implantez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factory</a:t>
            </a:r>
            <a:r>
              <a:rPr lang="fr-BE"/>
              <a:t>.  Principe 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factory</a:t>
            </a:r>
            <a:r>
              <a:rPr lang="fr-BE"/>
              <a:t> retournera un quadrilatère, un losange ou un parallélogramme en fonction des valeurs de la liste fournie par l'utilisateur (input). </a:t>
            </a:r>
          </a:p>
          <a:p>
            <a:pPr marL="0" indent="0">
              <a:buNone/>
            </a:pP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shape1 = Quadrilatere.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factory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([ 10, 15, 20, 25 ])</a:t>
            </a:r>
          </a:p>
          <a:p>
            <a:pPr marL="0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dump(shape1, "*** shape1")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quadrilatère </a:t>
            </a:r>
          </a:p>
          <a:p>
            <a:pPr marL="0" indent="0">
              <a:buNone/>
            </a:pPr>
            <a:endParaRPr lang="fr-BE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shape2 = Quadrilatere.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factory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([ 5, 5, 5, 5 ])</a:t>
            </a:r>
          </a:p>
          <a:p>
            <a:pPr marL="0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dump(shape2, "*** shape2")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losange</a:t>
            </a:r>
          </a:p>
          <a:p>
            <a:pPr marL="0" indent="0">
              <a:buNone/>
            </a:pPr>
            <a:endParaRPr lang="fr-BE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shape3 = Quadrilatere.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factory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([ 5, 15, 5, 15 ])</a:t>
            </a:r>
          </a:p>
          <a:p>
            <a:pPr marL="0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dump(shape3, "*** shape3")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parallélogramme </a:t>
            </a:r>
          </a:p>
        </p:txBody>
      </p:sp>
    </p:spTree>
    <p:extLst>
      <p:ext uri="{BB962C8B-B14F-4D97-AF65-F5344CB8AC3E}">
        <p14:creationId xmlns:p14="http://schemas.microsoft.com/office/powerpoint/2010/main" val="217954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5FF7A-719F-4EC3-B5DF-78B47ED8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17-02-14 : formes géométriques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56E0A6-0BEA-4189-9DC9-72F4D1363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20450" cy="4351339"/>
          </a:xfrm>
        </p:spPr>
        <p:txBody>
          <a:bodyPr>
            <a:normAutofit fontScale="47500" lnSpcReduction="20000"/>
          </a:bodyPr>
          <a:lstStyle/>
          <a:p>
            <a:r>
              <a:rPr lang="fr-BE"/>
              <a:t>Partez du fichier </a:t>
            </a:r>
            <a:r>
              <a:rPr lang="fr-BE">
                <a:solidFill>
                  <a:schemeClr val="tx1"/>
                </a:solidFill>
                <a:latin typeface="Courier New" panose="02070309020205020404" pitchFamily="49" charset="0"/>
              </a:rPr>
              <a:t>17-02-14_shapes_start</a:t>
            </a:r>
          </a:p>
          <a:p>
            <a:r>
              <a:rPr lang="fr-BE"/>
              <a:t>Implantez les méthodes et le factory répondant à l'usage donné.</a:t>
            </a:r>
          </a:p>
          <a:p>
            <a:r>
              <a:rPr lang="fr-BE"/>
              <a:t>Les paramètres (longueurs, etc.) sont donnés en input par l'utilisateur.</a:t>
            </a:r>
          </a:p>
          <a:p>
            <a:pPr marL="0" indent="0">
              <a:buNone/>
            </a:pP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shape_name = input("Enter the name of the shape: ")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shape = Shape.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factory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(shape_name)</a:t>
            </a:r>
          </a:p>
          <a:p>
            <a:pPr marL="0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print("The type of object created: {}"</a:t>
            </a:r>
            <a:b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	.format(type(shape)))</a:t>
            </a:r>
          </a:p>
          <a:p>
            <a:pPr marL="0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print("The area of the {} is {}:"</a:t>
            </a:r>
            <a:b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	.format(shape_name, shape.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calculate_area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()))</a:t>
            </a:r>
          </a:p>
          <a:p>
            <a:pPr marL="0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print("The perimeter of the {} is: {}"</a:t>
            </a:r>
            <a:b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</a:b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	.format(shape_name, shape.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calculate_perimeter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()))</a:t>
            </a:r>
          </a:p>
        </p:txBody>
      </p:sp>
    </p:spTree>
    <p:extLst>
      <p:ext uri="{BB962C8B-B14F-4D97-AF65-F5344CB8AC3E}">
        <p14:creationId xmlns:p14="http://schemas.microsoft.com/office/powerpoint/2010/main" val="262121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E3F96A23-0E72-44CB-ADC1-9B82A4D7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Chapitre 17-13 : Iterator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391F885-F486-4A84-88A9-A1551149C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Design Pattern comportemental</a:t>
            </a:r>
          </a:p>
        </p:txBody>
      </p:sp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23CF3F7F-4F94-0109-050A-98395A8BC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7252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EEDE7D7-D3CF-4831-9500-7C14B08AD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Préalable : Generator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29B872C-9A88-4651-9D7E-6212AF7ED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102"/>
            <a:ext cx="8763000" cy="4351339"/>
          </a:xfrm>
        </p:spPr>
        <p:txBody>
          <a:bodyPr>
            <a:normAutofit fontScale="55000" lnSpcReduction="20000"/>
          </a:bodyPr>
          <a:lstStyle/>
          <a:p>
            <a:r>
              <a:rPr lang="fr-BE"/>
              <a:t>Variante d'un itérateur classique (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for, while,</a:t>
            </a:r>
            <a:r>
              <a:rPr lang="fr-BE"/>
              <a:t> … )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Mais pas de stockage en mémoire des éléments</a:t>
            </a:r>
          </a:p>
          <a:p>
            <a:r>
              <a:rPr lang="fr-BE"/>
              <a:t>Dans une fonction : utiliser l'instruction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fr-BE"/>
              <a:t> </a:t>
            </a:r>
            <a:r>
              <a:rPr lang="fr-BE" dirty="0"/>
              <a:t>("céder</a:t>
            </a:r>
            <a:r>
              <a:rPr lang="fr-BE"/>
              <a:t>") et non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</a:p>
          <a:p>
            <a:pPr lvl="1"/>
            <a:r>
              <a:rPr lang="fr-BE"/>
              <a:t>Retourne un ensemble de valeurs</a:t>
            </a:r>
          </a:p>
          <a:p>
            <a:pPr lvl="1"/>
            <a:r>
              <a:rPr lang="fr-BE"/>
              <a:t>La fonction est terminée</a:t>
            </a:r>
          </a:p>
          <a:p>
            <a:pPr lvl="1"/>
            <a:r>
              <a:rPr lang="fr-BE"/>
              <a:t>L'ensemble des valeurs a dû être mis en mémoire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</a:p>
          <a:p>
            <a:pPr lvl="1"/>
            <a:r>
              <a:rPr lang="fr-BE"/>
              <a:t>Retourne une valeur</a:t>
            </a:r>
          </a:p>
          <a:p>
            <a:pPr lvl="1"/>
            <a:r>
              <a:rPr lang="fr-BE"/>
              <a:t>La fonction continue</a:t>
            </a:r>
          </a:p>
          <a:p>
            <a:pPr lvl="1"/>
            <a:r>
              <a:rPr lang="fr-BE"/>
              <a:t>La fonction retourne toutes les valeurs par "paquets", itérativement.</a:t>
            </a:r>
          </a:p>
          <a:p>
            <a:endParaRPr lang="fr-BE"/>
          </a:p>
          <a:p>
            <a:pPr marL="0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</a:rPr>
              <a:t>https://realpython.com/introduction-to-python-generators/</a:t>
            </a:r>
          </a:p>
          <a:p>
            <a:pPr lvl="1"/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75953F-4F08-439D-A411-CB43D4D50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955" y="3788229"/>
            <a:ext cx="1661731" cy="194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BC8EDF4-2671-4A4B-8041-E982748FA3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101943" y="2420515"/>
            <a:ext cx="1915885" cy="1367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65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F5F61-0D67-42D4-944F-3F3AF8AC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Préalable : Generator : Exo 17-13-01 </a:t>
            </a:r>
            <a:br>
              <a:rPr lang="fr-BE"/>
            </a:br>
            <a:r>
              <a:rPr lang="fr-BE"/>
              <a:t>sample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C2BC26-9F03-4827-AC61-A2079527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793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BE"/>
              <a:t>Défi : On veut se procurer des nombres pairs, sans se préoccuper de les calculer.</a:t>
            </a:r>
          </a:p>
          <a:p>
            <a:pPr marL="0" indent="0">
              <a:buNone/>
            </a:pPr>
            <a:endParaRPr lang="fr-BE"/>
          </a:p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infinite_sequence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():</a:t>
            </a:r>
          </a:p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num = 0</a:t>
            </a:r>
          </a:p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while True:</a:t>
            </a:r>
          </a:p>
          <a:p>
            <a:pPr marL="399800" lvl="1" indent="0">
              <a:buNone/>
            </a:pP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yield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num</a:t>
            </a:r>
          </a:p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	 num += 2</a:t>
            </a:r>
            <a:b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 in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infinite_sequence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():</a:t>
            </a:r>
          </a:p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print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(i, end=" ")</a:t>
            </a:r>
          </a:p>
          <a:p>
            <a:pPr marL="0" indent="0">
              <a:buNone/>
            </a:pPr>
            <a:r>
              <a:rPr lang="fr-BE"/>
              <a:t>Ou</a:t>
            </a:r>
          </a:p>
          <a:p>
            <a:pPr marL="399800" lvl="1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infinite_sequence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gen : generator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9980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next(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0</a:t>
            </a:r>
          </a:p>
          <a:p>
            <a:pPr marL="399800" lvl="1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next(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 …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Utile pour le debug en console</a:t>
            </a:r>
            <a:endParaRPr lang="fr-BE" b="1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7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F5F61-0D67-42D4-944F-3F3AF8AC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Préalable : Generator : Exo 17-13-02</a:t>
            </a:r>
            <a:br>
              <a:rPr lang="fr-BE"/>
            </a:br>
            <a:r>
              <a:rPr lang="fr-BE"/>
              <a:t>application à la lecture d'un gros fichier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C2BC26-9F03-4827-AC61-A20795275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736042"/>
          </a:xfrm>
        </p:spPr>
        <p:txBody>
          <a:bodyPr>
            <a:normAutofit fontScale="85000" lnSpcReduction="20000"/>
          </a:bodyPr>
          <a:lstStyle/>
          <a:p>
            <a:pPr marL="482600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opening file using return</a:t>
            </a:r>
          </a:p>
          <a:p>
            <a:pPr marL="482600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=&gt; tout le contenu est retourné en un coup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csv_reader_1():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file = open(fn)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result = file.read().split("\n")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result</a:t>
            </a:r>
          </a:p>
          <a:p>
            <a:pPr marL="482600" lvl="1" indent="0">
              <a:buNone/>
            </a:pP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82600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opening file using yield</a:t>
            </a:r>
          </a:p>
          <a:p>
            <a:pPr marL="482600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=&gt; le contenu est retourné ligne par ligne </a:t>
            </a:r>
          </a:p>
          <a:p>
            <a:pPr marL="482600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=&gt; gain en mémoire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csv_reader_2():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for row in open(fn, "r"):</a:t>
            </a:r>
          </a:p>
          <a:p>
            <a:pPr marL="482600" lvl="1" indent="0">
              <a:buNone/>
            </a:pP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  yield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row</a:t>
            </a:r>
          </a:p>
        </p:txBody>
      </p:sp>
    </p:spTree>
    <p:extLst>
      <p:ext uri="{BB962C8B-B14F-4D97-AF65-F5344CB8AC3E}">
        <p14:creationId xmlns:p14="http://schemas.microsoft.com/office/powerpoint/2010/main" val="116649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75A0F-3AD4-4A4B-AA2D-F407696C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Préalable : Generator : Exo 17-13-03 </a:t>
            </a:r>
            <a:br>
              <a:rPr lang="fr-BE"/>
            </a:br>
            <a:r>
              <a:rPr lang="fr-BE"/>
              <a:t>fonctions iter() et next()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C37CA9-9715-42DD-A0CD-CF9BDF748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70000" lnSpcReduction="20000"/>
          </a:bodyPr>
          <a:lstStyle/>
          <a:p>
            <a:pPr marL="399800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mytuple = ("apple", "banana", "cherry")</a:t>
            </a:r>
          </a:p>
          <a:p>
            <a:pPr marL="399800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iter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(mytuple)</a:t>
            </a:r>
          </a:p>
          <a:p>
            <a:pPr marL="399800" lvl="1" indent="0">
              <a:buNone/>
            </a:pP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True: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try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letter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myit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except StopIteration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break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print(letter)</a:t>
            </a:r>
          </a:p>
          <a:p>
            <a:pPr marL="399800" lvl="1" indent="0">
              <a:buNone/>
            </a:pPr>
            <a:endParaRPr lang="en-US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99800" lvl="1" indent="0">
              <a:buNone/>
            </a:pPr>
            <a:r>
              <a:rPr lang="en-US"/>
              <a:t>ou</a:t>
            </a:r>
          </a:p>
          <a:p>
            <a:pPr marL="399800" lvl="1" indent="0">
              <a:buNone/>
            </a:pPr>
            <a:endParaRPr lang="en-US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True: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letter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myit, </a:t>
            </a:r>
            <a:r>
              <a:rPr lang="fr-BE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None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letter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None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: break</a:t>
            </a:r>
          </a:p>
          <a:p>
            <a:pPr marL="399800" lvl="1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print(letter)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EC3C4D-42D9-4E0F-804A-61D34C190C92}"/>
              </a:ext>
            </a:extLst>
          </p:cNvPr>
          <p:cNvSpPr txBox="1"/>
          <p:nvPr/>
        </p:nvSpPr>
        <p:spPr>
          <a:xfrm>
            <a:off x="8439841" y="4218365"/>
            <a:ext cx="239484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i="1">
                <a:solidFill>
                  <a:srgbClr val="7F7F7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fr-BE" sz="3200" i="1">
                <a:solidFill>
                  <a:srgbClr val="7F7F7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apple</a:t>
            </a:r>
          </a:p>
          <a:p>
            <a:r>
              <a:rPr lang="fr-BE" sz="3200" i="1">
                <a:solidFill>
                  <a:srgbClr val="7F7F7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banana</a:t>
            </a:r>
          </a:p>
          <a:p>
            <a:r>
              <a:rPr lang="fr-BE" sz="3200" i="1">
                <a:solidFill>
                  <a:srgbClr val="7F7F7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cherry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3A0A4C-C7D9-6D6B-8CAE-A4D279E2F856}"/>
              </a:ext>
            </a:extLst>
          </p:cNvPr>
          <p:cNvSpPr txBox="1"/>
          <p:nvPr/>
        </p:nvSpPr>
        <p:spPr>
          <a:xfrm>
            <a:off x="8439841" y="1690688"/>
            <a:ext cx="3835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200"/>
              <a:t>arrêt de l'itération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3200">
                <a:solidFill>
                  <a:schemeClr val="accent1"/>
                </a:solidFill>
              </a:rPr>
              <a:t>try/except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 sz="3200">
                <a:solidFill>
                  <a:schemeClr val="accent4"/>
                </a:solidFill>
              </a:rPr>
              <a:t>next, default value</a:t>
            </a:r>
          </a:p>
        </p:txBody>
      </p:sp>
    </p:spTree>
    <p:extLst>
      <p:ext uri="{BB962C8B-B14F-4D97-AF65-F5344CB8AC3E}">
        <p14:creationId xmlns:p14="http://schemas.microsoft.com/office/powerpoint/2010/main" val="119669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DCA14F-4D4C-4333-BE8A-11B88B690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Iterator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5A1AB59-6681-46C1-9B3C-9946D8E79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/>
              <a:t>Utilité : Accéder séquentiellement aux éléments d'un </a:t>
            </a:r>
            <a:r>
              <a:rPr lang="fr-BE">
                <a:solidFill>
                  <a:schemeClr val="accent2"/>
                </a:solidFill>
              </a:rPr>
              <a:t>objet agrégé</a:t>
            </a:r>
          </a:p>
          <a:p>
            <a:pPr marL="939800" lvl="1" indent="-457200">
              <a:buFont typeface="Arial" panose="020B0604020202020204" pitchFamily="34" charset="0"/>
              <a:buChar char="•"/>
            </a:pPr>
            <a:r>
              <a:rPr lang="fr-BE"/>
              <a:t>Sans exposer son implémentation</a:t>
            </a:r>
          </a:p>
          <a:p>
            <a:pPr marL="939800" lvl="1" indent="-457200">
              <a:buFont typeface="Arial" panose="020B0604020202020204" pitchFamily="34" charset="0"/>
              <a:buChar char="•"/>
            </a:pPr>
            <a:r>
              <a:rPr lang="fr-BE"/>
              <a:t>On parcourt les éléments des collections sans prendre en compte les détails approfondis des éléments. 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F81DD48F-446B-4D53-9A08-CDF0107FC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197" y="1736116"/>
            <a:ext cx="6045031" cy="1411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ghtbox">
            <a:extLst>
              <a:ext uri="{FF2B5EF4-FFF2-40B4-BE49-F238E27FC236}">
                <a16:creationId xmlns:a16="http://schemas.microsoft.com/office/drawing/2014/main" id="{D3D868DA-85D2-445F-8802-6B7591C86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777" y="3429000"/>
            <a:ext cx="372427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26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F24D9F-C676-4B92-B885-EA8641B7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Iterator</a:t>
            </a:r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44A30209-3DA4-467D-AC2B-5848A5629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9719348" cy="46212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23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2FCCD-B49B-4ACC-8FFB-CEB33D3B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Iterator : création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1E771F-A92A-4125-9E96-3D1D9D981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__iter__()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fr-BE"/>
              <a:t>Pour initialiser l'iterator</a:t>
            </a:r>
          </a:p>
          <a:p>
            <a:pPr lvl="1"/>
            <a:r>
              <a:rPr lang="fr-BE"/>
              <a:t>Similaire à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__init__()</a:t>
            </a:r>
          </a:p>
          <a:p>
            <a:pPr lvl="1"/>
            <a:r>
              <a:rPr lang="fr-BE"/>
              <a:t>Retourne : l'objet (self) !</a:t>
            </a:r>
          </a:p>
          <a:p>
            <a:r>
              <a:rPr lang="fr-BE" dirty="0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__next__()</a:t>
            </a:r>
          </a:p>
          <a:p>
            <a:pPr lvl="1"/>
            <a:r>
              <a:rPr lang="fr-BE"/>
              <a:t>Pour atteindre l'élément suivant </a:t>
            </a:r>
          </a:p>
          <a:p>
            <a:pPr lvl="1"/>
            <a:r>
              <a:rPr lang="fr-BE"/>
              <a:t>Retourne : l'élément suivant de l'itération</a:t>
            </a:r>
          </a:p>
          <a:p>
            <a:pPr lvl="1"/>
            <a:r>
              <a:rPr lang="fr-BE"/>
              <a:t>Fin d'itération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raise StopIteration</a:t>
            </a:r>
          </a:p>
        </p:txBody>
      </p:sp>
    </p:spTree>
    <p:extLst>
      <p:ext uri="{BB962C8B-B14F-4D97-AF65-F5344CB8AC3E}">
        <p14:creationId xmlns:p14="http://schemas.microsoft.com/office/powerpoint/2010/main" val="3771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6E0B5-1600-436B-BC49-454073C6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Iterator : Exo 17-13-06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06B2B2-7CD4-4E61-88DD-7314E10AE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8114" cy="5032375"/>
          </a:xfrm>
        </p:spPr>
        <p:txBody>
          <a:bodyPr numCol="1">
            <a:normAutofit fontScale="625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initialization du CountDown à 5 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my_iter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iter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(CountDown(5))</a:t>
            </a:r>
          </a:p>
          <a:p>
            <a:pPr marL="0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while True: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  try:</a:t>
            </a:r>
          </a:p>
          <a:p>
            <a:pPr marL="0" indent="0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# iteration 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    i =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next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(my_iter)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    print(i)</a:t>
            </a:r>
          </a:p>
          <a:p>
            <a:pPr marL="0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  except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StopIteration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# quand i atteint 0 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    print("Go !")</a:t>
            </a:r>
          </a:p>
          <a:p>
            <a:pPr marL="0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    break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CF9653-177C-4127-ABBD-960B48AE50E5}"/>
              </a:ext>
            </a:extLst>
          </p:cNvPr>
          <p:cNvSpPr txBox="1"/>
          <p:nvPr/>
        </p:nvSpPr>
        <p:spPr>
          <a:xfrm>
            <a:off x="7886700" y="3429000"/>
            <a:ext cx="18395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2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OUTPUT 4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1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Go !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AD2F135-A264-5A78-4D26-03469FD8DF6D}"/>
              </a:ext>
            </a:extLst>
          </p:cNvPr>
          <p:cNvSpPr txBox="1"/>
          <p:nvPr/>
        </p:nvSpPr>
        <p:spPr>
          <a:xfrm>
            <a:off x="7886700" y="1502502"/>
            <a:ext cx="4305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Ecrivez l'itérateur qui implante un compte à rebours. </a:t>
            </a:r>
          </a:p>
        </p:txBody>
      </p:sp>
    </p:spTree>
    <p:extLst>
      <p:ext uri="{BB962C8B-B14F-4D97-AF65-F5344CB8AC3E}">
        <p14:creationId xmlns:p14="http://schemas.microsoft.com/office/powerpoint/2010/main" val="131356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6E0B5-1600-436B-BC49-454073C6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Iterator : Exo 17-13-06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06B2B2-7CD4-4E61-88DD-7314E10AE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29" y="1825625"/>
            <a:ext cx="11903825" cy="4351339"/>
          </a:xfrm>
        </p:spPr>
        <p:txBody>
          <a:bodyPr numCol="2" spc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 CountDown: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__init__(self):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Constructor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__iter__(self):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# creates iterator object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self.__target 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return self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 __next__(self):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# move to next element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# decrement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self.__counter -=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# Stop if target reached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if self.__counter &lt;= self.__target: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raise StopIteration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# Else return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return self.__counter</a:t>
            </a:r>
          </a:p>
        </p:txBody>
      </p:sp>
    </p:spTree>
    <p:extLst>
      <p:ext uri="{BB962C8B-B14F-4D97-AF65-F5344CB8AC3E}">
        <p14:creationId xmlns:p14="http://schemas.microsoft.com/office/powerpoint/2010/main" val="36478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38F23-1761-4911-A205-8950539CE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17-13-11 : feu de signalisation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B3D0DD-ECAA-4BAF-B9E9-E9D235BE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Partez de l'exo 17-13-11_start.py</a:t>
            </a:r>
          </a:p>
          <a:p>
            <a:r>
              <a:rPr lang="fr-BE" dirty="0"/>
              <a:t>Redesignez la classe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Light</a:t>
            </a:r>
            <a:r>
              <a:rPr lang="fr-BE" dirty="0"/>
              <a:t> avec le Design Pattern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Iterator</a:t>
            </a:r>
          </a:p>
          <a:p>
            <a:pPr lvl="1"/>
            <a:r>
              <a:rPr lang="fr-BE" dirty="0"/>
              <a:t>Méthode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iter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__() </a:t>
            </a:r>
          </a:p>
          <a:p>
            <a:pPr lvl="1"/>
            <a:r>
              <a:rPr lang="fr-BE" dirty="0"/>
              <a:t>Méthode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__()</a:t>
            </a:r>
          </a:p>
          <a:p>
            <a:pPr lvl="1"/>
            <a:r>
              <a:rPr lang="fr-BE" dirty="0"/>
              <a:t>Utilisation de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iter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Utilisation de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next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Quid de l'objet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feu01</a:t>
            </a:r>
            <a:r>
              <a:rPr lang="fr-BE" dirty="0"/>
              <a:t> ? 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54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E3914-FDA3-4BDE-84F5-B6A841A8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17-13-24 : la jungle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AF7726-C5DE-474C-A70F-B193FC5E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Partez de l'exo 17-13-24_jungle_start.py</a:t>
            </a:r>
          </a:p>
          <a:p>
            <a:r>
              <a:rPr lang="fr-BE"/>
              <a:t>Redesignez ce code avec le Design Pattern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Iterator</a:t>
            </a:r>
          </a:p>
          <a:p>
            <a:pPr lvl="1"/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__iter__() </a:t>
            </a:r>
          </a:p>
          <a:p>
            <a:pPr lvl="1"/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__next__()</a:t>
            </a:r>
          </a:p>
          <a:p>
            <a:pPr lvl="1"/>
            <a:r>
              <a:rPr lang="fr-BE"/>
              <a:t>Remplacez les méthodes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go()</a:t>
            </a:r>
          </a:p>
          <a:p>
            <a:pPr lvl="1"/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45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Chapitre 17-16 : Observer</a:t>
            </a: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BE"/>
              <a:t>Design Pattern comportemental</a:t>
            </a:r>
          </a:p>
          <a:p>
            <a:pPr lvl="0"/>
            <a:r>
              <a:rPr lang="fr-BE"/>
              <a:t>Notion d' "évènement"</a:t>
            </a:r>
          </a:p>
          <a:p>
            <a:pPr lvl="0"/>
            <a:r>
              <a:rPr lang="fr-BE"/>
              <a:t>Couplage entre objets : à minimiser </a:t>
            </a:r>
          </a:p>
        </p:txBody>
      </p:sp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3D01FC0D-DA39-333D-A5B2-1A8FD2A07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882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05F98F35-D719-3FA6-2F57-BC71CC78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54" y="0"/>
            <a:ext cx="9704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0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44F499-EA7B-846D-0CD6-32806079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Observer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50ABBC-4946-E038-167C-2FA3F0300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Motivation : </a:t>
            </a:r>
          </a:p>
          <a:p>
            <a:pPr lvl="1"/>
            <a:r>
              <a:rPr lang="fr-BE"/>
              <a:t>Prendre en compte le </a:t>
            </a:r>
            <a:r>
              <a:rPr lang="fr-BE">
                <a:solidFill>
                  <a:schemeClr val="accent2"/>
                </a:solidFill>
              </a:rPr>
              <a:t>couplage entre objets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Réduire le couplage</a:t>
            </a:r>
            <a:r>
              <a:rPr lang="fr-BE"/>
              <a:t> (la dépendance) </a:t>
            </a:r>
            <a:r>
              <a:rPr lang="fr-BE">
                <a:solidFill>
                  <a:schemeClr val="accent2"/>
                </a:solidFill>
              </a:rPr>
              <a:t>entre objets </a:t>
            </a:r>
          </a:p>
          <a:p>
            <a:pPr lvl="1"/>
            <a:r>
              <a:rPr lang="fr-BE"/>
              <a:t>Rendre le code plus lisible et plus maintenable </a:t>
            </a:r>
          </a:p>
        </p:txBody>
      </p:sp>
    </p:spTree>
    <p:extLst>
      <p:ext uri="{BB962C8B-B14F-4D97-AF65-F5344CB8AC3E}">
        <p14:creationId xmlns:p14="http://schemas.microsoft.com/office/powerpoint/2010/main" val="245667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Observer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Collaboration entre feu et voiture  </a:t>
            </a:r>
          </a:p>
          <a:p>
            <a:pPr lvl="1"/>
            <a:r>
              <a:rPr lang="fr-BE"/>
              <a:t>Rapprochons-nous de la réalité</a:t>
            </a:r>
          </a:p>
          <a:p>
            <a:pPr lvl="1"/>
            <a:r>
              <a:rPr lang="fr-BE"/>
              <a:t>Le feu envoie une notification (sa couleur) à la voiture</a:t>
            </a:r>
          </a:p>
          <a:p>
            <a:pPr lvl="1"/>
            <a:r>
              <a:rPr lang="fr-BE"/>
              <a:t>La voiture réagit en conséquence. 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4A869B8-9FA0-47D2-9AB1-DF299305BCA2}"/>
              </a:ext>
            </a:extLst>
          </p:cNvPr>
          <p:cNvGrpSpPr/>
          <p:nvPr/>
        </p:nvGrpSpPr>
        <p:grpSpPr>
          <a:xfrm>
            <a:off x="413709" y="4648777"/>
            <a:ext cx="2600932" cy="1977329"/>
            <a:chOff x="413709" y="4648777"/>
            <a:chExt cx="2600932" cy="1977329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A4CE9B8F-836F-4236-AF34-67AEEC8695F9}"/>
                </a:ext>
              </a:extLst>
            </p:cNvPr>
            <p:cNvSpPr/>
            <p:nvPr/>
          </p:nvSpPr>
          <p:spPr>
            <a:xfrm>
              <a:off x="2493053" y="4762083"/>
              <a:ext cx="147142" cy="14714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pic>
          <p:nvPicPr>
            <p:cNvPr id="12" name="Graphique 11" descr="Voiture avec un remplissage uni">
              <a:extLst>
                <a:ext uri="{FF2B5EF4-FFF2-40B4-BE49-F238E27FC236}">
                  <a16:creationId xmlns:a16="http://schemas.microsoft.com/office/drawing/2014/main" id="{2E330D32-C9BA-4A7C-ABFB-40A0489EE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2404" y="5906106"/>
              <a:ext cx="720000" cy="720000"/>
            </a:xfrm>
            <a:prstGeom prst="rect">
              <a:avLst/>
            </a:prstGeom>
          </p:spPr>
        </p:pic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096F9375-6FAE-41D3-A811-A2330AE1BEED}"/>
                </a:ext>
              </a:extLst>
            </p:cNvPr>
            <p:cNvCxnSpPr>
              <a:cxnSpLocks/>
            </p:cNvCxnSpPr>
            <p:nvPr/>
          </p:nvCxnSpPr>
          <p:spPr>
            <a:xfrm>
              <a:off x="413709" y="6542203"/>
              <a:ext cx="2600932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BA0855A-16A1-49C9-A613-3500DF97910F}"/>
                </a:ext>
              </a:extLst>
            </p:cNvPr>
            <p:cNvCxnSpPr>
              <a:cxnSpLocks/>
              <a:stCxn id="13" idx="1"/>
              <a:endCxn id="12" idx="0"/>
            </p:cNvCxnSpPr>
            <p:nvPr/>
          </p:nvCxnSpPr>
          <p:spPr>
            <a:xfrm flipH="1">
              <a:off x="1532404" y="5008777"/>
              <a:ext cx="690241" cy="897329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DCA80DE6-AA27-428C-BC45-F0DF8FEB0160}"/>
                </a:ext>
              </a:extLst>
            </p:cNvPr>
            <p:cNvGrpSpPr/>
            <p:nvPr/>
          </p:nvGrpSpPr>
          <p:grpSpPr>
            <a:xfrm>
              <a:off x="2222645" y="4648777"/>
              <a:ext cx="720000" cy="1893426"/>
              <a:chOff x="9294994" y="4648777"/>
              <a:chExt cx="720000" cy="1893426"/>
            </a:xfrm>
          </p:grpSpPr>
          <p:pic>
            <p:nvPicPr>
              <p:cNvPr id="13" name="Graphique 12" descr="Feux de signalisation avec un remplissage uni">
                <a:extLst>
                  <a:ext uri="{FF2B5EF4-FFF2-40B4-BE49-F238E27FC236}">
                    <a16:creationId xmlns:a16="http://schemas.microsoft.com/office/drawing/2014/main" id="{460CDED6-8444-4021-93A4-D1ED44018C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294994" y="4648777"/>
                <a:ext cx="720000" cy="720000"/>
              </a:xfrm>
              <a:prstGeom prst="rect">
                <a:avLst/>
              </a:prstGeom>
            </p:spPr>
          </p:pic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8DB05C1C-BAD9-4381-A337-4D6FBD550283}"/>
                  </a:ext>
                </a:extLst>
              </p:cNvPr>
              <p:cNvCxnSpPr/>
              <p:nvPr/>
            </p:nvCxnSpPr>
            <p:spPr>
              <a:xfrm>
                <a:off x="9654994" y="5283936"/>
                <a:ext cx="0" cy="1258267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294C329-9CE8-4038-8D96-E4C9E4D6FB67}"/>
              </a:ext>
            </a:extLst>
          </p:cNvPr>
          <p:cNvGrpSpPr/>
          <p:nvPr/>
        </p:nvGrpSpPr>
        <p:grpSpPr>
          <a:xfrm>
            <a:off x="3464630" y="4648777"/>
            <a:ext cx="2600932" cy="1977329"/>
            <a:chOff x="3464630" y="4648777"/>
            <a:chExt cx="2600932" cy="1977329"/>
          </a:xfrm>
        </p:grpSpPr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3CB85C12-6FF7-498E-B4F6-7BE557A86037}"/>
                </a:ext>
              </a:extLst>
            </p:cNvPr>
            <p:cNvSpPr/>
            <p:nvPr/>
          </p:nvSpPr>
          <p:spPr>
            <a:xfrm>
              <a:off x="5551348" y="5093919"/>
              <a:ext cx="147142" cy="147142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/>
            </a:p>
          </p:txBody>
        </p:sp>
        <p:pic>
          <p:nvPicPr>
            <p:cNvPr id="25" name="Graphique 24" descr="Voiture avec un remplissage uni">
              <a:extLst>
                <a:ext uri="{FF2B5EF4-FFF2-40B4-BE49-F238E27FC236}">
                  <a16:creationId xmlns:a16="http://schemas.microsoft.com/office/drawing/2014/main" id="{A37992D5-8473-4083-B68A-0E2AEF125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23325" y="5906106"/>
              <a:ext cx="720000" cy="720000"/>
            </a:xfrm>
            <a:prstGeom prst="rect">
              <a:avLst/>
            </a:prstGeom>
          </p:spPr>
        </p:pic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29D08023-1F56-481E-8251-E08653F4EA60}"/>
                </a:ext>
              </a:extLst>
            </p:cNvPr>
            <p:cNvCxnSpPr>
              <a:cxnSpLocks/>
            </p:cNvCxnSpPr>
            <p:nvPr/>
          </p:nvCxnSpPr>
          <p:spPr>
            <a:xfrm>
              <a:off x="3464630" y="6542203"/>
              <a:ext cx="2600932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07B85FDF-7E62-4C62-A309-5EA9173B3E83}"/>
                </a:ext>
              </a:extLst>
            </p:cNvPr>
            <p:cNvCxnSpPr>
              <a:cxnSpLocks/>
              <a:stCxn id="29" idx="1"/>
              <a:endCxn id="25" idx="0"/>
            </p:cNvCxnSpPr>
            <p:nvPr/>
          </p:nvCxnSpPr>
          <p:spPr>
            <a:xfrm flipH="1">
              <a:off x="4583325" y="5008777"/>
              <a:ext cx="690241" cy="897329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278A6A0B-6C21-4E3C-B96F-078711E0E6C5}"/>
                </a:ext>
              </a:extLst>
            </p:cNvPr>
            <p:cNvGrpSpPr/>
            <p:nvPr/>
          </p:nvGrpSpPr>
          <p:grpSpPr>
            <a:xfrm>
              <a:off x="5273566" y="4648777"/>
              <a:ext cx="720000" cy="1893426"/>
              <a:chOff x="9294994" y="4648777"/>
              <a:chExt cx="720000" cy="1893426"/>
            </a:xfrm>
          </p:grpSpPr>
          <p:pic>
            <p:nvPicPr>
              <p:cNvPr id="29" name="Graphique 28" descr="Feux de signalisation avec un remplissage uni">
                <a:extLst>
                  <a:ext uri="{FF2B5EF4-FFF2-40B4-BE49-F238E27FC236}">
                    <a16:creationId xmlns:a16="http://schemas.microsoft.com/office/drawing/2014/main" id="{EC30B8DE-3439-40EF-B02E-2BB9854AC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294994" y="4648777"/>
                <a:ext cx="720000" cy="720000"/>
              </a:xfrm>
              <a:prstGeom prst="rect">
                <a:avLst/>
              </a:prstGeom>
            </p:spPr>
          </p:pic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56CD9332-01F5-4C30-A62E-DC3AFDD8B7D4}"/>
                  </a:ext>
                </a:extLst>
              </p:cNvPr>
              <p:cNvCxnSpPr/>
              <p:nvPr/>
            </p:nvCxnSpPr>
            <p:spPr>
              <a:xfrm>
                <a:off x="9654994" y="5283936"/>
                <a:ext cx="0" cy="1258267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Ellipse 32">
            <a:extLst>
              <a:ext uri="{FF2B5EF4-FFF2-40B4-BE49-F238E27FC236}">
                <a16:creationId xmlns:a16="http://schemas.microsoft.com/office/drawing/2014/main" id="{CBF5EEFB-D46C-44A3-9EC1-FFB0C034079F}"/>
              </a:ext>
            </a:extLst>
          </p:cNvPr>
          <p:cNvSpPr/>
          <p:nvPr/>
        </p:nvSpPr>
        <p:spPr>
          <a:xfrm>
            <a:off x="6952541" y="5093919"/>
            <a:ext cx="147142" cy="14714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34" name="Graphique 33" descr="Voiture avec un remplissage uni">
            <a:extLst>
              <a:ext uri="{FF2B5EF4-FFF2-40B4-BE49-F238E27FC236}">
                <a16:creationId xmlns:a16="http://schemas.microsoft.com/office/drawing/2014/main" id="{5ABDF1EE-2665-44C1-B6DD-618DBA3E2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4978" y="5906106"/>
            <a:ext cx="720000" cy="720000"/>
          </a:xfrm>
          <a:prstGeom prst="rect">
            <a:avLst/>
          </a:prstGeom>
        </p:spPr>
      </p:pic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76D3F98-D238-4F45-B3AE-D78DAAF8E0DA}"/>
              </a:ext>
            </a:extLst>
          </p:cNvPr>
          <p:cNvCxnSpPr>
            <a:cxnSpLocks/>
          </p:cNvCxnSpPr>
          <p:nvPr/>
        </p:nvCxnSpPr>
        <p:spPr>
          <a:xfrm>
            <a:off x="6584004" y="6542203"/>
            <a:ext cx="2600932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E377D151-1B2F-4CD4-8B58-C81AAE05DF4C}"/>
              </a:ext>
            </a:extLst>
          </p:cNvPr>
          <p:cNvGrpSpPr/>
          <p:nvPr/>
        </p:nvGrpSpPr>
        <p:grpSpPr>
          <a:xfrm>
            <a:off x="6667381" y="4648777"/>
            <a:ext cx="720000" cy="1893426"/>
            <a:chOff x="9294994" y="4648777"/>
            <a:chExt cx="720000" cy="1893426"/>
          </a:xfrm>
        </p:grpSpPr>
        <p:pic>
          <p:nvPicPr>
            <p:cNvPr id="38" name="Graphique 37" descr="Feux de signalisation avec un remplissage uni">
              <a:extLst>
                <a:ext uri="{FF2B5EF4-FFF2-40B4-BE49-F238E27FC236}">
                  <a16:creationId xmlns:a16="http://schemas.microsoft.com/office/drawing/2014/main" id="{ADC74655-B907-467D-B06E-498CBAD07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94994" y="4648777"/>
              <a:ext cx="720000" cy="720000"/>
            </a:xfrm>
            <a:prstGeom prst="rect">
              <a:avLst/>
            </a:prstGeom>
          </p:spPr>
        </p:pic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AFE715D1-6EDB-4D97-8B18-5F14CAFE83AE}"/>
                </a:ext>
              </a:extLst>
            </p:cNvPr>
            <p:cNvCxnSpPr/>
            <p:nvPr/>
          </p:nvCxnSpPr>
          <p:spPr>
            <a:xfrm>
              <a:off x="9654994" y="5283936"/>
              <a:ext cx="0" cy="125826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Nuage 20">
            <a:extLst>
              <a:ext uri="{FF2B5EF4-FFF2-40B4-BE49-F238E27FC236}">
                <a16:creationId xmlns:a16="http://schemas.microsoft.com/office/drawing/2014/main" id="{E9D928D9-8C11-47A1-9164-081D15481A94}"/>
              </a:ext>
            </a:extLst>
          </p:cNvPr>
          <p:cNvSpPr/>
          <p:nvPr/>
        </p:nvSpPr>
        <p:spPr>
          <a:xfrm>
            <a:off x="7470759" y="6167215"/>
            <a:ext cx="719998" cy="291086"/>
          </a:xfrm>
          <a:prstGeom prst="cloud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444BDDF-07E5-486A-B153-E2618FB9E00D}"/>
              </a:ext>
            </a:extLst>
          </p:cNvPr>
          <p:cNvSpPr txBox="1"/>
          <p:nvPr/>
        </p:nvSpPr>
        <p:spPr>
          <a:xfrm>
            <a:off x="1795064" y="4302531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>
                <a:latin typeface="Garamond" panose="02020404030301010803" pitchFamily="18" charset="0"/>
              </a:rPr>
              <a:t>observable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2759C544-6D60-415D-BA1C-56499D81441B}"/>
              </a:ext>
            </a:extLst>
          </p:cNvPr>
          <p:cNvSpPr txBox="1"/>
          <p:nvPr/>
        </p:nvSpPr>
        <p:spPr>
          <a:xfrm>
            <a:off x="-119019" y="5619896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>
                <a:solidFill>
                  <a:schemeClr val="accent1"/>
                </a:solidFill>
                <a:latin typeface="Garamond" panose="02020404030301010803" pitchFamily="18" charset="0"/>
              </a:rPr>
              <a:t>observer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2771FAD2-58B3-4144-9067-05359EF6BBF0}"/>
              </a:ext>
            </a:extLst>
          </p:cNvPr>
          <p:cNvSpPr txBox="1"/>
          <p:nvPr/>
        </p:nvSpPr>
        <p:spPr>
          <a:xfrm>
            <a:off x="328217" y="4975611"/>
            <a:ext cx="1669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.notify()</a:t>
            </a:r>
          </a:p>
        </p:txBody>
      </p:sp>
    </p:spTree>
    <p:extLst>
      <p:ext uri="{BB962C8B-B14F-4D97-AF65-F5344CB8AC3E}">
        <p14:creationId xmlns:p14="http://schemas.microsoft.com/office/powerpoint/2010/main" val="1054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Observer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2820"/>
          </a:xfrm>
        </p:spPr>
        <p:txBody>
          <a:bodyPr>
            <a:normAutofit fontScale="85000" lnSpcReduction="10000"/>
          </a:bodyPr>
          <a:lstStyle/>
          <a:p>
            <a:r>
              <a:rPr lang="fr-BE"/>
              <a:t>Utilité : Gestion des évènements</a:t>
            </a:r>
          </a:p>
          <a:p>
            <a:pPr lvl="1"/>
            <a:r>
              <a:rPr lang="fr-BE"/>
              <a:t>Lorsqu'un objet change, d'autres objets sont avisés du changement.</a:t>
            </a:r>
          </a:p>
          <a:p>
            <a:r>
              <a:rPr lang="fr-BE"/>
              <a:t>Principe</a:t>
            </a:r>
          </a:p>
          <a:p>
            <a:pPr lvl="1"/>
            <a:r>
              <a:rPr lang="fr-BE"/>
              <a:t>Un objet </a:t>
            </a:r>
            <a:r>
              <a:rPr lang="fr-BE">
                <a:solidFill>
                  <a:schemeClr val="accent2"/>
                </a:solidFill>
              </a:rPr>
              <a:t>sujet</a:t>
            </a:r>
            <a:r>
              <a:rPr lang="fr-BE"/>
              <a:t> est déclaré </a:t>
            </a:r>
            <a:r>
              <a:rPr lang="fr-BE">
                <a:solidFill>
                  <a:schemeClr val="accent2"/>
                </a:solidFill>
              </a:rPr>
              <a:t>"observable"</a:t>
            </a:r>
            <a:endParaRPr lang="fr-BE"/>
          </a:p>
          <a:p>
            <a:pPr lvl="1"/>
            <a:r>
              <a:rPr lang="fr-BE"/>
              <a:t>Les objets </a:t>
            </a:r>
            <a:r>
              <a:rPr lang="fr-BE">
                <a:solidFill>
                  <a:schemeClr val="accent2"/>
                </a:solidFill>
              </a:rPr>
              <a:t>observateurs </a:t>
            </a:r>
            <a:r>
              <a:rPr lang="fr-BE"/>
              <a:t>du sujet sont déclarés </a:t>
            </a:r>
            <a:r>
              <a:rPr lang="fr-BE">
                <a:solidFill>
                  <a:schemeClr val="accent2"/>
                </a:solidFill>
              </a:rPr>
              <a:t>"observer".</a:t>
            </a:r>
            <a:endParaRPr lang="fr-BE"/>
          </a:p>
          <a:p>
            <a:pPr lvl="1"/>
            <a:r>
              <a:rPr lang="fr-BE"/>
              <a:t>Un mécanisme de </a:t>
            </a:r>
            <a:r>
              <a:rPr lang="fr-BE">
                <a:solidFill>
                  <a:schemeClr val="accent2"/>
                </a:solidFill>
              </a:rPr>
              <a:t>souscription </a:t>
            </a:r>
            <a:r>
              <a:rPr lang="fr-BE"/>
              <a:t>est mis en place.</a:t>
            </a:r>
          </a:p>
          <a:p>
            <a:pPr lvl="1"/>
            <a:r>
              <a:rPr lang="fr-BE"/>
              <a:t>Le sujet déclenche l'exécution d'une méthode de l'observateur.</a:t>
            </a:r>
          </a:p>
          <a:p>
            <a:pPr lvl="1"/>
            <a:r>
              <a:rPr lang="fr-BE"/>
              <a:t>Les observateurs ne sont activés que quand ils sont notifiés.</a:t>
            </a:r>
          </a:p>
          <a:p>
            <a:r>
              <a:rPr lang="fr-BE"/>
              <a:t>Avantages</a:t>
            </a:r>
          </a:p>
          <a:p>
            <a:pPr lvl="1"/>
            <a:r>
              <a:rPr lang="fr-BE"/>
              <a:t>Limitation du </a:t>
            </a:r>
            <a:r>
              <a:rPr lang="fr-BE">
                <a:solidFill>
                  <a:schemeClr val="accent2"/>
                </a:solidFill>
              </a:rPr>
              <a:t>couplage entre objets </a:t>
            </a:r>
            <a:r>
              <a:rPr lang="fr-BE"/>
              <a:t>aux seuls phénomènes à observer. </a:t>
            </a:r>
          </a:p>
          <a:p>
            <a:pPr lvl="1"/>
            <a:r>
              <a:rPr lang="fr-BE"/>
              <a:t>Simplification si des observateurs multiples dépendent du même sujet</a:t>
            </a:r>
          </a:p>
        </p:txBody>
      </p:sp>
    </p:spTree>
    <p:extLst>
      <p:ext uri="{BB962C8B-B14F-4D97-AF65-F5344CB8AC3E}">
        <p14:creationId xmlns:p14="http://schemas.microsoft.com/office/powerpoint/2010/main" val="298533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16DABB-238C-4655-861E-C7E951E4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BE"/>
              <a:t>Design Pattern : Observer : Souscription</a:t>
            </a:r>
          </a:p>
        </p:txBody>
      </p:sp>
      <p:pic>
        <p:nvPicPr>
          <p:cNvPr id="2050" name="Picture 2" descr="Architecture Diagram of Observer Design Pattern - shows a news feed as an observable and multiple readers as observers subscribed to the news feed">
            <a:extLst>
              <a:ext uri="{FF2B5EF4-FFF2-40B4-BE49-F238E27FC236}">
                <a16:creationId xmlns:a16="http://schemas.microsoft.com/office/drawing/2014/main" id="{188F5666-00A0-4E89-959F-2323F074D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4735" y="1690689"/>
            <a:ext cx="6982530" cy="448627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5" name="Slide Number Placeholder 3">
            <a:extLst>
              <a:ext uri="{FF2B5EF4-FFF2-40B4-BE49-F238E27FC236}">
                <a16:creationId xmlns:a16="http://schemas.microsoft.com/office/drawing/2014/main" id="{BAD27A25-600F-A104-923E-60AF16DB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9526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2C092ED-0E97-497E-99D9-BB9DD7276F53}" type="slidenum">
              <a:rPr lang="fr-BE" smtClean="0"/>
              <a:pPr>
                <a:spcAft>
                  <a:spcPts val="600"/>
                </a:spcAft>
              </a:pPr>
              <a:t>42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400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Observer : Architecture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Relation One-To-Many</a:t>
            </a:r>
          </a:p>
          <a:p>
            <a:pPr lvl="1"/>
            <a:r>
              <a:rPr lang="fr-BE"/>
              <a:t>un sujet, plusieurs observateurs</a:t>
            </a:r>
          </a:p>
          <a:p>
            <a:pPr lvl="1"/>
            <a:r>
              <a:rPr lang="fr-BE"/>
              <a:t>Pas de "event manager"</a:t>
            </a:r>
          </a:p>
          <a:p>
            <a:r>
              <a:rPr lang="fr-BE"/>
              <a:t>Sujet </a:t>
            </a:r>
          </a:p>
          <a:p>
            <a:pPr lvl="1"/>
            <a:r>
              <a:rPr lang="fr-BE"/>
              <a:t>Class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Observable</a:t>
            </a:r>
            <a:r>
              <a:rPr lang="fr-BE"/>
              <a:t> </a:t>
            </a:r>
          </a:p>
          <a:p>
            <a:pPr lvl="1"/>
            <a:r>
              <a:rPr lang="fr-BE"/>
              <a:t>Il gère la liste des observateurs.</a:t>
            </a:r>
          </a:p>
          <a:p>
            <a:pPr lvl="1"/>
            <a:r>
              <a:rPr lang="fr-BE"/>
              <a:t>modification apportée au sujet =&gt; </a:t>
            </a:r>
            <a:r>
              <a:rPr lang="fr-BE">
                <a:solidFill>
                  <a:schemeClr val="accent2"/>
                </a:solidFill>
              </a:rPr>
              <a:t>message</a:t>
            </a:r>
            <a:r>
              <a:rPr lang="fr-BE"/>
              <a:t> émis vers les observateurs</a:t>
            </a:r>
          </a:p>
          <a:p>
            <a:pPr lvl="1"/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notifyObservers()</a:t>
            </a:r>
          </a:p>
          <a:p>
            <a:r>
              <a:rPr lang="fr-BE"/>
              <a:t>Observateurs </a:t>
            </a:r>
          </a:p>
          <a:p>
            <a:pPr lvl="1"/>
            <a:r>
              <a:rPr lang="fr-BE"/>
              <a:t>Class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Observer</a:t>
            </a:r>
          </a:p>
          <a:p>
            <a:pPr lvl="1"/>
            <a:r>
              <a:rPr lang="fr-BE"/>
              <a:t>modification apportée au sujet =&gt; </a:t>
            </a:r>
            <a:r>
              <a:rPr lang="fr-BE">
                <a:solidFill>
                  <a:schemeClr val="accent2"/>
                </a:solidFill>
              </a:rPr>
              <a:t>message</a:t>
            </a:r>
            <a:r>
              <a:rPr lang="fr-BE"/>
              <a:t> reçu de la part du sujet</a:t>
            </a:r>
          </a:p>
          <a:p>
            <a:pPr lvl="1"/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notify()</a:t>
            </a:r>
            <a:r>
              <a:rPr lang="fr-BE"/>
              <a:t>, appelée lorsqu'un message est émis.</a:t>
            </a:r>
          </a:p>
          <a:p>
            <a:pPr lvl="1"/>
            <a:r>
              <a:rPr lang="fr-BE"/>
              <a:t>responsable de la mise à jour de son état</a:t>
            </a:r>
          </a:p>
        </p:txBody>
      </p:sp>
    </p:spTree>
    <p:extLst>
      <p:ext uri="{BB962C8B-B14F-4D97-AF65-F5344CB8AC3E}">
        <p14:creationId xmlns:p14="http://schemas.microsoft.com/office/powerpoint/2010/main" val="216995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F6970C-23EA-4BAF-9547-60A49C83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Observer : UML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480A72-B76B-4C68-B47D-53F92F76F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04" y="1762549"/>
            <a:ext cx="10295792" cy="425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77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82FECBBA-AB0E-4632-A217-F9994FDA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54" y="0"/>
            <a:ext cx="9704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6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DB30F1-78EB-40EA-A655-E0FC027F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exo 17-16-02 : trivial … mais complet !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509F0E-2D93-401C-9CA3-4459CD25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1825625"/>
            <a:ext cx="11350172" cy="4351339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fr-BE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à télécharger et à tester</a:t>
            </a: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class Observer(ABC):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fr-BE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""" observateur """</a:t>
            </a: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def __init__(self,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observable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observable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.subscribe(self)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def </a:t>
            </a: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notify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  pass</a:t>
            </a: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class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Observable(ABC)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fr-BE" sz="20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""" sujet """</a:t>
            </a: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def __init__(self):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  self.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observer_l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= []</a:t>
            </a: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  def subscribe(self, observer):</a:t>
            </a:r>
          </a:p>
          <a:p>
            <a:pPr marL="0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    self.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observer_l</a:t>
            </a: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.append(observer)</a:t>
            </a: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BE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def notify_observers(self):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  for obs in self.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observer_l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      obs.</a:t>
            </a: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notify</a:t>
            </a:r>
            <a:r>
              <a:rPr lang="fr-BE" sz="2000">
                <a:solidFill>
                  <a:srgbClr val="A87236"/>
                </a:solidFill>
                <a:latin typeface="Consolas" panose="020B0609020204030204" pitchFamily="49" charset="0"/>
              </a:rPr>
              <a:t>(self)</a:t>
            </a:r>
          </a:p>
        </p:txBody>
      </p:sp>
    </p:spTree>
    <p:extLst>
      <p:ext uri="{BB962C8B-B14F-4D97-AF65-F5344CB8AC3E}">
        <p14:creationId xmlns:p14="http://schemas.microsoft.com/office/powerpoint/2010/main" val="228299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exo 17-16-12 : trafic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Commençons par une situation simple </a:t>
            </a:r>
          </a:p>
          <a:p>
            <a:pPr lvl="1"/>
            <a:r>
              <a:rPr lang="fr-BE"/>
              <a:t>1 objet "feu"</a:t>
            </a:r>
          </a:p>
          <a:p>
            <a:pPr lvl="1"/>
            <a:r>
              <a:rPr lang="fr-BE"/>
              <a:t>1 objet "voiture"</a:t>
            </a:r>
          </a:p>
          <a:p>
            <a:pPr lvl="1"/>
            <a:r>
              <a:rPr lang="fr-BE"/>
              <a:t>=&gt; 1 fil de message 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EFE05C8-1FCF-40EB-8B40-BB61685B0EE4}"/>
              </a:ext>
            </a:extLst>
          </p:cNvPr>
          <p:cNvGrpSpPr/>
          <p:nvPr/>
        </p:nvGrpSpPr>
        <p:grpSpPr>
          <a:xfrm>
            <a:off x="838200" y="4648777"/>
            <a:ext cx="4577862" cy="1977329"/>
            <a:chOff x="838200" y="4648777"/>
            <a:chExt cx="4577862" cy="1977329"/>
          </a:xfrm>
        </p:grpSpPr>
        <p:pic>
          <p:nvPicPr>
            <p:cNvPr id="8" name="Graphique 7" descr="Voiture avec un remplissage uni">
              <a:extLst>
                <a:ext uri="{FF2B5EF4-FFF2-40B4-BE49-F238E27FC236}">
                  <a16:creationId xmlns:a16="http://schemas.microsoft.com/office/drawing/2014/main" id="{1C11EAD0-4BF2-4B59-A6DE-FD3DAAB17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6895" y="5906106"/>
              <a:ext cx="720000" cy="720000"/>
            </a:xfrm>
            <a:prstGeom prst="rect">
              <a:avLst/>
            </a:prstGeom>
          </p:spPr>
        </p:pic>
        <p:pic>
          <p:nvPicPr>
            <p:cNvPr id="16" name="Graphique 15" descr="Feux de signalisation avec un remplissage uni">
              <a:extLst>
                <a:ext uri="{FF2B5EF4-FFF2-40B4-BE49-F238E27FC236}">
                  <a16:creationId xmlns:a16="http://schemas.microsoft.com/office/drawing/2014/main" id="{AD4F3269-E9B6-4C64-81F0-5B0C2213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75951" y="4648777"/>
              <a:ext cx="720000" cy="720000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C5F42D2B-23BA-41B0-BA56-167D7FD4E9A6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" y="6542203"/>
              <a:ext cx="4577862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9AFF756-DE95-4C1E-8994-96F82651CC42}"/>
                </a:ext>
              </a:extLst>
            </p:cNvPr>
            <p:cNvCxnSpPr>
              <a:cxnSpLocks/>
              <a:stCxn id="16" idx="1"/>
              <a:endCxn id="8" idx="0"/>
            </p:cNvCxnSpPr>
            <p:nvPr/>
          </p:nvCxnSpPr>
          <p:spPr>
            <a:xfrm flipH="1">
              <a:off x="1956895" y="5008777"/>
              <a:ext cx="2519056" cy="897329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04E72D1-CAB3-4081-A899-31C46F4F9BDD}"/>
                </a:ext>
              </a:extLst>
            </p:cNvPr>
            <p:cNvCxnSpPr/>
            <p:nvPr/>
          </p:nvCxnSpPr>
          <p:spPr>
            <a:xfrm>
              <a:off x="4835951" y="5283936"/>
              <a:ext cx="0" cy="125826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043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D758-719A-4B84-BE3B-5DA7EEF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17-16-12 : trafic, un feu, une voiture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0450E-1C09-49FB-88F5-7D3B3FC2C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fontScale="55000" lnSpcReduction="20000"/>
          </a:bodyPr>
          <a:lstStyle/>
          <a:p>
            <a:r>
              <a:rPr lang="fr-BE"/>
              <a:t>Partir de 17-16-12_trafic_one2one_start.py</a:t>
            </a:r>
          </a:p>
          <a:p>
            <a:r>
              <a:rPr lang="fr-BE"/>
              <a:t>Spec additionnelle : </a:t>
            </a:r>
            <a:r>
              <a:rPr lang="fr-BE">
                <a:solidFill>
                  <a:schemeClr val="accent2"/>
                </a:solidFill>
              </a:rPr>
              <a:t>la voiture A s'arrête au feu orange !</a:t>
            </a:r>
          </a:p>
          <a:p>
            <a:r>
              <a:rPr lang="fr-BE"/>
              <a:t>Appliquez le design pattern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Observer</a:t>
            </a:r>
            <a:r>
              <a:rPr lang="fr-BE"/>
              <a:t> correspondant au scénario suivant :</a:t>
            </a:r>
            <a:br>
              <a:rPr lang="fr-BE"/>
            </a:br>
            <a:endParaRPr lang="fr-BE"/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voiture_A = Car("Peugeot")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 = Light(voiture_A)</a:t>
            </a:r>
          </a:p>
          <a:p>
            <a:pPr marL="0" indent="0">
              <a:buNone/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for i in range(4):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print(feu01)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print(voiture_A)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feu01.change()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r>
              <a:rPr lang="fr-BE"/>
              <a:t>En particulier, en vous aidant de l'exo 17-16-02 "trivia"</a:t>
            </a:r>
          </a:p>
          <a:p>
            <a:pPr lvl="1"/>
            <a:r>
              <a:rPr lang="fr-BE"/>
              <a:t>Identifiez la classe observable et la classe observateur</a:t>
            </a:r>
          </a:p>
          <a:p>
            <a:pPr lvl="1"/>
            <a:r>
              <a:rPr lang="fr-BE"/>
              <a:t>Implantez la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.notify_observers()</a:t>
            </a:r>
            <a:r>
              <a:rPr lang="fr-BE"/>
              <a:t> dans l'objet observable</a:t>
            </a: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pPr lvl="1"/>
            <a:r>
              <a:rPr lang="fr-BE"/>
              <a:t>Implantez la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.notify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()</a:t>
            </a:r>
            <a:r>
              <a:rPr lang="fr-BE"/>
              <a:t> dans l'objet observateur</a:t>
            </a: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2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D758-719A-4B84-BE3B-5DA7EEF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17-16-12 : la morale de l'histoire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8072783-179A-4B45-A829-16B885E33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2111111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/>
              <a:t>Sans observateur : 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/>
              <a:t>Le feu donne plusieurs ordres à la voiture 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/>
              <a:t>La voiture ne décide pas.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/>
              <a:t>Couplage fort entre objets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12E06EE-4B39-444E-B53D-EC900006B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223959"/>
          </a:xfrm>
        </p:spPr>
        <p:txBody>
          <a:bodyPr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 sz="3200"/>
              <a:t>Avec observateur :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 sz="2800"/>
              <a:t>le feu informe la voiture de son nouvel état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 sz="2800"/>
              <a:t>La voiture décide d'avancer 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 sz="2800"/>
              <a:t>Couplage faible entre objets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77FAF28-2C9C-478E-80BB-BE1816823BC6}"/>
              </a:ext>
            </a:extLst>
          </p:cNvPr>
          <p:cNvGrpSpPr/>
          <p:nvPr/>
        </p:nvGrpSpPr>
        <p:grpSpPr>
          <a:xfrm>
            <a:off x="1547172" y="4656737"/>
            <a:ext cx="3268248" cy="1836138"/>
            <a:chOff x="1634283" y="3851516"/>
            <a:chExt cx="3268248" cy="1836138"/>
          </a:xfrm>
        </p:grpSpPr>
        <p:pic>
          <p:nvPicPr>
            <p:cNvPr id="10" name="Graphique 9" descr="Voiture avec un remplissage uni">
              <a:extLst>
                <a:ext uri="{FF2B5EF4-FFF2-40B4-BE49-F238E27FC236}">
                  <a16:creationId xmlns:a16="http://schemas.microsoft.com/office/drawing/2014/main" id="{154FC199-DB7E-4D5B-9BD9-E9166D9CC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4767" y="4967654"/>
              <a:ext cx="720000" cy="720000"/>
            </a:xfrm>
            <a:prstGeom prst="rect">
              <a:avLst/>
            </a:prstGeom>
          </p:spPr>
        </p:pic>
        <p:pic>
          <p:nvPicPr>
            <p:cNvPr id="11" name="Graphique 10" descr="Feux de signalisation avec un remplissage uni">
              <a:extLst>
                <a:ext uri="{FF2B5EF4-FFF2-40B4-BE49-F238E27FC236}">
                  <a16:creationId xmlns:a16="http://schemas.microsoft.com/office/drawing/2014/main" id="{BE3371F8-191A-4D3C-8171-4D3E3C508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51338" y="3851516"/>
              <a:ext cx="720000" cy="720000"/>
            </a:xfrm>
            <a:prstGeom prst="rect">
              <a:avLst/>
            </a:prstGeom>
          </p:spPr>
        </p:pic>
        <p:cxnSp>
          <p:nvCxnSpPr>
            <p:cNvPr id="13" name="Connecteur : en arc 12" descr="start">
              <a:extLst>
                <a:ext uri="{FF2B5EF4-FFF2-40B4-BE49-F238E27FC236}">
                  <a16:creationId xmlns:a16="http://schemas.microsoft.com/office/drawing/2014/main" id="{C9450F34-90E2-4855-984C-E97136A69DB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>
              <a:cxnSpLocks/>
              <a:stCxn id="11" idx="3"/>
              <a:endCxn id="10" idx="0"/>
            </p:cNvCxnSpPr>
            <p:nvPr/>
          </p:nvCxnSpPr>
          <p:spPr>
            <a:xfrm>
              <a:off x="2371338" y="4211516"/>
              <a:ext cx="1693429" cy="756138"/>
            </a:xfrm>
            <a:prstGeom prst="curvedConnector2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8DB92290-D706-47EA-90F5-C2AA6C575BB9}"/>
                </a:ext>
              </a:extLst>
            </p:cNvPr>
            <p:cNvSpPr txBox="1"/>
            <p:nvPr/>
          </p:nvSpPr>
          <p:spPr>
            <a:xfrm>
              <a:off x="3704767" y="4076579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BE" sz="1800">
                  <a:solidFill>
                    <a:srgbClr val="996633"/>
                  </a:solidFill>
                  <a:latin typeface="Consolas" panose="020B0609020204030204" pitchFamily="49" charset="0"/>
                </a:rPr>
                <a:t>.start()</a:t>
              </a:r>
            </a:p>
          </p:txBody>
        </p:sp>
        <p:cxnSp>
          <p:nvCxnSpPr>
            <p:cNvPr id="17" name="Connecteur : en arc 16">
              <a:extLst>
                <a:ext uri="{FF2B5EF4-FFF2-40B4-BE49-F238E27FC236}">
                  <a16:creationId xmlns:a16="http://schemas.microsoft.com/office/drawing/2014/main" id="{D6811645-E998-44DF-8CB7-A6399507F71D}"/>
                </a:ext>
              </a:extLst>
            </p:cNvPr>
            <p:cNvCxnSpPr>
              <a:cxnSpLocks/>
              <a:stCxn id="11" idx="2"/>
              <a:endCxn id="10" idx="1"/>
            </p:cNvCxnSpPr>
            <p:nvPr/>
          </p:nvCxnSpPr>
          <p:spPr>
            <a:xfrm rot="16200000" flipH="1">
              <a:off x="2479983" y="4102870"/>
              <a:ext cx="756138" cy="1693429"/>
            </a:xfrm>
            <a:prstGeom prst="curvedConnector2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66C5F34-64AC-4397-84D9-F66649A13D37}"/>
                </a:ext>
              </a:extLst>
            </p:cNvPr>
            <p:cNvSpPr txBox="1"/>
            <p:nvPr/>
          </p:nvSpPr>
          <p:spPr>
            <a:xfrm>
              <a:off x="1634283" y="5107535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BE" sz="1800">
                  <a:solidFill>
                    <a:srgbClr val="996633"/>
                  </a:solidFill>
                  <a:latin typeface="Consolas" panose="020B0609020204030204" pitchFamily="49" charset="0"/>
                </a:rPr>
                <a:t>.stop()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CDD8CF4E-F566-417C-9AE4-52C1FCCEB360}"/>
              </a:ext>
            </a:extLst>
          </p:cNvPr>
          <p:cNvGrpSpPr/>
          <p:nvPr/>
        </p:nvGrpSpPr>
        <p:grpSpPr>
          <a:xfrm>
            <a:off x="7580284" y="4769585"/>
            <a:ext cx="2811009" cy="1836138"/>
            <a:chOff x="7580284" y="4769585"/>
            <a:chExt cx="2811009" cy="1836138"/>
          </a:xfrm>
        </p:grpSpPr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E8271B3E-BA91-48B4-BCFC-326331D966B1}"/>
                </a:ext>
              </a:extLst>
            </p:cNvPr>
            <p:cNvGrpSpPr/>
            <p:nvPr/>
          </p:nvGrpSpPr>
          <p:grpSpPr>
            <a:xfrm>
              <a:off x="7580284" y="4769585"/>
              <a:ext cx="2773429" cy="1836138"/>
              <a:chOff x="7026369" y="3834019"/>
              <a:chExt cx="2773429" cy="1836138"/>
            </a:xfrm>
          </p:grpSpPr>
          <p:pic>
            <p:nvPicPr>
              <p:cNvPr id="22" name="Graphique 21" descr="Voiture avec un remplissage uni">
                <a:extLst>
                  <a:ext uri="{FF2B5EF4-FFF2-40B4-BE49-F238E27FC236}">
                    <a16:creationId xmlns:a16="http://schemas.microsoft.com/office/drawing/2014/main" id="{0218C95B-EFFB-43C7-AEA4-0AEDCB960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079798" y="495015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23" name="Graphique 22" descr="Feux de signalisation avec un remplissage uni">
                <a:extLst>
                  <a:ext uri="{FF2B5EF4-FFF2-40B4-BE49-F238E27FC236}">
                    <a16:creationId xmlns:a16="http://schemas.microsoft.com/office/drawing/2014/main" id="{A5D3F8FA-5C2F-4C66-A5CA-2A14406DD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26369" y="3834019"/>
                <a:ext cx="720000" cy="720000"/>
              </a:xfrm>
              <a:prstGeom prst="rect">
                <a:avLst/>
              </a:prstGeom>
            </p:spPr>
          </p:pic>
          <p:cxnSp>
            <p:nvCxnSpPr>
              <p:cNvPr id="24" name="Connecteur : en arc 23" descr="start">
                <a:extLst>
                  <a:ext uri="{FF2B5EF4-FFF2-40B4-BE49-F238E27FC236}">
                    <a16:creationId xmlns:a16="http://schemas.microsoft.com/office/drawing/2014/main" id="{9073478C-F8E9-42B2-B7C3-38DB1ED161A4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CxnSpPr>
                <a:cxnSpLocks/>
                <a:stCxn id="23" idx="3"/>
                <a:endCxn id="22" idx="0"/>
              </p:cNvCxnSpPr>
              <p:nvPr/>
            </p:nvCxnSpPr>
            <p:spPr>
              <a:xfrm>
                <a:off x="7746369" y="4194019"/>
                <a:ext cx="1693429" cy="756138"/>
              </a:xfrm>
              <a:prstGeom prst="curvedConnector2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DF40ABAD-65E5-4194-BD52-4D4FDA5FFF60}"/>
                </a:ext>
              </a:extLst>
            </p:cNvPr>
            <p:cNvSpPr txBox="1"/>
            <p:nvPr/>
          </p:nvSpPr>
          <p:spPr>
            <a:xfrm>
              <a:off x="9066891" y="4844085"/>
              <a:ext cx="132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fr-BE" sz="1800">
                  <a:solidFill>
                    <a:srgbClr val="996633"/>
                  </a:solidFill>
                  <a:latin typeface="Consolas" panose="020B0609020204030204" pitchFamily="49" charset="0"/>
                </a:rPr>
                <a:t>.notify()</a:t>
              </a:r>
            </a:p>
          </p:txBody>
        </p:sp>
      </p:grpSp>
      <p:pic>
        <p:nvPicPr>
          <p:cNvPr id="4" name="Graphique 3" descr="Contour de visage souriant avec un remplissage uni">
            <a:extLst>
              <a:ext uri="{FF2B5EF4-FFF2-40B4-BE49-F238E27FC236}">
                <a16:creationId xmlns:a16="http://schemas.microsoft.com/office/drawing/2014/main" id="{383D0A5C-BD66-4741-B320-E41D870288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5884" y="5754805"/>
            <a:ext cx="914400" cy="914400"/>
          </a:xfrm>
          <a:prstGeom prst="rect">
            <a:avLst/>
          </a:prstGeom>
        </p:spPr>
      </p:pic>
      <p:pic>
        <p:nvPicPr>
          <p:cNvPr id="8" name="Graphique 7" descr="Contour de visage triste avec un remplissage uni">
            <a:extLst>
              <a:ext uri="{FF2B5EF4-FFF2-40B4-BE49-F238E27FC236}">
                <a16:creationId xmlns:a16="http://schemas.microsoft.com/office/drawing/2014/main" id="{90FD5F2C-4AF0-4CD3-BB1B-B99B6C1DA7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9826" y="50002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0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exo 17-16-14 : trafic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Compliquons un peu</a:t>
            </a:r>
          </a:p>
          <a:p>
            <a:pPr lvl="1"/>
            <a:r>
              <a:rPr lang="fr-BE"/>
              <a:t>1 objet "feu"</a:t>
            </a:r>
          </a:p>
          <a:p>
            <a:pPr lvl="1"/>
            <a:r>
              <a:rPr lang="fr-BE"/>
              <a:t>2 objets "voiture"</a:t>
            </a:r>
          </a:p>
          <a:p>
            <a:pPr lvl="1"/>
            <a:r>
              <a:rPr lang="fr-BE"/>
              <a:t>=&gt; 2 fils de message </a:t>
            </a:r>
          </a:p>
        </p:txBody>
      </p:sp>
      <p:pic>
        <p:nvPicPr>
          <p:cNvPr id="8" name="Graphique 7" descr="Voiture avec un remplissage uni">
            <a:extLst>
              <a:ext uri="{FF2B5EF4-FFF2-40B4-BE49-F238E27FC236}">
                <a16:creationId xmlns:a16="http://schemas.microsoft.com/office/drawing/2014/main" id="{1C11EAD0-4BF2-4B59-A6DE-FD3DAAB17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6895" y="5906106"/>
            <a:ext cx="720000" cy="720000"/>
          </a:xfrm>
          <a:prstGeom prst="rect">
            <a:avLst/>
          </a:prstGeom>
        </p:spPr>
      </p:pic>
      <p:pic>
        <p:nvPicPr>
          <p:cNvPr id="16" name="Graphique 15" descr="Feux de signalisation avec un remplissage uni">
            <a:extLst>
              <a:ext uri="{FF2B5EF4-FFF2-40B4-BE49-F238E27FC236}">
                <a16:creationId xmlns:a16="http://schemas.microsoft.com/office/drawing/2014/main" id="{AD4F3269-E9B6-4C64-81F0-5B0C22130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5951" y="4648777"/>
            <a:ext cx="720000" cy="720000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C5F42D2B-23BA-41B0-BA56-167D7FD4E9A6}"/>
              </a:ext>
            </a:extLst>
          </p:cNvPr>
          <p:cNvCxnSpPr>
            <a:cxnSpLocks/>
          </p:cNvCxnSpPr>
          <p:nvPr/>
        </p:nvCxnSpPr>
        <p:spPr>
          <a:xfrm>
            <a:off x="838200" y="6542203"/>
            <a:ext cx="4577862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B9AFF756-DE95-4C1E-8994-96F82651CC42}"/>
              </a:ext>
            </a:extLst>
          </p:cNvPr>
          <p:cNvCxnSpPr>
            <a:cxnSpLocks/>
            <a:stCxn id="16" idx="1"/>
            <a:endCxn id="8" idx="0"/>
          </p:cNvCxnSpPr>
          <p:nvPr/>
        </p:nvCxnSpPr>
        <p:spPr>
          <a:xfrm flipH="1">
            <a:off x="1956895" y="5008777"/>
            <a:ext cx="2519056" cy="897329"/>
          </a:xfrm>
          <a:prstGeom prst="line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404E72D1-CAB3-4081-A899-31C46F4F9BDD}"/>
              </a:ext>
            </a:extLst>
          </p:cNvPr>
          <p:cNvCxnSpPr/>
          <p:nvPr/>
        </p:nvCxnSpPr>
        <p:spPr>
          <a:xfrm>
            <a:off x="4835951" y="5283936"/>
            <a:ext cx="0" cy="125826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Graphique 8" descr="Voiture contour">
            <a:extLst>
              <a:ext uri="{FF2B5EF4-FFF2-40B4-BE49-F238E27FC236}">
                <a16:creationId xmlns:a16="http://schemas.microsoft.com/office/drawing/2014/main" id="{E4EC0A27-DEE8-4B32-97F3-4D734C483A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6423" y="5913069"/>
            <a:ext cx="720000" cy="720000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9FAE0C3-18BD-437E-AB75-ECB842F522D0}"/>
              </a:ext>
            </a:extLst>
          </p:cNvPr>
          <p:cNvCxnSpPr>
            <a:cxnSpLocks/>
            <a:stCxn id="16" idx="1"/>
            <a:endCxn id="9" idx="0"/>
          </p:cNvCxnSpPr>
          <p:nvPr/>
        </p:nvCxnSpPr>
        <p:spPr>
          <a:xfrm flipH="1">
            <a:off x="3576423" y="5008777"/>
            <a:ext cx="899528" cy="904292"/>
          </a:xfrm>
          <a:prstGeom prst="line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85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D758-719A-4B84-BE3B-5DA7EEF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17-16-14 : trafic, un feu, deux voitures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0450E-1C09-49FB-88F5-7D3B3FC2C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 fontScale="47500" lnSpcReduction="20000"/>
          </a:bodyPr>
          <a:lstStyle/>
          <a:p>
            <a:r>
              <a:rPr lang="fr-BE"/>
              <a:t>Partir de l'exo 17-16-12</a:t>
            </a:r>
          </a:p>
          <a:p>
            <a:r>
              <a:rPr lang="fr-BE"/>
              <a:t>Spec : Au feu orange, la voiture A s'arrête, mais </a:t>
            </a:r>
            <a:r>
              <a:rPr lang="fr-BE">
                <a:solidFill>
                  <a:schemeClr val="accent2"/>
                </a:solidFill>
              </a:rPr>
              <a:t>la voiture B continue</a:t>
            </a:r>
            <a:r>
              <a:rPr lang="fr-BE"/>
              <a:t>. </a:t>
            </a:r>
          </a:p>
          <a:p>
            <a:r>
              <a:rPr lang="fr-BE"/>
              <a:t>Appliquez le design pattern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Observer</a:t>
            </a:r>
            <a:r>
              <a:rPr lang="fr-BE"/>
              <a:t> correspondant au scénario suivant :</a:t>
            </a:r>
            <a:br>
              <a:rPr lang="fr-BE"/>
            </a:br>
            <a:endParaRPr lang="fr-BE"/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voiture_A = Car("Peugeot")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voiture_B = BadCar("BMW")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 = Light()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feu01.subscribe(voiture_A)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feu01.subscribe(voiture_B)</a:t>
            </a:r>
          </a:p>
          <a:p>
            <a:pPr marL="0" indent="0">
              <a:buNone/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for i in range(6):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print(feu01)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print(voiture_A)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print(voiture_B)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feu01.change()</a:t>
            </a:r>
            <a:b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</a:b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60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D758-719A-4B84-BE3B-5DA7EEF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17-16-16 : trafic, un feu, trois voitures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0450E-1C09-49FB-88F5-7D3B3FC2C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Partir de l'exo 17-16-14</a:t>
            </a:r>
          </a:p>
          <a:p>
            <a:r>
              <a:rPr lang="fr-BE"/>
              <a:t>Appliquez le design pattern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Observer</a:t>
            </a:r>
            <a:r>
              <a:rPr lang="fr-BE"/>
              <a:t> correspondant au scénario suivant :</a:t>
            </a:r>
          </a:p>
          <a:p>
            <a:pPr lvl="1"/>
            <a:r>
              <a:rPr lang="fr-BE"/>
              <a:t>La voiture A s'arrête au feu rouge et au feu orange</a:t>
            </a:r>
          </a:p>
          <a:p>
            <a:pPr lvl="1"/>
            <a:r>
              <a:rPr lang="fr-BE"/>
              <a:t>La voiture B s'arrête au feu rouge uniquement</a:t>
            </a:r>
          </a:p>
          <a:p>
            <a:pPr lvl="1"/>
            <a:r>
              <a:rPr lang="fr-BE"/>
              <a:t>La voiture C ne s'arrête pas au feu rouge</a:t>
            </a:r>
          </a:p>
          <a:p>
            <a:r>
              <a:rPr lang="fr-BE"/>
              <a:t>Implantation : A, B et C sont instances de trois classes enfants d'une classe (abstraite)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Vehicle</a:t>
            </a:r>
            <a:r>
              <a:rPr lang="fr-BE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4469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sujets multiples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Trafic : approche classique</a:t>
            </a:r>
          </a:p>
          <a:p>
            <a:pPr lvl="1"/>
            <a:r>
              <a:rPr lang="fr-BE"/>
              <a:t>F objets "feu"</a:t>
            </a:r>
          </a:p>
          <a:p>
            <a:pPr lvl="1"/>
            <a:r>
              <a:rPr lang="fr-BE"/>
              <a:t>V objets "voiture"</a:t>
            </a:r>
          </a:p>
          <a:p>
            <a:pPr lvl="1"/>
            <a:r>
              <a:rPr lang="fr-BE"/>
              <a:t>on dénombre </a:t>
            </a:r>
            <a:r>
              <a:rPr lang="fr-BE" u="sng">
                <a:solidFill>
                  <a:schemeClr val="accent2"/>
                </a:solidFill>
              </a:rPr>
              <a:t>F * V</a:t>
            </a:r>
            <a:r>
              <a:rPr lang="fr-BE"/>
              <a:t> fils de message</a:t>
            </a:r>
          </a:p>
          <a:p>
            <a:pPr lvl="1"/>
            <a:r>
              <a:rPr lang="fr-BE"/>
              <a:t>Les observers devraient gérer des notifications inutiles.</a:t>
            </a:r>
          </a:p>
        </p:txBody>
      </p: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5747173A-FDF5-42B7-AA62-7BFFD7745E00}"/>
              </a:ext>
            </a:extLst>
          </p:cNvPr>
          <p:cNvGrpSpPr/>
          <p:nvPr/>
        </p:nvGrpSpPr>
        <p:grpSpPr>
          <a:xfrm>
            <a:off x="838200" y="4648777"/>
            <a:ext cx="10115746" cy="1980015"/>
            <a:chOff x="838200" y="3894632"/>
            <a:chExt cx="10115746" cy="1980015"/>
          </a:xfrm>
        </p:grpSpPr>
        <p:pic>
          <p:nvPicPr>
            <p:cNvPr id="8" name="Graphique 7" descr="Voiture avec un remplissage uni">
              <a:extLst>
                <a:ext uri="{FF2B5EF4-FFF2-40B4-BE49-F238E27FC236}">
                  <a16:creationId xmlns:a16="http://schemas.microsoft.com/office/drawing/2014/main" id="{1C11EAD0-4BF2-4B59-A6DE-FD3DAAB17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6895" y="5151961"/>
              <a:ext cx="720000" cy="720000"/>
            </a:xfrm>
            <a:prstGeom prst="rect">
              <a:avLst/>
            </a:prstGeom>
          </p:spPr>
        </p:pic>
        <p:pic>
          <p:nvPicPr>
            <p:cNvPr id="10" name="Graphique 9" descr="Convertible avec un remplissage uni">
              <a:extLst>
                <a:ext uri="{FF2B5EF4-FFF2-40B4-BE49-F238E27FC236}">
                  <a16:creationId xmlns:a16="http://schemas.microsoft.com/office/drawing/2014/main" id="{01766596-BC66-4694-AA89-503CECD67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20082" y="5151961"/>
              <a:ext cx="720000" cy="720000"/>
            </a:xfrm>
            <a:prstGeom prst="rect">
              <a:avLst/>
            </a:prstGeom>
          </p:spPr>
        </p:pic>
        <p:pic>
          <p:nvPicPr>
            <p:cNvPr id="12" name="Graphique 11" descr="Convertible contour">
              <a:extLst>
                <a:ext uri="{FF2B5EF4-FFF2-40B4-BE49-F238E27FC236}">
                  <a16:creationId xmlns:a16="http://schemas.microsoft.com/office/drawing/2014/main" id="{8FD803CE-84E0-4CD6-A7DD-790528C4E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62825" y="5151961"/>
              <a:ext cx="720000" cy="720000"/>
            </a:xfrm>
            <a:prstGeom prst="rect">
              <a:avLst/>
            </a:prstGeom>
          </p:spPr>
        </p:pic>
        <p:pic>
          <p:nvPicPr>
            <p:cNvPr id="14" name="Graphique 13" descr="Voiture contour">
              <a:extLst>
                <a:ext uri="{FF2B5EF4-FFF2-40B4-BE49-F238E27FC236}">
                  <a16:creationId xmlns:a16="http://schemas.microsoft.com/office/drawing/2014/main" id="{15B5EFC5-92D6-4A91-8973-25F1759F2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71850" y="5154647"/>
              <a:ext cx="720000" cy="720000"/>
            </a:xfrm>
            <a:prstGeom prst="rect">
              <a:avLst/>
            </a:prstGeom>
          </p:spPr>
        </p:pic>
        <p:pic>
          <p:nvPicPr>
            <p:cNvPr id="16" name="Graphique 15" descr="Feux de signalisation avec un remplissage uni">
              <a:extLst>
                <a:ext uri="{FF2B5EF4-FFF2-40B4-BE49-F238E27FC236}">
                  <a16:creationId xmlns:a16="http://schemas.microsoft.com/office/drawing/2014/main" id="{AD4F3269-E9B6-4C64-81F0-5B0C2213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75951" y="3894632"/>
              <a:ext cx="720000" cy="720000"/>
            </a:xfrm>
            <a:prstGeom prst="rect">
              <a:avLst/>
            </a:prstGeom>
          </p:spPr>
        </p:pic>
        <p:pic>
          <p:nvPicPr>
            <p:cNvPr id="17" name="Graphique 16" descr="Feux de signalisation avec un remplissage uni">
              <a:extLst>
                <a:ext uri="{FF2B5EF4-FFF2-40B4-BE49-F238E27FC236}">
                  <a16:creationId xmlns:a16="http://schemas.microsoft.com/office/drawing/2014/main" id="{39008429-7848-4AFF-869B-FA696A34F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04097" y="3894632"/>
              <a:ext cx="720000" cy="720000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C5F42D2B-23BA-41B0-BA56-167D7FD4E9A6}"/>
                </a:ext>
              </a:extLst>
            </p:cNvPr>
            <p:cNvCxnSpPr/>
            <p:nvPr/>
          </p:nvCxnSpPr>
          <p:spPr>
            <a:xfrm>
              <a:off x="838200" y="5788058"/>
              <a:ext cx="10115746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9AFF756-DE95-4C1E-8994-96F82651CC42}"/>
                </a:ext>
              </a:extLst>
            </p:cNvPr>
            <p:cNvCxnSpPr>
              <a:stCxn id="16" idx="1"/>
              <a:endCxn id="8" idx="0"/>
            </p:cNvCxnSpPr>
            <p:nvPr/>
          </p:nvCxnSpPr>
          <p:spPr>
            <a:xfrm flipH="1">
              <a:off x="1956895" y="4254632"/>
              <a:ext cx="2519056" cy="897329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0136E6B0-D3F4-4428-94E8-AA1FA2747D31}"/>
                </a:ext>
              </a:extLst>
            </p:cNvPr>
            <p:cNvCxnSpPr>
              <a:stCxn id="16" idx="1"/>
              <a:endCxn id="14" idx="0"/>
            </p:cNvCxnSpPr>
            <p:nvPr/>
          </p:nvCxnSpPr>
          <p:spPr>
            <a:xfrm flipH="1">
              <a:off x="3331850" y="4254632"/>
              <a:ext cx="1144101" cy="900015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C087C90E-1EA6-4500-BF79-F9ADE7AD1DD9}"/>
                </a:ext>
              </a:extLst>
            </p:cNvPr>
            <p:cNvCxnSpPr>
              <a:cxnSpLocks/>
              <a:stCxn id="16" idx="3"/>
              <a:endCxn id="12" idx="0"/>
            </p:cNvCxnSpPr>
            <p:nvPr/>
          </p:nvCxnSpPr>
          <p:spPr>
            <a:xfrm>
              <a:off x="5195951" y="4254632"/>
              <a:ext cx="2326874" cy="897329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F940087D-CE86-4A9A-A7B3-70C74431F874}"/>
                </a:ext>
              </a:extLst>
            </p:cNvPr>
            <p:cNvCxnSpPr>
              <a:stCxn id="16" idx="3"/>
              <a:endCxn id="10" idx="0"/>
            </p:cNvCxnSpPr>
            <p:nvPr/>
          </p:nvCxnSpPr>
          <p:spPr>
            <a:xfrm>
              <a:off x="5195951" y="4254632"/>
              <a:ext cx="3784131" cy="897329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04E72D1-CAB3-4081-A899-31C46F4F9BDD}"/>
                </a:ext>
              </a:extLst>
            </p:cNvPr>
            <p:cNvCxnSpPr/>
            <p:nvPr/>
          </p:nvCxnSpPr>
          <p:spPr>
            <a:xfrm>
              <a:off x="4835951" y="4529791"/>
              <a:ext cx="0" cy="125826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DF7CFFD5-E0C4-4A2F-BCA5-67400A168C13}"/>
                </a:ext>
              </a:extLst>
            </p:cNvPr>
            <p:cNvCxnSpPr/>
            <p:nvPr/>
          </p:nvCxnSpPr>
          <p:spPr>
            <a:xfrm>
              <a:off x="10064097" y="4529791"/>
              <a:ext cx="0" cy="1258267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F94CE377-4962-469C-9611-2D8194ADF038}"/>
                </a:ext>
              </a:extLst>
            </p:cNvPr>
            <p:cNvCxnSpPr>
              <a:stCxn id="17" idx="1"/>
              <a:endCxn id="8" idx="0"/>
            </p:cNvCxnSpPr>
            <p:nvPr/>
          </p:nvCxnSpPr>
          <p:spPr>
            <a:xfrm flipH="1">
              <a:off x="1956895" y="4254632"/>
              <a:ext cx="7747202" cy="89732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lgDash"/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D8A9F00C-85FA-4DC1-88A2-CB35E394AB59}"/>
                </a:ext>
              </a:extLst>
            </p:cNvPr>
            <p:cNvCxnSpPr>
              <a:cxnSpLocks/>
              <a:stCxn id="17" idx="1"/>
              <a:endCxn id="14" idx="0"/>
            </p:cNvCxnSpPr>
            <p:nvPr/>
          </p:nvCxnSpPr>
          <p:spPr>
            <a:xfrm flipH="1">
              <a:off x="3331850" y="4254632"/>
              <a:ext cx="6372247" cy="900015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prstDash val="lgDash"/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7B4A489B-98E6-40C5-8C3F-F1BE46B7DE2F}"/>
                </a:ext>
              </a:extLst>
            </p:cNvPr>
            <p:cNvCxnSpPr>
              <a:stCxn id="17" idx="1"/>
              <a:endCxn id="12" idx="0"/>
            </p:cNvCxnSpPr>
            <p:nvPr/>
          </p:nvCxnSpPr>
          <p:spPr>
            <a:xfrm flipH="1">
              <a:off x="7522825" y="4254632"/>
              <a:ext cx="2181272" cy="89732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893D538F-426D-4D9F-99B9-F56204F1A1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512" y="4251946"/>
              <a:ext cx="694570" cy="900015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9AAC4A2B-F0E0-495F-A8B7-B0FBFCE999ED}"/>
              </a:ext>
            </a:extLst>
          </p:cNvPr>
          <p:cNvSpPr txBox="1">
            <a:spLocks noChangeAspect="1"/>
          </p:cNvSpPr>
          <p:nvPr/>
        </p:nvSpPr>
        <p:spPr>
          <a:xfrm>
            <a:off x="9005512" y="973327"/>
            <a:ext cx="1981906" cy="15696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fr-BE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Garamond" panose="02020404030301010803" pitchFamily="18" charset="0"/>
              </a:rPr>
              <a:t>Problème avancé et complexe</a:t>
            </a:r>
          </a:p>
        </p:txBody>
      </p:sp>
    </p:spTree>
    <p:extLst>
      <p:ext uri="{BB962C8B-B14F-4D97-AF65-F5344CB8AC3E}">
        <p14:creationId xmlns:p14="http://schemas.microsoft.com/office/powerpoint/2010/main" val="299658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sujets multiples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0351" y="1327721"/>
            <a:ext cx="5995971" cy="2052513"/>
          </a:xfrm>
        </p:spPr>
        <p:txBody>
          <a:bodyPr>
            <a:normAutofit/>
          </a:bodyPr>
          <a:lstStyle/>
          <a:p>
            <a:r>
              <a:rPr lang="fr-BE"/>
              <a:t>Solution : l' </a:t>
            </a:r>
            <a:r>
              <a:rPr lang="fr-BE">
                <a:solidFill>
                  <a:schemeClr val="accent2"/>
                </a:solidFill>
              </a:rPr>
              <a:t>event engine</a:t>
            </a:r>
          </a:p>
          <a:p>
            <a:pPr lvl="1"/>
            <a:r>
              <a:rPr lang="fr-BE">
                <a:solidFill>
                  <a:schemeClr val="tx1"/>
                </a:solidFill>
              </a:rPr>
              <a:t>Gérer les souscriptions</a:t>
            </a:r>
          </a:p>
          <a:p>
            <a:pPr lvl="1"/>
            <a:r>
              <a:rPr lang="fr-BE">
                <a:solidFill>
                  <a:schemeClr val="tx1"/>
                </a:solidFill>
              </a:rPr>
              <a:t>Flux de messages: en triangle</a:t>
            </a:r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5FAF99FD-2E60-4235-B5B6-2998B6B353B3}"/>
              </a:ext>
            </a:extLst>
          </p:cNvPr>
          <p:cNvGrpSpPr/>
          <p:nvPr/>
        </p:nvGrpSpPr>
        <p:grpSpPr>
          <a:xfrm>
            <a:off x="838200" y="2926190"/>
            <a:ext cx="10115746" cy="3702602"/>
            <a:chOff x="838200" y="2926190"/>
            <a:chExt cx="10115746" cy="3702602"/>
          </a:xfrm>
        </p:grpSpPr>
        <p:pic>
          <p:nvPicPr>
            <p:cNvPr id="8" name="Graphique 7" descr="Voiture avec un remplissage uni">
              <a:extLst>
                <a:ext uri="{FF2B5EF4-FFF2-40B4-BE49-F238E27FC236}">
                  <a16:creationId xmlns:a16="http://schemas.microsoft.com/office/drawing/2014/main" id="{1C11EAD0-4BF2-4B59-A6DE-FD3DAAB17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6895" y="5906106"/>
              <a:ext cx="720000" cy="720000"/>
            </a:xfrm>
            <a:prstGeom prst="rect">
              <a:avLst/>
            </a:prstGeom>
          </p:spPr>
        </p:pic>
        <p:pic>
          <p:nvPicPr>
            <p:cNvPr id="10" name="Graphique 9" descr="Convertible avec un remplissage uni">
              <a:extLst>
                <a:ext uri="{FF2B5EF4-FFF2-40B4-BE49-F238E27FC236}">
                  <a16:creationId xmlns:a16="http://schemas.microsoft.com/office/drawing/2014/main" id="{01766596-BC66-4694-AA89-503CECD67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20082" y="5906106"/>
              <a:ext cx="720000" cy="720000"/>
            </a:xfrm>
            <a:prstGeom prst="rect">
              <a:avLst/>
            </a:prstGeom>
          </p:spPr>
        </p:pic>
        <p:pic>
          <p:nvPicPr>
            <p:cNvPr id="12" name="Graphique 11" descr="Convertible contour">
              <a:extLst>
                <a:ext uri="{FF2B5EF4-FFF2-40B4-BE49-F238E27FC236}">
                  <a16:creationId xmlns:a16="http://schemas.microsoft.com/office/drawing/2014/main" id="{8FD803CE-84E0-4CD6-A7DD-790528C4E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62825" y="5906106"/>
              <a:ext cx="720000" cy="720000"/>
            </a:xfrm>
            <a:prstGeom prst="rect">
              <a:avLst/>
            </a:prstGeom>
          </p:spPr>
        </p:pic>
        <p:pic>
          <p:nvPicPr>
            <p:cNvPr id="14" name="Graphique 13" descr="Voiture contour">
              <a:extLst>
                <a:ext uri="{FF2B5EF4-FFF2-40B4-BE49-F238E27FC236}">
                  <a16:creationId xmlns:a16="http://schemas.microsoft.com/office/drawing/2014/main" id="{15B5EFC5-92D6-4A91-8973-25F1759F2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71850" y="5908792"/>
              <a:ext cx="720000" cy="720000"/>
            </a:xfrm>
            <a:prstGeom prst="rect">
              <a:avLst/>
            </a:prstGeom>
          </p:spPr>
        </p:pic>
        <p:pic>
          <p:nvPicPr>
            <p:cNvPr id="16" name="Graphique 15" descr="Feux de signalisation avec un remplissage uni">
              <a:extLst>
                <a:ext uri="{FF2B5EF4-FFF2-40B4-BE49-F238E27FC236}">
                  <a16:creationId xmlns:a16="http://schemas.microsoft.com/office/drawing/2014/main" id="{AD4F3269-E9B6-4C64-81F0-5B0C2213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75951" y="4648777"/>
              <a:ext cx="720000" cy="720000"/>
            </a:xfrm>
            <a:prstGeom prst="rect">
              <a:avLst/>
            </a:prstGeom>
          </p:spPr>
        </p:pic>
        <p:pic>
          <p:nvPicPr>
            <p:cNvPr id="17" name="Graphique 16" descr="Feux de signalisation avec un remplissage uni">
              <a:extLst>
                <a:ext uri="{FF2B5EF4-FFF2-40B4-BE49-F238E27FC236}">
                  <a16:creationId xmlns:a16="http://schemas.microsoft.com/office/drawing/2014/main" id="{39008429-7848-4AFF-869B-FA696A34F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04097" y="4648777"/>
              <a:ext cx="720000" cy="720000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C5F42D2B-23BA-41B0-BA56-167D7FD4E9A6}"/>
                </a:ext>
              </a:extLst>
            </p:cNvPr>
            <p:cNvCxnSpPr/>
            <p:nvPr/>
          </p:nvCxnSpPr>
          <p:spPr>
            <a:xfrm>
              <a:off x="838200" y="6542203"/>
              <a:ext cx="10115746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9AFF756-DE95-4C1E-8994-96F82651CC42}"/>
                </a:ext>
              </a:extLst>
            </p:cNvPr>
            <p:cNvCxnSpPr>
              <a:stCxn id="16" idx="1"/>
              <a:endCxn id="8" idx="0"/>
            </p:cNvCxnSpPr>
            <p:nvPr/>
          </p:nvCxnSpPr>
          <p:spPr>
            <a:xfrm flipH="1">
              <a:off x="1956895" y="5008777"/>
              <a:ext cx="2519056" cy="897329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0136E6B0-D3F4-4428-94E8-AA1FA2747D31}"/>
                </a:ext>
              </a:extLst>
            </p:cNvPr>
            <p:cNvCxnSpPr>
              <a:stCxn id="16" idx="1"/>
              <a:endCxn id="14" idx="0"/>
            </p:cNvCxnSpPr>
            <p:nvPr/>
          </p:nvCxnSpPr>
          <p:spPr>
            <a:xfrm flipH="1">
              <a:off x="3331850" y="5008777"/>
              <a:ext cx="1144101" cy="900015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04E72D1-CAB3-4081-A899-31C46F4F9BDD}"/>
                </a:ext>
              </a:extLst>
            </p:cNvPr>
            <p:cNvCxnSpPr/>
            <p:nvPr/>
          </p:nvCxnSpPr>
          <p:spPr>
            <a:xfrm>
              <a:off x="4835951" y="5283936"/>
              <a:ext cx="0" cy="125826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DF7CFFD5-E0C4-4A2F-BCA5-67400A168C13}"/>
                </a:ext>
              </a:extLst>
            </p:cNvPr>
            <p:cNvCxnSpPr/>
            <p:nvPr/>
          </p:nvCxnSpPr>
          <p:spPr>
            <a:xfrm>
              <a:off x="10064097" y="5283936"/>
              <a:ext cx="0" cy="1258267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7B4A489B-98E6-40C5-8C3F-F1BE46B7DE2F}"/>
                </a:ext>
              </a:extLst>
            </p:cNvPr>
            <p:cNvCxnSpPr>
              <a:stCxn id="17" idx="1"/>
              <a:endCxn id="12" idx="0"/>
            </p:cNvCxnSpPr>
            <p:nvPr/>
          </p:nvCxnSpPr>
          <p:spPr>
            <a:xfrm flipH="1">
              <a:off x="7522825" y="5008777"/>
              <a:ext cx="2181272" cy="89732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893D538F-426D-4D9F-99B9-F56204F1A1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512" y="5006091"/>
              <a:ext cx="694570" cy="900015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3" name="Graphique 22" descr="Jumelles avec un remplissage uni">
              <a:extLst>
                <a:ext uri="{FF2B5EF4-FFF2-40B4-BE49-F238E27FC236}">
                  <a16:creationId xmlns:a16="http://schemas.microsoft.com/office/drawing/2014/main" id="{87864AE5-C2C0-442C-8709-E575448D8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281551" y="2926190"/>
              <a:ext cx="914400" cy="914400"/>
            </a:xfrm>
            <a:prstGeom prst="rect">
              <a:avLst/>
            </a:prstGeom>
          </p:spPr>
        </p:pic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FA7A6E34-748E-4F02-B27D-CB504C53ECFB}"/>
                </a:ext>
              </a:extLst>
            </p:cNvPr>
            <p:cNvCxnSpPr>
              <a:cxnSpLocks/>
              <a:stCxn id="23" idx="2"/>
              <a:endCxn id="8" idx="0"/>
            </p:cNvCxnSpPr>
            <p:nvPr/>
          </p:nvCxnSpPr>
          <p:spPr>
            <a:xfrm flipH="1">
              <a:off x="1956895" y="3840590"/>
              <a:ext cx="2781856" cy="2065516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C59C4C7B-7A75-43F9-BC16-1319DAA83333}"/>
                </a:ext>
              </a:extLst>
            </p:cNvPr>
            <p:cNvCxnSpPr>
              <a:cxnSpLocks/>
              <a:stCxn id="23" idx="2"/>
              <a:endCxn id="14" idx="0"/>
            </p:cNvCxnSpPr>
            <p:nvPr/>
          </p:nvCxnSpPr>
          <p:spPr>
            <a:xfrm flipH="1">
              <a:off x="3331850" y="3840590"/>
              <a:ext cx="1406901" cy="2068202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B2CD0BA7-FB3A-4C72-824C-D232742A1266}"/>
                </a:ext>
              </a:extLst>
            </p:cNvPr>
            <p:cNvCxnSpPr>
              <a:cxnSpLocks/>
              <a:stCxn id="23" idx="2"/>
              <a:endCxn id="10" idx="0"/>
            </p:cNvCxnSpPr>
            <p:nvPr/>
          </p:nvCxnSpPr>
          <p:spPr>
            <a:xfrm>
              <a:off x="4738751" y="3840590"/>
              <a:ext cx="4241331" cy="2065516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021A0BBB-CB13-47EB-BAEE-6BC609283F18}"/>
                </a:ext>
              </a:extLst>
            </p:cNvPr>
            <p:cNvCxnSpPr>
              <a:cxnSpLocks/>
              <a:stCxn id="23" idx="2"/>
              <a:endCxn id="12" idx="0"/>
            </p:cNvCxnSpPr>
            <p:nvPr/>
          </p:nvCxnSpPr>
          <p:spPr>
            <a:xfrm>
              <a:off x="4738751" y="3840590"/>
              <a:ext cx="2784074" cy="2065516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30B798B6-AC71-414F-B352-0973F4059714}"/>
                </a:ext>
              </a:extLst>
            </p:cNvPr>
            <p:cNvCxnSpPr>
              <a:cxnSpLocks/>
              <a:stCxn id="23" idx="2"/>
              <a:endCxn id="16" idx="0"/>
            </p:cNvCxnSpPr>
            <p:nvPr/>
          </p:nvCxnSpPr>
          <p:spPr>
            <a:xfrm>
              <a:off x="4738751" y="3840590"/>
              <a:ext cx="97200" cy="808187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F9640640-BAF1-4444-96DC-907C6415E284}"/>
                </a:ext>
              </a:extLst>
            </p:cNvPr>
            <p:cNvCxnSpPr>
              <a:cxnSpLocks/>
              <a:stCxn id="23" idx="2"/>
              <a:endCxn id="17" idx="0"/>
            </p:cNvCxnSpPr>
            <p:nvPr/>
          </p:nvCxnSpPr>
          <p:spPr>
            <a:xfrm>
              <a:off x="4738751" y="3840590"/>
              <a:ext cx="5325346" cy="808187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1590EFB7-5BE2-4B29-A220-2082A698E49A}"/>
              </a:ext>
            </a:extLst>
          </p:cNvPr>
          <p:cNvSpPr txBox="1"/>
          <p:nvPr/>
        </p:nvSpPr>
        <p:spPr>
          <a:xfrm>
            <a:off x="5195951" y="3108067"/>
            <a:ext cx="182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>
                <a:solidFill>
                  <a:schemeClr val="accent2"/>
                </a:solidFill>
                <a:latin typeface="Garamond" panose="02020404030301010803" pitchFamily="18" charset="0"/>
              </a:rPr>
              <a:t>event engine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BB7F4B3-AAD0-4B1E-936D-6E7016BEF974}"/>
              </a:ext>
            </a:extLst>
          </p:cNvPr>
          <p:cNvSpPr txBox="1"/>
          <p:nvPr/>
        </p:nvSpPr>
        <p:spPr>
          <a:xfrm>
            <a:off x="5164605" y="5067211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>
                <a:latin typeface="Garamond" panose="02020404030301010803" pitchFamily="18" charset="0"/>
              </a:rPr>
              <a:t>observable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4949CB3-DB96-4E5B-A31D-8B82644A77BD}"/>
              </a:ext>
            </a:extLst>
          </p:cNvPr>
          <p:cNvSpPr txBox="1"/>
          <p:nvPr/>
        </p:nvSpPr>
        <p:spPr>
          <a:xfrm>
            <a:off x="10064097" y="4078071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Garamond" panose="02020404030301010803" pitchFamily="18" charset="0"/>
              </a:rPr>
              <a:t>observable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745922A-1F43-493F-B872-E6F9AE1D4524}"/>
              </a:ext>
            </a:extLst>
          </p:cNvPr>
          <p:cNvSpPr txBox="1"/>
          <p:nvPr/>
        </p:nvSpPr>
        <p:spPr>
          <a:xfrm>
            <a:off x="1137415" y="6501941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>
                <a:solidFill>
                  <a:schemeClr val="accent1"/>
                </a:solidFill>
                <a:latin typeface="Garamond" panose="02020404030301010803" pitchFamily="18" charset="0"/>
              </a:rPr>
              <a:t>observer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F7CBDC8-1CCF-4AF3-B677-E9B945F50FCE}"/>
              </a:ext>
            </a:extLst>
          </p:cNvPr>
          <p:cNvSpPr txBox="1"/>
          <p:nvPr/>
        </p:nvSpPr>
        <p:spPr>
          <a:xfrm>
            <a:off x="2512370" y="6497162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>
                <a:solidFill>
                  <a:schemeClr val="accent1"/>
                </a:solidFill>
                <a:latin typeface="Garamond" panose="02020404030301010803" pitchFamily="18" charset="0"/>
              </a:rPr>
              <a:t>observer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D61CCBB-42A7-495E-AC60-EF9269F320F2}"/>
              </a:ext>
            </a:extLst>
          </p:cNvPr>
          <p:cNvSpPr txBox="1"/>
          <p:nvPr/>
        </p:nvSpPr>
        <p:spPr>
          <a:xfrm>
            <a:off x="6703345" y="6480834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>
                <a:solidFill>
                  <a:schemeClr val="accent1"/>
                </a:solidFill>
                <a:latin typeface="Garamond" panose="02020404030301010803" pitchFamily="18" charset="0"/>
              </a:rPr>
              <a:t>observer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D09D670-5B38-4D6C-9F8E-391418204364}"/>
              </a:ext>
            </a:extLst>
          </p:cNvPr>
          <p:cNvSpPr txBox="1"/>
          <p:nvPr/>
        </p:nvSpPr>
        <p:spPr>
          <a:xfrm>
            <a:off x="8160602" y="6480834"/>
            <a:ext cx="16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>
                <a:solidFill>
                  <a:schemeClr val="accent1"/>
                </a:solidFill>
                <a:latin typeface="Garamond" panose="02020404030301010803" pitchFamily="18" charset="0"/>
              </a:rPr>
              <a:t>observer</a:t>
            </a:r>
          </a:p>
        </p:txBody>
      </p:sp>
    </p:spTree>
    <p:extLst>
      <p:ext uri="{BB962C8B-B14F-4D97-AF65-F5344CB8AC3E}">
        <p14:creationId xmlns:p14="http://schemas.microsoft.com/office/powerpoint/2010/main" val="80605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sujets multiples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event engine</a:t>
            </a:r>
          </a:p>
          <a:p>
            <a:pPr lvl="1"/>
            <a:r>
              <a:rPr lang="fr-BE"/>
              <a:t>F objets "feu"</a:t>
            </a:r>
          </a:p>
          <a:p>
            <a:pPr lvl="1"/>
            <a:r>
              <a:rPr lang="fr-BE"/>
              <a:t>V objets "voiture"</a:t>
            </a:r>
          </a:p>
          <a:p>
            <a:pPr lvl="1"/>
            <a:r>
              <a:rPr lang="fr-BE" dirty="0"/>
              <a:t>on </a:t>
            </a:r>
            <a:r>
              <a:rPr lang="fr-BE"/>
              <a:t>dénombre approx. </a:t>
            </a:r>
            <a:r>
              <a:rPr lang="fr-BE" u="sng">
                <a:solidFill>
                  <a:schemeClr val="accent2"/>
                </a:solidFill>
              </a:rPr>
              <a:t>2V+ F</a:t>
            </a:r>
            <a:r>
              <a:rPr lang="fr-BE"/>
              <a:t> </a:t>
            </a:r>
            <a:r>
              <a:rPr lang="fr-BE" dirty="0"/>
              <a:t>fils</a:t>
            </a:r>
          </a:p>
          <a:p>
            <a:endParaRPr lang="fr-BE" dirty="0">
              <a:solidFill>
                <a:schemeClr val="accent2"/>
              </a:solidFill>
            </a:endParaRPr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5FAF99FD-2E60-4235-B5B6-2998B6B353B3}"/>
              </a:ext>
            </a:extLst>
          </p:cNvPr>
          <p:cNvGrpSpPr/>
          <p:nvPr/>
        </p:nvGrpSpPr>
        <p:grpSpPr>
          <a:xfrm>
            <a:off x="2311905" y="3938955"/>
            <a:ext cx="7261650" cy="2654668"/>
            <a:chOff x="838200" y="2926190"/>
            <a:chExt cx="10115746" cy="3702602"/>
          </a:xfrm>
        </p:grpSpPr>
        <p:pic>
          <p:nvPicPr>
            <p:cNvPr id="8" name="Graphique 7" descr="Voiture avec un remplissage uni">
              <a:extLst>
                <a:ext uri="{FF2B5EF4-FFF2-40B4-BE49-F238E27FC236}">
                  <a16:creationId xmlns:a16="http://schemas.microsoft.com/office/drawing/2014/main" id="{1C11EAD0-4BF2-4B59-A6DE-FD3DAAB17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6895" y="5906106"/>
              <a:ext cx="720000" cy="720000"/>
            </a:xfrm>
            <a:prstGeom prst="rect">
              <a:avLst/>
            </a:prstGeom>
          </p:spPr>
        </p:pic>
        <p:pic>
          <p:nvPicPr>
            <p:cNvPr id="10" name="Graphique 9" descr="Convertible avec un remplissage uni">
              <a:extLst>
                <a:ext uri="{FF2B5EF4-FFF2-40B4-BE49-F238E27FC236}">
                  <a16:creationId xmlns:a16="http://schemas.microsoft.com/office/drawing/2014/main" id="{01766596-BC66-4694-AA89-503CECD67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20082" y="5906106"/>
              <a:ext cx="720000" cy="720000"/>
            </a:xfrm>
            <a:prstGeom prst="rect">
              <a:avLst/>
            </a:prstGeom>
          </p:spPr>
        </p:pic>
        <p:pic>
          <p:nvPicPr>
            <p:cNvPr id="12" name="Graphique 11" descr="Convertible contour">
              <a:extLst>
                <a:ext uri="{FF2B5EF4-FFF2-40B4-BE49-F238E27FC236}">
                  <a16:creationId xmlns:a16="http://schemas.microsoft.com/office/drawing/2014/main" id="{8FD803CE-84E0-4CD6-A7DD-790528C4E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62825" y="5906106"/>
              <a:ext cx="720000" cy="720000"/>
            </a:xfrm>
            <a:prstGeom prst="rect">
              <a:avLst/>
            </a:prstGeom>
          </p:spPr>
        </p:pic>
        <p:pic>
          <p:nvPicPr>
            <p:cNvPr id="14" name="Graphique 13" descr="Voiture contour">
              <a:extLst>
                <a:ext uri="{FF2B5EF4-FFF2-40B4-BE49-F238E27FC236}">
                  <a16:creationId xmlns:a16="http://schemas.microsoft.com/office/drawing/2014/main" id="{15B5EFC5-92D6-4A91-8973-25F1759F2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71850" y="5908792"/>
              <a:ext cx="720000" cy="720000"/>
            </a:xfrm>
            <a:prstGeom prst="rect">
              <a:avLst/>
            </a:prstGeom>
          </p:spPr>
        </p:pic>
        <p:pic>
          <p:nvPicPr>
            <p:cNvPr id="16" name="Graphique 15" descr="Feux de signalisation avec un remplissage uni">
              <a:extLst>
                <a:ext uri="{FF2B5EF4-FFF2-40B4-BE49-F238E27FC236}">
                  <a16:creationId xmlns:a16="http://schemas.microsoft.com/office/drawing/2014/main" id="{AD4F3269-E9B6-4C64-81F0-5B0C22130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475951" y="4648777"/>
              <a:ext cx="720000" cy="720000"/>
            </a:xfrm>
            <a:prstGeom prst="rect">
              <a:avLst/>
            </a:prstGeom>
          </p:spPr>
        </p:pic>
        <p:pic>
          <p:nvPicPr>
            <p:cNvPr id="17" name="Graphique 16" descr="Feux de signalisation avec un remplissage uni">
              <a:extLst>
                <a:ext uri="{FF2B5EF4-FFF2-40B4-BE49-F238E27FC236}">
                  <a16:creationId xmlns:a16="http://schemas.microsoft.com/office/drawing/2014/main" id="{39008429-7848-4AFF-869B-FA696A34F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704097" y="4648777"/>
              <a:ext cx="720000" cy="720000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C5F42D2B-23BA-41B0-BA56-167D7FD4E9A6}"/>
                </a:ext>
              </a:extLst>
            </p:cNvPr>
            <p:cNvCxnSpPr/>
            <p:nvPr/>
          </p:nvCxnSpPr>
          <p:spPr>
            <a:xfrm>
              <a:off x="838200" y="6542203"/>
              <a:ext cx="10115746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B9AFF756-DE95-4C1E-8994-96F82651CC42}"/>
                </a:ext>
              </a:extLst>
            </p:cNvPr>
            <p:cNvCxnSpPr>
              <a:stCxn id="16" idx="1"/>
              <a:endCxn id="8" idx="0"/>
            </p:cNvCxnSpPr>
            <p:nvPr/>
          </p:nvCxnSpPr>
          <p:spPr>
            <a:xfrm flipH="1">
              <a:off x="1956895" y="5008777"/>
              <a:ext cx="2519056" cy="897329"/>
            </a:xfrm>
            <a:prstGeom prst="line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0136E6B0-D3F4-4428-94E8-AA1FA2747D31}"/>
                </a:ext>
              </a:extLst>
            </p:cNvPr>
            <p:cNvCxnSpPr>
              <a:stCxn id="16" idx="1"/>
              <a:endCxn id="14" idx="0"/>
            </p:cNvCxnSpPr>
            <p:nvPr/>
          </p:nvCxnSpPr>
          <p:spPr>
            <a:xfrm flipH="1">
              <a:off x="3331850" y="5008777"/>
              <a:ext cx="1144101" cy="900015"/>
            </a:xfrm>
            <a:prstGeom prst="line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30">
              <a:extLst>
                <a:ext uri="{FF2B5EF4-FFF2-40B4-BE49-F238E27FC236}">
                  <a16:creationId xmlns:a16="http://schemas.microsoft.com/office/drawing/2014/main" id="{404E72D1-CAB3-4081-A899-31C46F4F9BDD}"/>
                </a:ext>
              </a:extLst>
            </p:cNvPr>
            <p:cNvCxnSpPr/>
            <p:nvPr/>
          </p:nvCxnSpPr>
          <p:spPr>
            <a:xfrm>
              <a:off x="4835951" y="5283936"/>
              <a:ext cx="0" cy="1258267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eur droit 35">
              <a:extLst>
                <a:ext uri="{FF2B5EF4-FFF2-40B4-BE49-F238E27FC236}">
                  <a16:creationId xmlns:a16="http://schemas.microsoft.com/office/drawing/2014/main" id="{DF7CFFD5-E0C4-4A2F-BCA5-67400A168C13}"/>
                </a:ext>
              </a:extLst>
            </p:cNvPr>
            <p:cNvCxnSpPr/>
            <p:nvPr/>
          </p:nvCxnSpPr>
          <p:spPr>
            <a:xfrm>
              <a:off x="10064097" y="5283936"/>
              <a:ext cx="0" cy="1258267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7B4A489B-98E6-40C5-8C3F-F1BE46B7DE2F}"/>
                </a:ext>
              </a:extLst>
            </p:cNvPr>
            <p:cNvCxnSpPr>
              <a:stCxn id="17" idx="1"/>
              <a:endCxn id="12" idx="0"/>
            </p:cNvCxnSpPr>
            <p:nvPr/>
          </p:nvCxnSpPr>
          <p:spPr>
            <a:xfrm flipH="1">
              <a:off x="7522825" y="5008777"/>
              <a:ext cx="2181272" cy="897329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Connecteur droit 44">
              <a:extLst>
                <a:ext uri="{FF2B5EF4-FFF2-40B4-BE49-F238E27FC236}">
                  <a16:creationId xmlns:a16="http://schemas.microsoft.com/office/drawing/2014/main" id="{893D538F-426D-4D9F-99B9-F56204F1A1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05512" y="5006091"/>
              <a:ext cx="694570" cy="900015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pic>
          <p:nvPicPr>
            <p:cNvPr id="23" name="Graphique 22" descr="Jumelles avec un remplissage uni">
              <a:extLst>
                <a:ext uri="{FF2B5EF4-FFF2-40B4-BE49-F238E27FC236}">
                  <a16:creationId xmlns:a16="http://schemas.microsoft.com/office/drawing/2014/main" id="{87864AE5-C2C0-442C-8709-E575448D8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281551" y="2926190"/>
              <a:ext cx="914400" cy="914400"/>
            </a:xfrm>
            <a:prstGeom prst="rect">
              <a:avLst/>
            </a:prstGeom>
          </p:spPr>
        </p:pic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FA7A6E34-748E-4F02-B27D-CB504C53ECFB}"/>
                </a:ext>
              </a:extLst>
            </p:cNvPr>
            <p:cNvCxnSpPr>
              <a:cxnSpLocks/>
              <a:stCxn id="23" idx="2"/>
              <a:endCxn id="8" idx="0"/>
            </p:cNvCxnSpPr>
            <p:nvPr/>
          </p:nvCxnSpPr>
          <p:spPr>
            <a:xfrm flipH="1">
              <a:off x="1956895" y="3840590"/>
              <a:ext cx="2781856" cy="2065516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C59C4C7B-7A75-43F9-BC16-1319DAA83333}"/>
                </a:ext>
              </a:extLst>
            </p:cNvPr>
            <p:cNvCxnSpPr>
              <a:cxnSpLocks/>
              <a:stCxn id="23" idx="2"/>
              <a:endCxn id="14" idx="0"/>
            </p:cNvCxnSpPr>
            <p:nvPr/>
          </p:nvCxnSpPr>
          <p:spPr>
            <a:xfrm flipH="1">
              <a:off x="3331850" y="3840590"/>
              <a:ext cx="1406901" cy="2068202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B2CD0BA7-FB3A-4C72-824C-D232742A1266}"/>
                </a:ext>
              </a:extLst>
            </p:cNvPr>
            <p:cNvCxnSpPr>
              <a:cxnSpLocks/>
              <a:stCxn id="23" idx="2"/>
              <a:endCxn id="10" idx="0"/>
            </p:cNvCxnSpPr>
            <p:nvPr/>
          </p:nvCxnSpPr>
          <p:spPr>
            <a:xfrm>
              <a:off x="4738751" y="3840590"/>
              <a:ext cx="4241331" cy="2065516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021A0BBB-CB13-47EB-BAEE-6BC609283F18}"/>
                </a:ext>
              </a:extLst>
            </p:cNvPr>
            <p:cNvCxnSpPr>
              <a:cxnSpLocks/>
              <a:stCxn id="23" idx="2"/>
              <a:endCxn id="12" idx="0"/>
            </p:cNvCxnSpPr>
            <p:nvPr/>
          </p:nvCxnSpPr>
          <p:spPr>
            <a:xfrm>
              <a:off x="4738751" y="3840590"/>
              <a:ext cx="2784074" cy="2065516"/>
            </a:xfrm>
            <a:prstGeom prst="line">
              <a:avLst/>
            </a:prstGeom>
            <a:ln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30B798B6-AC71-414F-B352-0973F4059714}"/>
                </a:ext>
              </a:extLst>
            </p:cNvPr>
            <p:cNvCxnSpPr>
              <a:cxnSpLocks/>
              <a:stCxn id="23" idx="2"/>
              <a:endCxn id="16" idx="0"/>
            </p:cNvCxnSpPr>
            <p:nvPr/>
          </p:nvCxnSpPr>
          <p:spPr>
            <a:xfrm>
              <a:off x="4738751" y="3840590"/>
              <a:ext cx="97200" cy="808187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F9640640-BAF1-4444-96DC-907C6415E284}"/>
                </a:ext>
              </a:extLst>
            </p:cNvPr>
            <p:cNvCxnSpPr>
              <a:cxnSpLocks/>
              <a:stCxn id="23" idx="2"/>
              <a:endCxn id="17" idx="0"/>
            </p:cNvCxnSpPr>
            <p:nvPr/>
          </p:nvCxnSpPr>
          <p:spPr>
            <a:xfrm>
              <a:off x="4738751" y="3840590"/>
              <a:ext cx="5325346" cy="808187"/>
            </a:xfrm>
            <a:prstGeom prst="straightConnector1">
              <a:avLst/>
            </a:prstGeom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599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sujets multiples : Architecture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507959"/>
            <a:ext cx="11502190" cy="4462018"/>
          </a:xfrm>
        </p:spPr>
        <p:txBody>
          <a:bodyPr numCol="2" spcCol="180000">
            <a:normAutofit fontScale="92500" lnSpcReduction="10000"/>
          </a:bodyPr>
          <a:lstStyle/>
          <a:p>
            <a:r>
              <a:rPr lang="fr-BE"/>
              <a:t>Relation Many-To-Many</a:t>
            </a:r>
          </a:p>
          <a:p>
            <a:pPr lvl="1"/>
            <a:r>
              <a:rPr lang="fr-BE"/>
              <a:t>plusieurs sujets</a:t>
            </a:r>
          </a:p>
          <a:p>
            <a:pPr lvl="1"/>
            <a:r>
              <a:rPr lang="fr-BE"/>
              <a:t>plusieurs observateurs</a:t>
            </a:r>
          </a:p>
          <a:p>
            <a:pPr lvl="1"/>
            <a:r>
              <a:rPr lang="fr-BE"/>
              <a:t>souscriptions variables </a:t>
            </a:r>
          </a:p>
          <a:p>
            <a:endParaRPr lang="fr-BE"/>
          </a:p>
          <a:p>
            <a:endParaRPr lang="fr-BE"/>
          </a:p>
          <a:p>
            <a:pPr marL="0" indent="0">
              <a:buNone/>
            </a:pPr>
            <a:endParaRPr lang="fr-BE"/>
          </a:p>
          <a:p>
            <a:endParaRPr lang="fr-BE"/>
          </a:p>
          <a:p>
            <a:endParaRPr lang="fr-BE"/>
          </a:p>
          <a:p>
            <a:r>
              <a:rPr lang="fr-BE"/>
              <a:t>Sujet </a:t>
            </a:r>
            <a:r>
              <a:rPr lang="fr-BE">
                <a:solidFill>
                  <a:schemeClr val="bg1">
                    <a:lumMod val="50000"/>
                  </a:schemeClr>
                </a:solidFill>
              </a:rPr>
              <a:t>(feu)</a:t>
            </a:r>
          </a:p>
          <a:p>
            <a:pPr lvl="1"/>
            <a:r>
              <a:rPr lang="fr-BE"/>
              <a:t>Class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Observable</a:t>
            </a:r>
            <a:r>
              <a:rPr lang="fr-BE"/>
              <a:t> </a:t>
            </a:r>
          </a:p>
          <a:p>
            <a:pPr lvl="1"/>
            <a:r>
              <a:rPr lang="fr-BE"/>
              <a:t>Si modification apportée au sujet =&gt; </a:t>
            </a:r>
            <a:r>
              <a:rPr lang="fr-BE">
                <a:solidFill>
                  <a:schemeClr val="accent2"/>
                </a:solidFill>
              </a:rPr>
              <a:t>message</a:t>
            </a:r>
            <a:r>
              <a:rPr lang="fr-BE"/>
              <a:t> émis vers les observateurs - </a:t>
            </a:r>
            <a:br>
              <a:rPr lang="fr-BE"/>
            </a:br>
            <a:r>
              <a:rPr lang="fr-BE"/>
              <a:t>call .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notifyObservers()</a:t>
            </a:r>
          </a:p>
          <a:p>
            <a:pPr lvl="1"/>
            <a:r>
              <a:rPr lang="fr-BE"/>
              <a:t>Modifications des souscriptions reçues de l'Event Engine - </a:t>
            </a:r>
            <a:br>
              <a:rPr lang="fr-BE"/>
            </a:br>
            <a:r>
              <a:rPr lang="fr-BE"/>
              <a:t>def .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subscribe()</a:t>
            </a:r>
          </a:p>
        </p:txBody>
      </p:sp>
    </p:spTree>
    <p:extLst>
      <p:ext uri="{BB962C8B-B14F-4D97-AF65-F5344CB8AC3E}">
        <p14:creationId xmlns:p14="http://schemas.microsoft.com/office/powerpoint/2010/main" val="239515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D1F2FCA-621A-4FF6-9C54-5029354B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sujets multiples : Architecture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D15F27C-79E9-4F99-A58E-027522D5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507959"/>
            <a:ext cx="11502190" cy="5350042"/>
          </a:xfrm>
        </p:spPr>
        <p:txBody>
          <a:bodyPr numCol="2" spcCol="180000">
            <a:normAutofit/>
          </a:bodyPr>
          <a:lstStyle/>
          <a:p>
            <a:r>
              <a:rPr lang="fr-BE" sz="3200"/>
              <a:t>Observateur </a:t>
            </a:r>
            <a:r>
              <a:rPr lang="fr-BE" sz="3200">
                <a:solidFill>
                  <a:schemeClr val="bg1">
                    <a:lumMod val="50000"/>
                  </a:schemeClr>
                </a:solidFill>
              </a:rPr>
              <a:t>(voiture)</a:t>
            </a:r>
          </a:p>
          <a:p>
            <a:pPr lvl="1"/>
            <a:r>
              <a:rPr lang="fr-BE" sz="2800"/>
              <a:t>Class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Observer</a:t>
            </a:r>
          </a:p>
          <a:p>
            <a:pPr lvl="1"/>
            <a:r>
              <a:rPr lang="fr-BE" sz="2800"/>
              <a:t>Si modification apportée au sujet =&gt; </a:t>
            </a:r>
            <a:r>
              <a:rPr lang="fr-BE" sz="2800">
                <a:solidFill>
                  <a:schemeClr val="accent2"/>
                </a:solidFill>
              </a:rPr>
              <a:t>message</a:t>
            </a:r>
            <a:r>
              <a:rPr lang="fr-BE" sz="2800"/>
              <a:t> reçu de la part du sujet - </a:t>
            </a:r>
            <a:br>
              <a:rPr lang="fr-BE" sz="2800"/>
            </a:br>
            <a:r>
              <a:rPr lang="fr-BE" sz="2800"/>
              <a:t>def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notify()</a:t>
            </a:r>
            <a:endParaRPr lang="fr-BE" sz="28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fr-BE" sz="2800"/>
              <a:t>responsable de la mise à jour de son état</a:t>
            </a:r>
          </a:p>
          <a:p>
            <a:pPr lvl="1"/>
            <a:r>
              <a:rPr lang="fr-BE" sz="2800"/>
              <a:t>Si mise à jour état =&gt; </a:t>
            </a:r>
            <a:r>
              <a:rPr lang="fr-BE" sz="2800">
                <a:solidFill>
                  <a:schemeClr val="accent2"/>
                </a:solidFill>
              </a:rPr>
              <a:t>message </a:t>
            </a:r>
            <a:r>
              <a:rPr lang="fr-BE" sz="2800"/>
              <a:t>émis vers Event Engine - </a:t>
            </a:r>
            <a:br>
              <a:rPr lang="fr-BE" sz="2800"/>
            </a:br>
            <a:r>
              <a:rPr lang="fr-BE" sz="2800"/>
              <a:t>call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.event_engine.notify()</a:t>
            </a:r>
          </a:p>
          <a:p>
            <a:endParaRPr lang="fr-BE" sz="3200"/>
          </a:p>
          <a:p>
            <a:r>
              <a:rPr lang="fr-BE" sz="3200"/>
              <a:t>Event Engine </a:t>
            </a:r>
            <a:r>
              <a:rPr lang="fr-BE" sz="3200">
                <a:solidFill>
                  <a:schemeClr val="bg1">
                    <a:lumMod val="50000"/>
                  </a:schemeClr>
                </a:solidFill>
              </a:rPr>
              <a:t>(trafic)</a:t>
            </a:r>
          </a:p>
          <a:p>
            <a:pPr lvl="1"/>
            <a:r>
              <a:rPr lang="fr-BE" sz="2800"/>
              <a:t>Class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Event_Engine</a:t>
            </a:r>
          </a:p>
          <a:p>
            <a:pPr lvl="1"/>
            <a:r>
              <a:rPr lang="fr-BE" sz="2800"/>
              <a:t>Si état observateur mis  à jour </a:t>
            </a:r>
            <a:br>
              <a:rPr lang="fr-BE" sz="2800"/>
            </a:br>
            <a:r>
              <a:rPr lang="fr-BE" sz="2800"/>
              <a:t>=&gt; </a:t>
            </a:r>
            <a:r>
              <a:rPr lang="fr-BE" sz="2800">
                <a:solidFill>
                  <a:schemeClr val="accent2"/>
                </a:solidFill>
              </a:rPr>
              <a:t>message</a:t>
            </a:r>
            <a:r>
              <a:rPr lang="fr-BE" sz="2800"/>
              <a:t> reçu de la part de l'observateur  - </a:t>
            </a:r>
            <a:br>
              <a:rPr lang="fr-BE" sz="2800"/>
            </a:br>
            <a:r>
              <a:rPr lang="fr-BE" sz="2800"/>
              <a:t>def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.notify()</a:t>
            </a:r>
          </a:p>
          <a:p>
            <a:pPr lvl="1"/>
            <a:r>
              <a:rPr lang="fr-BE" sz="2800"/>
              <a:t>Modifier les souscriptions  des sujets =&gt; </a:t>
            </a:r>
            <a:r>
              <a:rPr lang="fr-BE" sz="2800">
                <a:solidFill>
                  <a:schemeClr val="accent2"/>
                </a:solidFill>
              </a:rPr>
              <a:t>message</a:t>
            </a:r>
            <a:r>
              <a:rPr lang="fr-BE" sz="2800"/>
              <a:t> émis vers les sujets - </a:t>
            </a:r>
            <a:br>
              <a:rPr lang="fr-BE" sz="2800"/>
            </a:br>
            <a:r>
              <a:rPr lang="fr-BE" sz="2800"/>
              <a:t>call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subscribe()</a:t>
            </a:r>
            <a:endParaRPr lang="fr-BE" sz="280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4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D758-719A-4B84-BE3B-5DA7EEF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17-16-18 : trafic, 2 feux, 3 voitures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0450E-1C09-49FB-88F5-7D3B3FC2C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14011" cy="4351339"/>
          </a:xfrm>
        </p:spPr>
        <p:txBody>
          <a:bodyPr>
            <a:normAutofit fontScale="77500" lnSpcReduction="20000"/>
          </a:bodyPr>
          <a:lstStyle/>
          <a:p>
            <a:r>
              <a:rPr lang="fr-BE"/>
              <a:t>Partir de 13-01-11.</a:t>
            </a:r>
          </a:p>
          <a:p>
            <a:r>
              <a:rPr lang="fr-BE"/>
              <a:t>Implantez la 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Traffic</a:t>
            </a:r>
            <a:r>
              <a:rPr lang="fr-BE"/>
              <a:t> (event manager) correspondant au scénario suivant.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FEE32C-03F1-4293-8AF0-6C1208571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211" y="1825625"/>
            <a:ext cx="7539789" cy="5032375"/>
          </a:xfrm>
        </p:spPr>
        <p:txBody>
          <a:bodyPr>
            <a:normAutofit fontScale="77500" lnSpcReduction="20000"/>
          </a:bodyPr>
          <a:lstStyle/>
          <a:p>
            <a:pPr marL="171206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trafic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= Traffic()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feu_l = [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Light("Feu01",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trafic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, 1, 5), …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]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voiture_l = [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Car("Peugeot",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trafic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), …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]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for i in range(25):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for v in voiture_l: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  v.next()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  print(v)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for f in feu_l: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  print(f)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print()</a:t>
            </a:r>
          </a:p>
          <a:p>
            <a:pPr marL="171206" lvl="1" indent="0">
              <a:buNone/>
            </a:pP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trafic</a:t>
            </a:r>
            <a:r>
              <a:rPr lang="fr-BE">
                <a:solidFill>
                  <a:srgbClr val="A87236"/>
                </a:solidFill>
                <a:latin typeface="Consolas" panose="020B0609020204030204" pitchFamily="49" charset="0"/>
              </a:rPr>
              <a:t>.next()</a:t>
            </a:r>
            <a:endParaRPr lang="fr-BE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4D758-719A-4B84-BE3B-5DA7EEF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17-16-18 : trafic, 2 feux, 3 voitures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0450E-1C09-49FB-88F5-7D3B3FC2C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Scénario 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feu02</a:t>
            </a:r>
            <a:r>
              <a:rPr lang="fr-BE"/>
              <a:t> est situé après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</a:t>
            </a:r>
            <a:r>
              <a:rPr lang="fr-BE"/>
              <a:t>.</a:t>
            </a:r>
          </a:p>
          <a:p>
            <a:pPr lvl="1"/>
            <a:r>
              <a:rPr lang="fr-BE"/>
              <a:t>Les voitures observent d'abord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</a:t>
            </a:r>
            <a:r>
              <a:rPr lang="fr-BE"/>
              <a:t>.</a:t>
            </a:r>
          </a:p>
          <a:p>
            <a:pPr lvl="1"/>
            <a:r>
              <a:rPr lang="fr-BE"/>
              <a:t>Quand une voiture démarre, elle est désinscrite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feu01</a:t>
            </a:r>
            <a:r>
              <a:rPr lang="fr-BE"/>
              <a:t> et s'inscrit à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feu02</a:t>
            </a:r>
            <a:r>
              <a:rPr lang="fr-BE"/>
              <a:t>.</a:t>
            </a:r>
          </a:p>
          <a:p>
            <a:pPr lvl="1"/>
            <a:r>
              <a:rPr lang="fr-BE" dirty="0"/>
              <a:t>Quand une voiture passe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feu02</a:t>
            </a:r>
            <a:r>
              <a:rPr lang="fr-BE" dirty="0"/>
              <a:t>, elle est désinscrite de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feu02</a:t>
            </a:r>
            <a:r>
              <a:rPr lang="fr-BE" dirty="0"/>
              <a:t> et continue sa route. </a:t>
            </a:r>
          </a:p>
          <a:p>
            <a:r>
              <a:rPr lang="fr-BE" dirty="0"/>
              <a:t>Implantez les </a:t>
            </a:r>
            <a:r>
              <a:rPr lang="fr-BE"/>
              <a:t>méthodes  </a:t>
            </a:r>
            <a:br>
              <a:rPr lang="fr-BE"/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.(un)subscribe()</a:t>
            </a:r>
            <a:r>
              <a:rPr lang="fr-BE"/>
              <a:t>, 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.notifyObservers()</a:t>
            </a:r>
            <a:r>
              <a:rPr lang="fr-BE"/>
              <a:t>, 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/>
              <a:t>et les différentes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notify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()</a:t>
            </a:r>
            <a:r>
              <a:rPr lang="fr-BE" dirty="0"/>
              <a:t>.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55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8FD69-6B7A-457C-8C56-60411EFD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Observer : Application : GUI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B852D2-1F56-4D4A-8BB9-A8CC0F452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1026" name="Picture 2" descr="graphic">
            <a:extLst>
              <a:ext uri="{FF2B5EF4-FFF2-40B4-BE49-F238E27FC236}">
                <a16:creationId xmlns:a16="http://schemas.microsoft.com/office/drawing/2014/main" id="{C4557458-E0D6-4164-A3D5-70647C01F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586" y="1584995"/>
            <a:ext cx="9465860" cy="504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43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Chapitre 17-19 : Singleton</a:t>
            </a: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Design Pattern créateur</a:t>
            </a:r>
          </a:p>
          <a:p>
            <a:pPr lvl="0"/>
            <a:endParaRPr lang="fr-BE"/>
          </a:p>
        </p:txBody>
      </p:sp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40BB0400-DCE8-D6BD-2C79-5C3DA9BC96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5618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 Design Pattern : Singleton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CBBABB2C-54AE-4A0D-8432-C8EBB97C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Utilité : Limiter l'instanciation d'une classe à un seul objet.</a:t>
            </a:r>
          </a:p>
          <a:p>
            <a:pPr lvl="1"/>
            <a:r>
              <a:rPr lang="fr-BE"/>
              <a:t>Quand la création de plusieurs objets issus de la même classe met l'application en danger. </a:t>
            </a:r>
          </a:p>
          <a:p>
            <a:pPr lvl="1"/>
            <a:r>
              <a:rPr lang="fr-BE"/>
              <a:t>Limiter l'accès simultané à une ressource partagée.</a:t>
            </a:r>
          </a:p>
          <a:p>
            <a:pPr lvl="1"/>
            <a:r>
              <a:rPr lang="fr-BE"/>
              <a:t>Créer un point d'accès global pour une ressource. </a:t>
            </a:r>
          </a:p>
        </p:txBody>
      </p:sp>
    </p:spTree>
    <p:extLst>
      <p:ext uri="{BB962C8B-B14F-4D97-AF65-F5344CB8AC3E}">
        <p14:creationId xmlns:p14="http://schemas.microsoft.com/office/powerpoint/2010/main" val="160886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BE"/>
              <a:t> Design Pattern : Singleton 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CBBABB2C-54AE-4A0D-8432-C8EBB97C5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Implantation </a:t>
            </a:r>
          </a:p>
          <a:p>
            <a:pPr lvl="1"/>
            <a:r>
              <a:rPr lang="fr-BE"/>
              <a:t>Via la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singleton() </a:t>
            </a:r>
          </a:p>
          <a:p>
            <a:pPr lvl="1"/>
            <a:r>
              <a:rPr lang="fr-BE"/>
              <a:t>Elle gère l'objet unique (création, enregistrement, vérification de l'existence).</a:t>
            </a:r>
          </a:p>
          <a:p>
            <a:pPr lvl="1"/>
            <a:r>
              <a:rPr lang="fr-BE"/>
              <a:t>Quand elle est appelée, elle renvoie l'objet unique. </a:t>
            </a:r>
          </a:p>
          <a:p>
            <a:pPr lvl="1"/>
            <a:r>
              <a:rPr lang="fr-BE" dirty="0"/>
              <a:t>Méthode statique, appelable depuis la classe</a:t>
            </a:r>
          </a:p>
          <a:p>
            <a:r>
              <a:rPr lang="fr-BE" dirty="0"/>
              <a:t>Algorithme 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singleton()</a:t>
            </a:r>
          </a:p>
          <a:p>
            <a:pPr lvl="1"/>
            <a:r>
              <a:rPr lang="fr-BE" dirty="0"/>
              <a:t>Si l'objet n'existe pas, alors il </a:t>
            </a:r>
            <a:r>
              <a:rPr lang="fr-BE"/>
              <a:t>est créé, </a:t>
            </a:r>
            <a:r>
              <a:rPr lang="fr-BE">
                <a:solidFill>
                  <a:schemeClr val="accent2"/>
                </a:solidFill>
              </a:rPr>
              <a:t>enregistré comme attribut</a:t>
            </a:r>
            <a:r>
              <a:rPr lang="fr-BE"/>
              <a:t>, et retourné </a:t>
            </a:r>
            <a:r>
              <a:rPr lang="fr-BE" dirty="0"/>
              <a:t>à l'appelant.</a:t>
            </a:r>
          </a:p>
          <a:p>
            <a:pPr lvl="1"/>
            <a:r>
              <a:rPr lang="fr-BE" dirty="0"/>
              <a:t>Si l'objet existe déjà, alors il est retourné à l'appelant.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195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80BC6BB-1EF2-423F-903E-C356E1B2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Exo 17-19-05 : 2 objets, 2 dictionnaires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398909-3468-4AE3-96DC-955305FA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825625"/>
            <a:ext cx="11800113" cy="4117976"/>
          </a:xfrm>
        </p:spPr>
        <p:txBody>
          <a:bodyPr numCol="2" spcCol="360000">
            <a:normAutofit fontScale="70000" lnSpcReduction="20000"/>
          </a:bodyPr>
          <a:lstStyle/>
          <a:p>
            <a:r>
              <a:rPr lang="fr-BE" dirty="0"/>
              <a:t>Écrivez une classe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Storage</a:t>
            </a:r>
            <a:r>
              <a:rPr lang="fr-BE" dirty="0"/>
              <a:t> qui gère un dictionnaire.</a:t>
            </a:r>
          </a:p>
          <a:p>
            <a:r>
              <a:rPr lang="fr-BE" dirty="0"/>
              <a:t>Méthodes : 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__init__()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str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__()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append( key, value )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2"/>
            <a:r>
              <a:rPr lang="fr-BE"/>
              <a:t>Ajoute une paire clé-valeur au dictionnaire</a:t>
            </a:r>
          </a:p>
          <a:p>
            <a:r>
              <a:rPr lang="fr-BE"/>
              <a:t>Créez deux objets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Storage</a:t>
            </a:r>
            <a:r>
              <a:rPr lang="fr-BE"/>
              <a:t> et remplissez les différemment.</a:t>
            </a:r>
          </a:p>
          <a:p>
            <a:r>
              <a:rPr lang="fr-BE"/>
              <a:t>Constatez si ces deux objets sont égaux.</a:t>
            </a:r>
          </a:p>
          <a:p>
            <a:pPr lvl="1"/>
            <a:r>
              <a:rPr lang="fr-BE"/>
              <a:t>Ils ne le sont pas.  </a:t>
            </a:r>
            <a:r>
              <a:rPr lang="fr-BE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fr-BE">
                <a:sym typeface="Wingdings" panose="05000000000000000000" pitchFamily="2" charset="2"/>
              </a:rPr>
              <a:t>Approche KO</a:t>
            </a:r>
            <a:endParaRPr lang="fr-BE"/>
          </a:p>
          <a:p>
            <a:r>
              <a:rPr lang="fr-BE"/>
              <a:t>Scénario</a:t>
            </a:r>
          </a:p>
          <a:p>
            <a:pPr marL="82800" indent="0">
              <a:buNone/>
            </a:pP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s = </a:t>
            </a:r>
            <a:r>
              <a:rPr lang="en-US" sz="3100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()</a:t>
            </a:r>
          </a:p>
          <a:p>
            <a:pPr marL="82800" indent="0">
              <a:buNone/>
            </a:pP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s.append("fname","Kevin")</a:t>
            </a:r>
          </a:p>
          <a:p>
            <a:pPr marL="82800" indent="0">
              <a:buNone/>
            </a:pPr>
            <a:endParaRPr lang="en-US" sz="31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82800" indent="0">
              <a:buNone/>
            </a:pP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t = </a:t>
            </a:r>
            <a:r>
              <a:rPr lang="en-US" sz="3100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()</a:t>
            </a:r>
          </a:p>
          <a:p>
            <a:pPr marL="82800" indent="0">
              <a:buNone/>
            </a:pP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t.append("lname","Costner")</a:t>
            </a:r>
          </a:p>
          <a:p>
            <a:pPr marL="82800" indent="0">
              <a:buNone/>
            </a:pPr>
            <a:endParaRPr lang="en-US" sz="31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82800" indent="0">
              <a:buNone/>
            </a:pP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print(s, t)</a:t>
            </a:r>
          </a:p>
          <a:p>
            <a:pPr marL="82800" indent="0">
              <a:buNone/>
            </a:pPr>
            <a:r>
              <a:rPr lang="en-US" sz="3100">
                <a:solidFill>
                  <a:srgbClr val="A87236"/>
                </a:solidFill>
                <a:latin typeface="Consolas" panose="020B0609020204030204" pitchFamily="49" charset="0"/>
              </a:rPr>
              <a:t>print(s is t)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AA1D4E-8934-427E-8DE8-26C121ED73B4}"/>
              </a:ext>
            </a:extLst>
          </p:cNvPr>
          <p:cNvSpPr txBox="1"/>
          <p:nvPr/>
        </p:nvSpPr>
        <p:spPr>
          <a:xfrm>
            <a:off x="6488823" y="5657671"/>
            <a:ext cx="5703176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defRPr>
            </a:lvl1pPr>
          </a:lstStyle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s: Storage: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 - clé fname : valeur Kevin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t: Storage:</a:t>
            </a:r>
          </a:p>
          <a:p>
            <a:r>
              <a:rPr lang="fr-BE" b="0" i="1">
                <a:solidFill>
                  <a:srgbClr val="7F7F7F"/>
                </a:solidFill>
                <a:latin typeface="Consolas" panose="020B0609020204030204" pitchFamily="49" charset="0"/>
              </a:rPr>
              <a:t> - clé lname : valeur Brian</a:t>
            </a:r>
          </a:p>
        </p:txBody>
      </p:sp>
    </p:spTree>
    <p:extLst>
      <p:ext uri="{BB962C8B-B14F-4D97-AF65-F5344CB8AC3E}">
        <p14:creationId xmlns:p14="http://schemas.microsoft.com/office/powerpoint/2010/main" val="315191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80BC6BB-1EF2-423F-903E-C356E1B2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17-19-06 : 2 réf., 1 dict,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.singleton()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398909-3468-4AE3-96DC-955305FA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7" y="1825625"/>
            <a:ext cx="11553370" cy="4667250"/>
          </a:xfrm>
        </p:spPr>
        <p:txBody>
          <a:bodyPr numCol="2" spcCol="360000">
            <a:noAutofit/>
          </a:bodyPr>
          <a:lstStyle/>
          <a:p>
            <a:r>
              <a:rPr lang="fr-BE" sz="2800"/>
              <a:t>Partez de l'exo précédent.</a:t>
            </a:r>
          </a:p>
          <a:p>
            <a:r>
              <a:rPr lang="fr-BE" sz="2800"/>
              <a:t>Appliquez le Design Pattern Singleton à la classe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Storage</a:t>
            </a:r>
            <a:r>
              <a:rPr lang="fr-BE" sz="2800" b="1">
                <a:solidFill>
                  <a:srgbClr val="A87236"/>
                </a:solidFill>
                <a:latin typeface="Courier New" panose="02070309020205020404" pitchFamily="49" charset="0"/>
              </a:rPr>
              <a:t> </a:t>
            </a:r>
            <a:r>
              <a:rPr lang="fr-BE" sz="2800"/>
              <a:t>afin que le dictionnaire soit unique.</a:t>
            </a:r>
          </a:p>
          <a:p>
            <a:r>
              <a:rPr lang="fr-BE" sz="2800"/>
              <a:t>Méthodes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singleton()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__init__()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__str__()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append( key, value )</a:t>
            </a:r>
          </a:p>
          <a:p>
            <a:pPr marL="482600" lvl="1" indent="0">
              <a:buNone/>
            </a:pPr>
            <a:br>
              <a:rPr lang="fr-BE" sz="2400" b="1">
                <a:solidFill>
                  <a:srgbClr val="A87236"/>
                </a:solidFill>
                <a:latin typeface="Courier New" panose="02070309020205020404" pitchFamily="49" charset="0"/>
              </a:rPr>
            </a:br>
            <a:endParaRPr lang="fr-BE" sz="2800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r>
              <a:rPr lang="fr-BE" sz="2800"/>
              <a:t>Scénario légèrement modifié </a:t>
            </a:r>
          </a:p>
          <a:p>
            <a:pPr marL="399800" lvl="1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s = </a:t>
            </a: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</a:rPr>
              <a:t>Storage.singleton</a:t>
            </a: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()</a:t>
            </a:r>
          </a:p>
          <a:p>
            <a:pPr marL="399800" lvl="1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s.append("fname","Kevin")</a:t>
            </a:r>
          </a:p>
          <a:p>
            <a:pPr marL="399800" lvl="1" indent="0">
              <a:buNone/>
            </a:pPr>
            <a:endParaRPr lang="en-US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399800" lvl="1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t = </a:t>
            </a:r>
            <a:r>
              <a:rPr lang="en-US" sz="2000">
                <a:solidFill>
                  <a:schemeClr val="accent5"/>
                </a:solidFill>
                <a:latin typeface="Consolas" panose="020B0609020204030204" pitchFamily="49" charset="0"/>
              </a:rPr>
              <a:t>Storage.singleton</a:t>
            </a: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()</a:t>
            </a:r>
          </a:p>
          <a:p>
            <a:pPr marL="399800" lvl="1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t.append("lname","Costner")</a:t>
            </a:r>
          </a:p>
          <a:p>
            <a:pPr marL="399800" lvl="1" indent="0">
              <a:buNone/>
            </a:pPr>
            <a:endParaRPr lang="en-US" sz="20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399800" lvl="1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print(s, t)</a:t>
            </a:r>
          </a:p>
          <a:p>
            <a:pPr marL="399800" lvl="1" indent="0">
              <a:buNone/>
            </a:pPr>
            <a:r>
              <a:rPr lang="en-US" sz="2000">
                <a:solidFill>
                  <a:srgbClr val="A87236"/>
                </a:solidFill>
                <a:latin typeface="Consolas" panose="020B0609020204030204" pitchFamily="49" charset="0"/>
              </a:rPr>
              <a:t>print(s is t)</a:t>
            </a:r>
          </a:p>
          <a:p>
            <a:pPr marL="654300" indent="-571500"/>
            <a:endParaRPr lang="en-US" sz="2800" b="1">
              <a:solidFill>
                <a:srgbClr val="A87236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5A71FC-EA11-4EF4-8475-102F66EEE356}"/>
              </a:ext>
            </a:extLst>
          </p:cNvPr>
          <p:cNvSpPr txBox="1"/>
          <p:nvPr/>
        </p:nvSpPr>
        <p:spPr>
          <a:xfrm>
            <a:off x="6826469" y="5102446"/>
            <a:ext cx="5365531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s: Storage: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fname : valeur Kevin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lname : valeur Brian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t: Storage: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fname : valeur Kevin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lname : valeur Brian</a:t>
            </a:r>
          </a:p>
        </p:txBody>
      </p:sp>
    </p:spTree>
    <p:extLst>
      <p:ext uri="{BB962C8B-B14F-4D97-AF65-F5344CB8AC3E}">
        <p14:creationId xmlns:p14="http://schemas.microsoft.com/office/powerpoint/2010/main" val="1547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80BC6BB-1EF2-423F-903E-C356E1B2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17-19-06 : 2 réf., 1 dict,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.singleton()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398909-3468-4AE3-96DC-955305FA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7" y="1451429"/>
            <a:ext cx="11553370" cy="5406571"/>
          </a:xfrm>
        </p:spPr>
        <p:txBody>
          <a:bodyPr numCol="1" spcCol="360000">
            <a:normAutofit fontScale="77500" lnSpcReduction="20000"/>
          </a:bodyPr>
          <a:lstStyle/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class Storage:</a:t>
            </a: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__instance = None</a:t>
            </a:r>
          </a:p>
          <a:p>
            <a:pPr marL="82800" indent="0">
              <a:buNone/>
            </a:pPr>
            <a:endParaRPr lang="en-US" sz="28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@classmethod</a:t>
            </a: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def singleton():</a:t>
            </a:r>
          </a:p>
          <a:p>
            <a:pPr marL="82800" indent="0">
              <a:buNone/>
            </a:pP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    if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.__instance is None: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# If instance does not exist, then create it 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.__instance =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Storage()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# return the instance</a:t>
            </a:r>
          </a:p>
          <a:p>
            <a:pPr marL="82800" indent="0">
              <a:buNone/>
            </a:pP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    return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.__instance </a:t>
            </a:r>
          </a:p>
          <a:p>
            <a:pPr marL="82800" indent="0">
              <a:buNone/>
            </a:pPr>
            <a:endParaRPr lang="en-US" sz="28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def __init__(</a:t>
            </a:r>
            <a:r>
              <a:rPr lang="en-US" sz="2800" dirty="0">
                <a:solidFill>
                  <a:srgbClr val="A87236"/>
                </a:solidFill>
                <a:latin typeface="Consolas" panose="020B0609020204030204" pitchFamily="49" charset="0"/>
              </a:rPr>
              <a:t>self):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If instance already exists, then exception</a:t>
            </a:r>
          </a:p>
          <a:p>
            <a:pPr marL="82800" indent="0">
              <a:buNone/>
            </a:pP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    if self.__instance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is 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not None:</a:t>
            </a:r>
          </a:p>
          <a:p>
            <a:pPr marL="82800" indent="0">
              <a:buNone/>
            </a:pP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      raise Exception("This class is a singleton!")</a:t>
            </a:r>
          </a:p>
          <a:p>
            <a:pPr marL="82800" indent="0">
              <a:buNone/>
            </a:pPr>
            <a:endParaRPr lang="en-US" sz="2800" dirty="0">
              <a:solidFill>
                <a:srgbClr val="A8723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38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80BC6BB-1EF2-423F-903E-C356E1B2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17-19-06 : 2 réf., 1 dict,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.singleton()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398909-3468-4AE3-96DC-955305FA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7" y="1451429"/>
            <a:ext cx="11553370" cy="5406571"/>
          </a:xfrm>
        </p:spPr>
        <p:txBody>
          <a:bodyPr numCol="1" spcCol="360000">
            <a:normAutofit fontScale="77500" lnSpcReduction="20000"/>
          </a:bodyPr>
          <a:lstStyle/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class Storage:</a:t>
            </a: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__instance = None</a:t>
            </a:r>
          </a:p>
          <a:p>
            <a:pPr marL="82800" indent="0">
              <a:buNone/>
            </a:pPr>
            <a:endParaRPr lang="en-US" sz="28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@classmethod</a:t>
            </a: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def singleton(cls):</a:t>
            </a:r>
          </a:p>
          <a:p>
            <a:pPr marL="82800" indent="0">
              <a:buNone/>
            </a:pP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    if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cls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.__instance is None: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# If instance does not exist, then create it 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cls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.__instance =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cls()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# return the instance</a:t>
            </a:r>
          </a:p>
          <a:p>
            <a:pPr marL="82800" indent="0">
              <a:buNone/>
            </a:pP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    return </a:t>
            </a:r>
            <a:r>
              <a:rPr lang="en-US" sz="2800">
                <a:solidFill>
                  <a:schemeClr val="accent5"/>
                </a:solidFill>
                <a:latin typeface="Consolas" panose="020B0609020204030204" pitchFamily="49" charset="0"/>
              </a:rPr>
              <a:t>cls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.__instance </a:t>
            </a:r>
          </a:p>
          <a:p>
            <a:pPr marL="82800" indent="0">
              <a:buNone/>
            </a:pPr>
            <a:endParaRPr lang="en-US" sz="2800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82800" indent="0">
              <a:buNone/>
            </a:pPr>
            <a:r>
              <a:rPr lang="en-US" sz="2800">
                <a:solidFill>
                  <a:srgbClr val="A87236"/>
                </a:solidFill>
                <a:latin typeface="Consolas" panose="020B0609020204030204" pitchFamily="49" charset="0"/>
              </a:rPr>
              <a:t>  def __init__(self):</a:t>
            </a:r>
          </a:p>
          <a:p>
            <a:pPr marL="82800" indent="0">
              <a:buNone/>
            </a:pPr>
            <a:r>
              <a:rPr lang="en-US" sz="28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# If instance already exists, then exception</a:t>
            </a:r>
          </a:p>
          <a:p>
            <a:pPr marL="82800" indent="0">
              <a:buNone/>
            </a:pP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    if self.__instance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chemeClr val="accent2"/>
                </a:solidFill>
                <a:latin typeface="Consolas" panose="020B0609020204030204" pitchFamily="49" charset="0"/>
              </a:rPr>
              <a:t>is 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not None:</a:t>
            </a:r>
          </a:p>
          <a:p>
            <a:pPr marL="82800" indent="0">
              <a:buNone/>
            </a:pP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</a:rPr>
              <a:t>      raise Exception("This class is a singleton!")</a:t>
            </a:r>
          </a:p>
        </p:txBody>
      </p:sp>
    </p:spTree>
    <p:extLst>
      <p:ext uri="{BB962C8B-B14F-4D97-AF65-F5344CB8AC3E}">
        <p14:creationId xmlns:p14="http://schemas.microsoft.com/office/powerpoint/2010/main" val="198028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DB9D894-A9DB-4D86-8ECB-96954BA8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Préalable : magic method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__new__()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D54A74-3512-4D54-8462-4DAE55EE5C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numCol="1">
            <a:normAutofit lnSpcReduction="1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__new__()</a:t>
            </a:r>
          </a:p>
          <a:p>
            <a:pPr marL="939800" lvl="1" indent="-457200">
              <a:buFont typeface="Arial" panose="020B0604020202020204" pitchFamily="34" charset="0"/>
              <a:buChar char="•"/>
            </a:pPr>
            <a:r>
              <a:rPr lang="fr-BE"/>
              <a:t>Créer un objet d'une certaine classe</a:t>
            </a:r>
          </a:p>
          <a:p>
            <a:pPr marL="939800" lvl="1" indent="-457200">
              <a:buFont typeface="Arial" panose="020B0604020202020204" pitchFamily="34" charset="0"/>
              <a:buChar char="•"/>
            </a:pPr>
            <a:r>
              <a:rPr lang="fr-BE"/>
              <a:t>Retourne un objet</a:t>
            </a:r>
            <a:br>
              <a:rPr lang="fr-BE"/>
            </a:br>
            <a:endParaRPr lang="fr-BE"/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__init__()</a:t>
            </a:r>
          </a:p>
          <a:p>
            <a:pPr marL="939800" lvl="1" indent="-457200">
              <a:buFont typeface="Arial" panose="020B0604020202020204" pitchFamily="34" charset="0"/>
              <a:buChar char="•"/>
            </a:pPr>
            <a:r>
              <a:rPr lang="fr-BE"/>
              <a:t>Initialiser un objet juste créé</a:t>
            </a:r>
          </a:p>
          <a:p>
            <a:pPr marL="939800" lvl="1" indent="-457200">
              <a:buFont typeface="Arial" panose="020B0604020202020204" pitchFamily="34" charset="0"/>
              <a:buChar char="•"/>
            </a:pPr>
            <a:r>
              <a:rPr lang="fr-BE"/>
              <a:t>Ne retourne rien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BE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41F5F75-EB78-4CD4-BD31-6285E171D4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BE"/>
              <a:t>Exo 17-19-02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/>
              <a:t>Lire et exécuter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/>
              <a:t>Type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</a:t>
            </a:r>
            <a:r>
              <a:rPr lang="fr-BE"/>
              <a:t> ? Pourquoi ?</a:t>
            </a:r>
          </a:p>
          <a:p>
            <a:pPr marL="1054100" lvl="1" indent="-571500">
              <a:buFont typeface="Arial" panose="020B0604020202020204" pitchFamily="34" charset="0"/>
              <a:buChar char="•"/>
            </a:pPr>
            <a:r>
              <a:rPr lang="fr-BE"/>
              <a:t>Type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b</a:t>
            </a:r>
            <a:r>
              <a:rPr lang="fr-BE"/>
              <a:t> ? Pourquoi 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5E3C44E-EE87-D721-20A2-F4E8E3C04901}"/>
              </a:ext>
            </a:extLst>
          </p:cNvPr>
          <p:cNvSpPr txBox="1">
            <a:spLocks noChangeAspect="1"/>
          </p:cNvSpPr>
          <p:nvPr/>
        </p:nvSpPr>
        <p:spPr>
          <a:xfrm>
            <a:off x="7760911" y="4607304"/>
            <a:ext cx="2661555" cy="15696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fr-BE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Garamond" panose="02020404030301010803" pitchFamily="18" charset="0"/>
              </a:rPr>
              <a:t>Pour programmeur avancé</a:t>
            </a:r>
          </a:p>
        </p:txBody>
      </p:sp>
    </p:spTree>
    <p:extLst>
      <p:ext uri="{BB962C8B-B14F-4D97-AF65-F5344CB8AC3E}">
        <p14:creationId xmlns:p14="http://schemas.microsoft.com/office/powerpoint/2010/main" val="8679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B6D403F-B303-4F8F-9780-885ADE5781EE}"/>
              </a:ext>
            </a:extLst>
          </p:cNvPr>
          <p:cNvSpPr txBox="1"/>
          <p:nvPr/>
        </p:nvSpPr>
        <p:spPr>
          <a:xfrm>
            <a:off x="8084414" y="5080427"/>
            <a:ext cx="4107585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s: Storage: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fname : valeur Kevin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lname : valeur Brian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t: Storage: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fname : valeur Kevin</a:t>
            </a:r>
          </a:p>
          <a:p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 - clé lname : valeur Brian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80BC6BB-1EF2-423F-903E-C356E1B2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17-19-07 : 2 réf., 1 dict,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.__new__()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7398909-3468-4AE3-96DC-955305FA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825625"/>
            <a:ext cx="11800113" cy="4351339"/>
          </a:xfrm>
        </p:spPr>
        <p:txBody>
          <a:bodyPr numCol="2" spcCol="360000">
            <a:normAutofit fontScale="77500" lnSpcReduction="20000"/>
          </a:bodyPr>
          <a:lstStyle/>
          <a:p>
            <a:r>
              <a:rPr lang="fr-BE"/>
              <a:t>Partez de l'exo précédent.</a:t>
            </a:r>
          </a:p>
          <a:p>
            <a:r>
              <a:rPr lang="fr-BE"/>
              <a:t>Utilisez la méthode magique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__new__</a:t>
            </a:r>
            <a:r>
              <a:rPr lang="fr-BE"/>
              <a:t> afin de pouvoir appeler directement la classe, sans la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singleton</a:t>
            </a:r>
            <a:r>
              <a:rPr lang="fr-BE"/>
              <a:t>.</a:t>
            </a:r>
          </a:p>
          <a:p>
            <a:r>
              <a:rPr lang="fr-BE"/>
              <a:t>Méthodes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__new__()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__init__()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__str__()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append( key, value )</a:t>
            </a:r>
            <a:b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</a:br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endParaRPr lang="fr-BE" b="1">
              <a:solidFill>
                <a:srgbClr val="A87236"/>
              </a:solidFill>
              <a:latin typeface="Courier New" panose="02070309020205020404" pitchFamily="49" charset="0"/>
            </a:endParaRPr>
          </a:p>
          <a:p>
            <a:r>
              <a:rPr lang="fr-BE"/>
              <a:t>Scénario légèrement modifié </a:t>
            </a: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s =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()</a:t>
            </a: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s.append( "k_s", "v_s")</a:t>
            </a: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s.append("fname","Kevin")</a:t>
            </a:r>
          </a:p>
          <a:p>
            <a:pPr marL="508012" lvl="1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t =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</a:rPr>
              <a:t>Storage</a:t>
            </a: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()</a:t>
            </a: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t.append("lname","Costner")</a:t>
            </a:r>
          </a:p>
          <a:p>
            <a:pPr marL="508012" lvl="1" indent="0">
              <a:buNone/>
            </a:pPr>
            <a:endParaRPr lang="en-US">
              <a:solidFill>
                <a:srgbClr val="A87236"/>
              </a:solidFill>
              <a:latin typeface="Consolas" panose="020B0609020204030204" pitchFamily="49" charset="0"/>
            </a:endParaRP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print(s, t)</a:t>
            </a:r>
          </a:p>
          <a:p>
            <a:pPr marL="508012" lvl="1" indent="0">
              <a:buNone/>
            </a:pPr>
            <a:r>
              <a:rPr lang="en-US">
                <a:solidFill>
                  <a:srgbClr val="A87236"/>
                </a:solidFill>
                <a:latin typeface="Consolas" panose="020B0609020204030204" pitchFamily="49" charset="0"/>
              </a:rPr>
              <a:t>print(s is t)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FD885F-71AC-D23D-6EBD-2FF45D1893AC}"/>
              </a:ext>
            </a:extLst>
          </p:cNvPr>
          <p:cNvSpPr txBox="1">
            <a:spLocks noChangeAspect="1"/>
          </p:cNvSpPr>
          <p:nvPr/>
        </p:nvSpPr>
        <p:spPr>
          <a:xfrm>
            <a:off x="1898542" y="5288340"/>
            <a:ext cx="2661555" cy="15696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fr-BE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Garamond" panose="02020404030301010803" pitchFamily="18" charset="0"/>
              </a:rPr>
              <a:t>Pour programmeur avancé</a:t>
            </a:r>
          </a:p>
        </p:txBody>
      </p:sp>
    </p:spTree>
    <p:extLst>
      <p:ext uri="{BB962C8B-B14F-4D97-AF65-F5344CB8AC3E}">
        <p14:creationId xmlns:p14="http://schemas.microsoft.com/office/powerpoint/2010/main" val="182824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E3914-FDA3-4BDE-84F5-B6A841A8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17-19-24 : la jungle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AF7726-C5DE-474C-A70F-B193FC5E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Partez de l'exo 13-53-24</a:t>
            </a:r>
          </a:p>
          <a:p>
            <a:r>
              <a:rPr lang="fr-BE"/>
              <a:t>Nouvelles hypothèses :</a:t>
            </a:r>
          </a:p>
          <a:p>
            <a:pPr lvl="1"/>
            <a:r>
              <a:rPr lang="fr-BE"/>
              <a:t>Le point d'eau est une ressource unique</a:t>
            </a:r>
          </a:p>
          <a:p>
            <a:pPr lvl="1"/>
            <a:r>
              <a:rPr lang="fr-BE"/>
              <a:t>Le buisson  est une ressource unique</a:t>
            </a:r>
          </a:p>
          <a:p>
            <a:r>
              <a:rPr lang="fr-BE"/>
              <a:t>Adaptez le code en conséquence.</a:t>
            </a:r>
          </a:p>
          <a:p>
            <a:pPr lvl="1"/>
            <a:r>
              <a:rPr lang="fr-BE"/>
              <a:t>On ne crée plus d'objet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lac</a:t>
            </a:r>
            <a:r>
              <a:rPr lang="fr-BE"/>
              <a:t> ou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buisson</a:t>
            </a:r>
            <a:r>
              <a:rPr lang="fr-BE"/>
              <a:t> à partir des classes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Water</a:t>
            </a:r>
            <a:r>
              <a:rPr lang="fr-BE"/>
              <a:t> ou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Archaeplastida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.</a:t>
            </a:r>
          </a:p>
          <a:p>
            <a:pPr lvl="1"/>
            <a:r>
              <a:rPr lang="fr-BE"/>
              <a:t>Les méthodes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set_water()</a:t>
            </a:r>
            <a:r>
              <a:rPr lang="fr-BE"/>
              <a:t> 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set_food()</a:t>
            </a:r>
            <a:r>
              <a:rPr lang="fr-BE"/>
              <a:t> disparaissent.</a:t>
            </a:r>
          </a:p>
          <a:p>
            <a:pPr lvl="1"/>
            <a:r>
              <a:rPr lang="fr-BE"/>
              <a:t>L'utilisation de ces resources se fera via un singleton.</a:t>
            </a:r>
          </a:p>
        </p:txBody>
      </p:sp>
    </p:spTree>
    <p:extLst>
      <p:ext uri="{BB962C8B-B14F-4D97-AF65-F5344CB8AC3E}">
        <p14:creationId xmlns:p14="http://schemas.microsoft.com/office/powerpoint/2010/main" val="4270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A8083AB6-2669-F929-C0DC-F76FA273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5A00BC95-89F6-DC70-BDD1-1D98DCED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Chapitre 17-20 : Iterator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3AA6CCB-511C-CB08-2A7D-65936A16C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Design Pattern comportemental</a:t>
            </a:r>
          </a:p>
        </p:txBody>
      </p:sp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6FAE7A8D-CD62-73AC-FB78-1FE593B6C6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4281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BE31BD38-F96D-1BE7-94A4-F174CA21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Strategy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041D244-1DD1-66B9-A8C5-A561B3C9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Définir une </a:t>
            </a:r>
            <a:r>
              <a:rPr lang="fr-BE">
                <a:solidFill>
                  <a:schemeClr val="accent2"/>
                </a:solidFill>
              </a:rPr>
              <a:t>famille d'algorithmes </a:t>
            </a:r>
          </a:p>
          <a:p>
            <a:pPr lvl="1"/>
            <a:r>
              <a:rPr lang="fr-BE"/>
              <a:t>encapsulés dans des </a:t>
            </a:r>
            <a:r>
              <a:rPr lang="fr-BE">
                <a:solidFill>
                  <a:schemeClr val="accent2"/>
                </a:solidFill>
              </a:rPr>
              <a:t>classes séparées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interchangeables</a:t>
            </a:r>
            <a:endParaRPr lang="fr-BE"/>
          </a:p>
          <a:p>
            <a:r>
              <a:rPr lang="fr-BE"/>
              <a:t>L'algorithme peut varier en fonction du code appelant.</a:t>
            </a:r>
          </a:p>
          <a:p>
            <a:r>
              <a:rPr lang="fr-BE"/>
              <a:t>Utilité : </a:t>
            </a:r>
          </a:p>
          <a:p>
            <a:pPr lvl="1"/>
            <a:r>
              <a:rPr lang="fr-BE"/>
              <a:t>Éviter les conditions complexes (ex: "if/else") pour choisir un algorithme.</a:t>
            </a:r>
          </a:p>
          <a:p>
            <a:pPr lvl="1"/>
            <a:r>
              <a:rPr lang="fr-BE"/>
              <a:t>Rendre le code plus flexible et extensible</a:t>
            </a:r>
          </a:p>
          <a:p>
            <a:pPr lvl="2"/>
            <a:r>
              <a:rPr lang="fr-BE"/>
              <a:t>Ajouter ou modifier un algorithme n'impacte pas le code appelant</a:t>
            </a:r>
          </a:p>
          <a:p>
            <a:pPr lvl="1"/>
            <a:r>
              <a:rPr lang="fr-BE"/>
              <a:t>Isoler la logique métier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BDAB0C-4DB6-8BB6-0358-16F2B81E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6919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9C630B-1E09-5E4F-5449-1A391541D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Design Pattern : Strategy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0921A-3E21-8A7B-4461-0DA6EE79A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trois acteurs principaux</a:t>
            </a:r>
          </a:p>
          <a:p>
            <a:pPr lvl="1"/>
            <a:r>
              <a:rPr lang="fr-BE"/>
              <a:t>Strategy (abstraite)</a:t>
            </a:r>
          </a:p>
          <a:p>
            <a:pPr lvl="2"/>
            <a:r>
              <a:rPr lang="fr-BE"/>
              <a:t>interface commune pour tous les algorithmes supportés.</a:t>
            </a:r>
          </a:p>
          <a:p>
            <a:pPr lvl="1"/>
            <a:r>
              <a:rPr lang="fr-BE"/>
              <a:t>Concrete Strategy</a:t>
            </a:r>
          </a:p>
          <a:p>
            <a:pPr lvl="2"/>
            <a:r>
              <a:rPr lang="fr-BE"/>
              <a:t>implémentation d'un algorithme spécifique</a:t>
            </a:r>
          </a:p>
          <a:p>
            <a:pPr lvl="2"/>
            <a:r>
              <a:rPr lang="fr-BE"/>
              <a:t>ex: "TriDirect", "TriInverse"</a:t>
            </a:r>
          </a:p>
          <a:p>
            <a:pPr lvl="1"/>
            <a:r>
              <a:rPr lang="fr-BE"/>
              <a:t>Context</a:t>
            </a:r>
          </a:p>
          <a:p>
            <a:pPr lvl="2"/>
            <a:r>
              <a:rPr lang="fr-BE"/>
              <a:t>sélection de la référence à une "Strategy" et </a:t>
            </a:r>
          </a:p>
          <a:p>
            <a:pPr lvl="2"/>
            <a:r>
              <a:rPr lang="fr-BE"/>
              <a:t>délégation du travail à cette stratégie.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8EB11C-3866-7E47-567F-50AC36B6D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3181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5483C-03AC-A7ED-52A9-0745413F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17-20-02 : algorithme de tri : Strategy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E49DB-0BCC-908D-2CCA-4DC7AFCCB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class 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SortStrategy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(ABC):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@classmethod</a:t>
            </a:r>
            <a:b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    @abstractmethod</a:t>
            </a:r>
            <a:b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def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trier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(self, data):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    pass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class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TriAlphaDirect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SortStrategy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):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@classmethod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def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trier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(self, data):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    return sorted(data)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class 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TriAlphaInverse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SortStrategy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):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@classmethod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def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trier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(self, data):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    return sorted(data, reverse=True)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7C369A-0995-1662-1BC7-D1D54175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624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D57822-728E-2B54-2A7A-CD35897E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17-20-02 : algorithme de tri : Context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C3EE08-4976-E449-3AFB-ABAB520A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class SortContext: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__tri_d = {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"alpha-direct" : TriAlphaDirect,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"alpha-inverse" : TriAlphaInverse,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def __init__(self):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self.__strategy = None</a:t>
            </a:r>
          </a:p>
          <a:p>
            <a:pPr marL="0" indent="0">
              <a:buNone/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def 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set_strategy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(self, 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strategy_name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self.__strategy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= self.__tri_d[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strategy_name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def </a:t>
            </a:r>
            <a:r>
              <a:rPr lang="fr-BE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sort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(self, data):</a:t>
            </a:r>
          </a:p>
          <a:p>
            <a:pPr marL="0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return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self.__strategy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trier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(data)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0969DA-B9B7-F3DC-6044-198C13C9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173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5B11-D304-A76F-1DC5-175539F9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F6B4E-5494-6358-6B46-3912946B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17-20-02 : algorithme de tri : Main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FD93E6-0FC2-A57D-87E2-C3D67854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mylist = [5, 2, 8, 1, 3]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contexte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 = SortContext()</a:t>
            </a:r>
          </a:p>
          <a:p>
            <a:pPr marL="0" indent="0">
              <a:buNone/>
            </a:pPr>
            <a:endParaRPr lang="fr-BE" sz="24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i="1">
                <a:solidFill>
                  <a:srgbClr val="7F7F7F"/>
                </a:solidFill>
                <a:latin typeface="Consolas" panose="020B0609020204030204" pitchFamily="49" charset="0"/>
              </a:rPr>
              <a:t># Utilisation du tri direct    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contexte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4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set_strategy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("alpha-direct")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print(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contexte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sort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(mylist) )</a:t>
            </a:r>
          </a:p>
          <a:p>
            <a:pPr marL="0" indent="0">
              <a:buNone/>
            </a:pPr>
            <a:endParaRPr lang="fr-BE" sz="24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i="1">
                <a:solidFill>
                  <a:srgbClr val="7F7F7F"/>
                </a:solidFill>
                <a:latin typeface="Consolas" panose="020B0609020204030204" pitchFamily="49" charset="0"/>
              </a:rPr>
              <a:t># Changement dynamique de stratégie : </a:t>
            </a:r>
          </a:p>
          <a:p>
            <a:pPr marL="0" indent="0">
              <a:buNone/>
            </a:pPr>
            <a:r>
              <a:rPr lang="fr-BE" sz="2400" i="1">
                <a:solidFill>
                  <a:srgbClr val="7F7F7F"/>
                </a:solidFill>
                <a:latin typeface="Consolas" panose="020B0609020204030204" pitchFamily="49" charset="0"/>
              </a:rPr>
              <a:t># utilisation du tri inverse</a:t>
            </a:r>
          </a:p>
          <a:p>
            <a:pPr marL="0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contexte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4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set_strategy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("alpha-inverse")</a:t>
            </a:r>
          </a:p>
          <a:p>
            <a:pPr marL="0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print(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contexte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sort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(mylist))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C953CB-F9CD-936E-302C-599D3212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76</a:t>
            </a:fld>
            <a:endParaRPr lang="fr-BE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6CF1B98-88F6-CD71-376E-5D435FC70795}"/>
              </a:ext>
            </a:extLst>
          </p:cNvPr>
          <p:cNvSpPr txBox="1"/>
          <p:nvPr/>
        </p:nvSpPr>
        <p:spPr>
          <a:xfrm>
            <a:off x="8082642" y="1490008"/>
            <a:ext cx="39025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OUTPUT</a:t>
            </a:r>
          </a:p>
          <a:p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Tri direct appliqué : </a:t>
            </a:r>
            <a:b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</a:br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[1, 2, 3, 5, 8]</a:t>
            </a:r>
          </a:p>
          <a:p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Tri inverse appliqué : </a:t>
            </a:r>
            <a:b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</a:br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[8, 5, 3, 2, 1]</a:t>
            </a:r>
          </a:p>
        </p:txBody>
      </p:sp>
    </p:spTree>
    <p:extLst>
      <p:ext uri="{BB962C8B-B14F-4D97-AF65-F5344CB8AC3E}">
        <p14:creationId xmlns:p14="http://schemas.microsoft.com/office/powerpoint/2010/main" val="3025275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F055AE4-2FB5-B5A4-2A84-A4433609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635" y="1963906"/>
            <a:ext cx="6264729" cy="46985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0153" y="468051"/>
            <a:ext cx="9907675" cy="1317155"/>
          </a:xfrm>
        </p:spPr>
        <p:txBody>
          <a:bodyPr>
            <a:spAutoFit/>
          </a:bodyPr>
          <a:lstStyle/>
          <a:p>
            <a:r>
              <a:rPr lang="fr-BE" dirty="0"/>
              <a:t>Bachelier en Informatique de Gestion</a:t>
            </a:r>
            <a:br>
              <a:rPr lang="fr-BE"/>
            </a:br>
            <a:r>
              <a:rPr lang="fr-BE"/>
              <a:t>Programmation Orientée Objet</a:t>
            </a:r>
            <a:endParaRPr lang="fr-BE" noProof="0" dirty="0"/>
          </a:p>
        </p:txBody>
      </p:sp>
      <p:pic>
        <p:nvPicPr>
          <p:cNvPr id="17" name="Picture 16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6" y="289351"/>
            <a:ext cx="1674557" cy="167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2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12515</TotalTime>
  <Words>4417</Words>
  <Application>Microsoft Office PowerPoint</Application>
  <PresentationFormat>Grand écran</PresentationFormat>
  <Paragraphs>770</Paragraphs>
  <Slides>77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77</vt:i4>
      </vt:variant>
    </vt:vector>
  </HeadingPairs>
  <TitlesOfParts>
    <vt:vector size="84" baseType="lpstr">
      <vt:lpstr>Consolas</vt:lpstr>
      <vt:lpstr>Courier New</vt:lpstr>
      <vt:lpstr>Calibri</vt:lpstr>
      <vt:lpstr>Arial</vt:lpstr>
      <vt:lpstr>Wingdings</vt:lpstr>
      <vt:lpstr>Garamond</vt:lpstr>
      <vt:lpstr>burotix</vt:lpstr>
      <vt:lpstr>Bachelier en Informatique de Gestion  Programmation Orientée Objet</vt:lpstr>
      <vt:lpstr>Table des matières</vt:lpstr>
      <vt:lpstr>Partie 17 Programmation Orientée Objet  "Patron de Conception" (Design Pattern)</vt:lpstr>
      <vt:lpstr>17. POO Design Pattern</vt:lpstr>
      <vt:lpstr>Design Pattern : références </vt:lpstr>
      <vt:lpstr>Design Pattern : références </vt:lpstr>
      <vt:lpstr>Design Pattern : définition</vt:lpstr>
      <vt:lpstr>Design Pattern : pro &amp; con</vt:lpstr>
      <vt:lpstr>Design Pattern : familles</vt:lpstr>
      <vt:lpstr>Les design patterns du gang of four</vt:lpstr>
      <vt:lpstr>Chapitre 17-01 : Décorateur</vt:lpstr>
      <vt:lpstr>Design Pattern : Decorator</vt:lpstr>
      <vt:lpstr>Design Pattern : Decorator</vt:lpstr>
      <vt:lpstr>Decorator : @classmethod</vt:lpstr>
      <vt:lpstr>Decorator : @classmethod</vt:lpstr>
      <vt:lpstr>Decorator : @classmethod</vt:lpstr>
      <vt:lpstr>Remarque : décorateurs  @classmethod vs. @staticmethod</vt:lpstr>
      <vt:lpstr>Remarque : décorateurs  @classmethod vs. @staticmethod</vt:lpstr>
      <vt:lpstr>Chapitre 17-02 : Factory</vt:lpstr>
      <vt:lpstr> Design Pattern : Factory</vt:lpstr>
      <vt:lpstr> Design Pattern : Factory </vt:lpstr>
      <vt:lpstr>Exo 17-02-05 : translator (sample)</vt:lpstr>
      <vt:lpstr>Exo 17-02-13 : quadrilatère</vt:lpstr>
      <vt:lpstr>Exo 17-02-14 : formes géométriques</vt:lpstr>
      <vt:lpstr>Chapitre 17-13 : Iterator</vt:lpstr>
      <vt:lpstr>Préalable : Generator</vt:lpstr>
      <vt:lpstr>Préalable : Generator : Exo 17-13-01  sample</vt:lpstr>
      <vt:lpstr>Préalable : Generator : Exo 17-13-02 application à la lecture d'un gros fichier</vt:lpstr>
      <vt:lpstr>Préalable : Generator : Exo 17-13-03  fonctions iter() et next()</vt:lpstr>
      <vt:lpstr>Design Pattern : Iterator</vt:lpstr>
      <vt:lpstr>Design Pattern : Iterator</vt:lpstr>
      <vt:lpstr>Design Pattern : Iterator : création </vt:lpstr>
      <vt:lpstr>Design Pattern : Iterator : Exo 17-13-06</vt:lpstr>
      <vt:lpstr>Design Pattern : Iterator : Exo 17-13-06</vt:lpstr>
      <vt:lpstr>Exo 17-13-11 : feu de signalisation</vt:lpstr>
      <vt:lpstr>Exo 17-13-24 : la jungle</vt:lpstr>
      <vt:lpstr>Chapitre 17-16 : Observer</vt:lpstr>
      <vt:lpstr>Présentation PowerPoint</vt:lpstr>
      <vt:lpstr>Design Pattern : Observer</vt:lpstr>
      <vt:lpstr>Design Pattern : Observer</vt:lpstr>
      <vt:lpstr>Design Pattern : Observer</vt:lpstr>
      <vt:lpstr>Design Pattern : Observer : Souscription</vt:lpstr>
      <vt:lpstr>Design Pattern : Observer : Architecture</vt:lpstr>
      <vt:lpstr>Design Pattern : Observer : UML</vt:lpstr>
      <vt:lpstr>Présentation PowerPoint</vt:lpstr>
      <vt:lpstr>Observer : exo 17-16-02 : trivial … mais complet !</vt:lpstr>
      <vt:lpstr>Observer : exo 17-16-12 : trafic</vt:lpstr>
      <vt:lpstr>Exo 17-16-12 : trafic, un feu, une voiture</vt:lpstr>
      <vt:lpstr>Exo 17-16-12 : la morale de l'histoire </vt:lpstr>
      <vt:lpstr>Observer : exo 17-16-14 : trafic</vt:lpstr>
      <vt:lpstr>Exo 17-16-14 : trafic, un feu, deux voitures</vt:lpstr>
      <vt:lpstr>Exo 17-16-16 : trafic, un feu, trois voitures</vt:lpstr>
      <vt:lpstr>Observer : sujets multiples </vt:lpstr>
      <vt:lpstr>Observer : sujets multiples </vt:lpstr>
      <vt:lpstr>Observer : sujets multiples </vt:lpstr>
      <vt:lpstr>Observer : sujets multiples : Architecture</vt:lpstr>
      <vt:lpstr>Observer : sujets multiples : Architecture</vt:lpstr>
      <vt:lpstr>Exo 17-16-18 : trafic, 2 feux, 3 voitures</vt:lpstr>
      <vt:lpstr>Exo 17-16-18 : trafic, 2 feux, 3 voitures</vt:lpstr>
      <vt:lpstr>Observer : Application : GUI</vt:lpstr>
      <vt:lpstr>Chapitre 17-19 : Singleton</vt:lpstr>
      <vt:lpstr> Design Pattern : Singleton</vt:lpstr>
      <vt:lpstr> Design Pattern : Singleton </vt:lpstr>
      <vt:lpstr>Exo 17-19-05 : 2 objets, 2 dictionnaires</vt:lpstr>
      <vt:lpstr>Exo 17-19-06 : 2 réf., 1 dict, .singleton()</vt:lpstr>
      <vt:lpstr>Exo 17-19-06 : 2 réf., 1 dict, .singleton()</vt:lpstr>
      <vt:lpstr>Exo 17-19-06 : 2 réf., 1 dict, .singleton()</vt:lpstr>
      <vt:lpstr>Préalable : magic method .__new__()</vt:lpstr>
      <vt:lpstr>Exo 17-19-07 : 2 réf., 1 dict, .__new__()</vt:lpstr>
      <vt:lpstr>Exo 17-19-24 : la jungle</vt:lpstr>
      <vt:lpstr>Chapitre 17-20 : Iterator</vt:lpstr>
      <vt:lpstr>Design Pattern : Strategy</vt:lpstr>
      <vt:lpstr>Design Pattern : Strategy</vt:lpstr>
      <vt:lpstr>Exo 17-20-02 : algorithme de tri : Strategy</vt:lpstr>
      <vt:lpstr>Exo 17-20-02 : algorithme de tri : Context</vt:lpstr>
      <vt:lpstr>Exo 17-20-02 : algorithme de tri : Main</vt:lpstr>
      <vt:lpstr>Bachelier en Informatique de Gestion Programmation Orientée Objet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17 :  Programmation Orientée Objet  Design Pattern</dc:title>
  <dc:creator>Alain Wafflard</dc:creator>
  <cp:lastModifiedBy>Alain Wafflard</cp:lastModifiedBy>
  <cp:revision>126</cp:revision>
  <dcterms:created xsi:type="dcterms:W3CDTF">2022-01-25T16:31:00Z</dcterms:created>
  <dcterms:modified xsi:type="dcterms:W3CDTF">2025-12-19T16:29:31Z</dcterms:modified>
</cp:coreProperties>
</file>