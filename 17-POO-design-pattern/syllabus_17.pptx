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83" r:id="rId1"/>
  </p:sldMasterIdLst>
  <p:notesMasterIdLst>
    <p:notesMasterId r:id="rId74"/>
  </p:notesMasterIdLst>
  <p:sldIdLst>
    <p:sldId id="473" r:id="rId2"/>
    <p:sldId id="575" r:id="rId3"/>
    <p:sldId id="256" r:id="rId4"/>
    <p:sldId id="491" r:id="rId5"/>
    <p:sldId id="494" r:id="rId6"/>
    <p:sldId id="539" r:id="rId7"/>
    <p:sldId id="495" r:id="rId8"/>
    <p:sldId id="570" r:id="rId9"/>
    <p:sldId id="496" r:id="rId10"/>
    <p:sldId id="497" r:id="rId11"/>
    <p:sldId id="258" r:id="rId12"/>
    <p:sldId id="503" r:id="rId13"/>
    <p:sldId id="507" r:id="rId14"/>
    <p:sldId id="505" r:id="rId15"/>
    <p:sldId id="506" r:id="rId16"/>
    <p:sldId id="508" r:id="rId17"/>
    <p:sldId id="568" r:id="rId18"/>
    <p:sldId id="569" r:id="rId19"/>
    <p:sldId id="270" r:id="rId20"/>
    <p:sldId id="283" r:id="rId21"/>
    <p:sldId id="536" r:id="rId22"/>
    <p:sldId id="535" r:id="rId23"/>
    <p:sldId id="537" r:id="rId24"/>
    <p:sldId id="538" r:id="rId25"/>
    <p:sldId id="514" r:id="rId26"/>
    <p:sldId id="518" r:id="rId27"/>
    <p:sldId id="519" r:id="rId28"/>
    <p:sldId id="520" r:id="rId29"/>
    <p:sldId id="516" r:id="rId30"/>
    <p:sldId id="521" r:id="rId31"/>
    <p:sldId id="513" r:id="rId32"/>
    <p:sldId id="515" r:id="rId33"/>
    <p:sldId id="517" r:id="rId34"/>
    <p:sldId id="522" r:id="rId35"/>
    <p:sldId id="533" r:id="rId36"/>
    <p:sldId id="523" r:id="rId37"/>
    <p:sldId id="534" r:id="rId38"/>
    <p:sldId id="502" r:id="rId39"/>
    <p:sldId id="562" r:id="rId40"/>
    <p:sldId id="574" r:id="rId41"/>
    <p:sldId id="553" r:id="rId42"/>
    <p:sldId id="540" r:id="rId43"/>
    <p:sldId id="545" r:id="rId44"/>
    <p:sldId id="500" r:id="rId45"/>
    <p:sldId id="499" r:id="rId46"/>
    <p:sldId id="563" r:id="rId47"/>
    <p:sldId id="546" r:id="rId48"/>
    <p:sldId id="552" r:id="rId49"/>
    <p:sldId id="542" r:id="rId50"/>
    <p:sldId id="551" r:id="rId51"/>
    <p:sldId id="554" r:id="rId52"/>
    <p:sldId id="548" r:id="rId53"/>
    <p:sldId id="549" r:id="rId54"/>
    <p:sldId id="557" r:id="rId55"/>
    <p:sldId id="559" r:id="rId56"/>
    <p:sldId id="493" r:id="rId57"/>
    <p:sldId id="543" r:id="rId58"/>
    <p:sldId id="560" r:id="rId59"/>
    <p:sldId id="547" r:id="rId60"/>
    <p:sldId id="550" r:id="rId61"/>
    <p:sldId id="555" r:id="rId62"/>
    <p:sldId id="492" r:id="rId63"/>
    <p:sldId id="525" r:id="rId64"/>
    <p:sldId id="528" r:id="rId65"/>
    <p:sldId id="531" r:id="rId66"/>
    <p:sldId id="527" r:id="rId67"/>
    <p:sldId id="532" r:id="rId68"/>
    <p:sldId id="561" r:id="rId69"/>
    <p:sldId id="526" r:id="rId70"/>
    <p:sldId id="529" r:id="rId71"/>
    <p:sldId id="530" r:id="rId72"/>
    <p:sldId id="573" r:id="rId73"/>
  </p:sldIdLst>
  <p:sldSz cx="12192000" cy="6858000"/>
  <p:notesSz cx="6858000" cy="9144000"/>
  <p:embeddedFontLst>
    <p:embeddedFont>
      <p:font typeface="Consolas" panose="020B0609020204030204" pitchFamily="49" charset="0"/>
      <p:regular r:id="rId75"/>
      <p:bold r:id="rId76"/>
      <p:italic r:id="rId77"/>
      <p:boldItalic r:id="rId78"/>
    </p:embeddedFont>
    <p:embeddedFont>
      <p:font typeface="Calibri" panose="020F0502020204030204" pitchFamily="34" charset="0"/>
      <p:regular r:id="rId79"/>
      <p:bold r:id="rId80"/>
      <p:italic r:id="rId81"/>
      <p:boldItalic r:id="rId82"/>
    </p:embeddedFont>
    <p:embeddedFont>
      <p:font typeface="Garamond" panose="02020404030301010803" pitchFamily="18" charset="0"/>
      <p:regular r:id="rId83"/>
      <p:bold r:id="rId84"/>
      <p:italic r:id="rId85"/>
      <p:boldItalic r:id="rId86"/>
    </p:embeddedFont>
  </p:embeddedFontLst>
  <p:defaultTextStyle>
    <a:defPPr>
      <a:defRPr lang="fr-FR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7-00 : introduction" id="{4217CD71-C1EE-4761-86A2-06414B319C86}">
          <p14:sldIdLst>
            <p14:sldId id="473"/>
            <p14:sldId id="575"/>
            <p14:sldId id="256"/>
            <p14:sldId id="491"/>
            <p14:sldId id="494"/>
            <p14:sldId id="539"/>
            <p14:sldId id="495"/>
            <p14:sldId id="570"/>
            <p14:sldId id="496"/>
            <p14:sldId id="497"/>
          </p14:sldIdLst>
        </p14:section>
        <p14:section name="17-01 : decorator" id="{5F86CBB3-57F6-438B-B223-3DD32B3F9EC4}">
          <p14:sldIdLst>
            <p14:sldId id="258"/>
            <p14:sldId id="503"/>
            <p14:sldId id="507"/>
            <p14:sldId id="505"/>
            <p14:sldId id="506"/>
            <p14:sldId id="508"/>
            <p14:sldId id="568"/>
            <p14:sldId id="569"/>
          </p14:sldIdLst>
        </p14:section>
        <p14:section name="17-02 : factory" id="{79608662-34A6-483E-A30B-86BAFEF70152}">
          <p14:sldIdLst>
            <p14:sldId id="270"/>
            <p14:sldId id="283"/>
            <p14:sldId id="536"/>
            <p14:sldId id="535"/>
            <p14:sldId id="537"/>
            <p14:sldId id="538"/>
          </p14:sldIdLst>
        </p14:section>
        <p14:section name="17-13 : iterator" id="{1EC0E855-9306-4FFC-935B-FBCBAE403521}">
          <p14:sldIdLst>
            <p14:sldId id="514"/>
            <p14:sldId id="518"/>
            <p14:sldId id="519"/>
            <p14:sldId id="520"/>
            <p14:sldId id="516"/>
            <p14:sldId id="521"/>
            <p14:sldId id="513"/>
            <p14:sldId id="515"/>
            <p14:sldId id="517"/>
            <p14:sldId id="522"/>
            <p14:sldId id="533"/>
            <p14:sldId id="523"/>
            <p14:sldId id="534"/>
          </p14:sldIdLst>
        </p14:section>
        <p14:section name="17-16 : observer" id="{249C52F6-58F8-4CC3-AB7D-7BF4E9CAC11F}">
          <p14:sldIdLst>
            <p14:sldId id="502"/>
            <p14:sldId id="562"/>
            <p14:sldId id="574"/>
            <p14:sldId id="553"/>
            <p14:sldId id="540"/>
            <p14:sldId id="545"/>
            <p14:sldId id="500"/>
            <p14:sldId id="499"/>
            <p14:sldId id="563"/>
            <p14:sldId id="546"/>
            <p14:sldId id="552"/>
            <p14:sldId id="542"/>
            <p14:sldId id="551"/>
            <p14:sldId id="554"/>
            <p14:sldId id="548"/>
            <p14:sldId id="549"/>
            <p14:sldId id="557"/>
            <p14:sldId id="559"/>
            <p14:sldId id="493"/>
            <p14:sldId id="543"/>
            <p14:sldId id="560"/>
            <p14:sldId id="547"/>
            <p14:sldId id="550"/>
            <p14:sldId id="555"/>
          </p14:sldIdLst>
        </p14:section>
        <p14:section name="17-19 : singleton" id="{DEB16324-FE72-4A7F-9388-12D7784F538F}">
          <p14:sldIdLst>
            <p14:sldId id="492"/>
            <p14:sldId id="525"/>
            <p14:sldId id="528"/>
            <p14:sldId id="531"/>
            <p14:sldId id="527"/>
            <p14:sldId id="532"/>
            <p14:sldId id="561"/>
            <p14:sldId id="526"/>
            <p14:sldId id="529"/>
            <p14:sldId id="530"/>
          </p14:sldIdLst>
        </p14:section>
        <p14:section name="Explicit liber" id="{F8389637-7E28-4A95-8212-B790EA63C7B8}">
          <p14:sldIdLst>
            <p14:sldId id="57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7" roundtripDataSignature="AMtx7mjSZQRmqTMWKYRBXmlYNJjeBKn4M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6" d="100"/>
          <a:sy n="66" d="100"/>
        </p:scale>
        <p:origin x="678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90" d="100"/>
        <a:sy n="90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10.fntdata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notesMaster" Target="notesMasters/notesMaster1.xml"/><Relationship Id="rId79" Type="http://schemas.openxmlformats.org/officeDocument/2006/relationships/font" Target="fonts/font5.fntdata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font" Target="fonts/font3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font" Target="fonts/font6.fntdata"/><Relationship Id="rId85" Type="http://schemas.openxmlformats.org/officeDocument/2006/relationships/font" Target="fonts/font1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1.fntdata"/><Relationship Id="rId83" Type="http://schemas.openxmlformats.org/officeDocument/2006/relationships/font" Target="fonts/font9.fntdata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font" Target="fonts/font4.fntdata"/><Relationship Id="rId81" Type="http://schemas.openxmlformats.org/officeDocument/2006/relationships/font" Target="fonts/font7.fntdata"/><Relationship Id="rId86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2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customschemas.google.com/relationships/presentationmetadata" Target="metadata"/><Relationship Id="rId61" Type="http://schemas.openxmlformats.org/officeDocument/2006/relationships/slide" Target="slides/slide60.xml"/><Relationship Id="rId82" Type="http://schemas.openxmlformats.org/officeDocument/2006/relationships/font" Target="fonts/font8.fntdata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B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82600" y="1279525"/>
            <a:ext cx="6140450" cy="34544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1</a:t>
            </a:fld>
            <a:endParaRPr lang="fr-BE" dirty="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fr-BE" dirty="0"/>
              <a:t>GESTIONNAIRE DE BASE DE DONNEES – NIVEAU ELEMENTAIRE - MS ACCESS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fr-BE" dirty="0"/>
              <a:t>Professeur : Alain Wafflard</a:t>
            </a:r>
          </a:p>
        </p:txBody>
      </p:sp>
    </p:spTree>
    <p:extLst>
      <p:ext uri="{BB962C8B-B14F-4D97-AF65-F5344CB8AC3E}">
        <p14:creationId xmlns:p14="http://schemas.microsoft.com/office/powerpoint/2010/main" val="42197142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5" name="Google Shape;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3" name="Google Shape;233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777521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92776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3082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19084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248901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3" name="Google Shape;233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96444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82600" y="1279525"/>
            <a:ext cx="6140450" cy="34544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72</a:t>
            </a:fld>
            <a:endParaRPr lang="fr-BE" dirty="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fr-BE" dirty="0"/>
              <a:t>GESTIONNAIRE DE BASE DE DONNEES – NIVEAU ELEMENTAIRE - MS ACCESS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fr-BE" dirty="0"/>
              <a:t>Professeur : Alain Wafflard</a:t>
            </a:r>
          </a:p>
        </p:txBody>
      </p:sp>
    </p:spTree>
    <p:extLst>
      <p:ext uri="{BB962C8B-B14F-4D97-AF65-F5344CB8AC3E}">
        <p14:creationId xmlns:p14="http://schemas.microsoft.com/office/powerpoint/2010/main" val="1878283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accent3">
              <a:lumMod val="40000"/>
              <a:lumOff val="60000"/>
            </a:schemeClr>
          </a:solidFill>
        </p:spPr>
        <p:txBody>
          <a:bodyPr anchor="b">
            <a:normAutofit/>
          </a:bodyPr>
          <a:lstStyle>
            <a:lvl1pPr algn="ctr"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8EFA58-10A1-BAA7-B65E-A754A43B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11-12-25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4B8606-B65F-6EB2-899E-91B5C83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FA919-3ED3-80D3-E61B-53F97BE6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85553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8EF8D-0946-4672-F93D-1040FBC9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11-12-25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8A40D7-7FAD-432F-7B9F-71125A56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A3E5DF-3F32-A840-9AC0-4B04DF1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13827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D67B63-F450-35EF-442C-62311487D2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11-12-25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C20ED6-7274-FD2F-773B-9069D5373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282271-26EC-908B-2E9D-6EE95CFBEB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2511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BD7575-5E4D-B6F7-D511-002E7EBB1A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11-12-25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7AA542-0BD3-6896-CFBC-925661457E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1D4A95-E4A4-1574-4F11-DE8F19613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3227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3EE368-836F-D6B7-3720-94E515B8E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11-12-25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0FC0D1-460C-5274-B67A-CADD30115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5E82B2-87DB-8B8E-12FD-843E8135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39567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05DBAD-E815-DA9F-C843-1DE122AA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11-12-25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4211E-58E3-3B61-D18C-DCC7772A0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5F2F6A2-3605-D138-CBD4-299C105E1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13215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B23E5C8-1D92-E25A-D482-9866759B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11-12-25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5ACAADE-10AC-A5C6-B021-C668BC206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BD460E-C94D-0F17-7C77-D32F9CC1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87024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9241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038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3BACDB-1022-3581-CB46-1F85D702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11-12-25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8F4609-0312-F825-CC91-FAC10F33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F0E555-3A77-670E-9C69-DE1D8DE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18748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3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4400"/>
              <a:buFont typeface="Garamond"/>
              <a:buNone/>
              <a:defRPr sz="4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21" name="Google Shape;21;p53"/>
          <p:cNvSpPr txBox="1"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816950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 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4462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3148E-CCCA-4F1F-A836-655D884BB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95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29B381-A1A5-FC30-27CA-947A26903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53782-D06E-4853-BE3C-64C197273937}" type="datetimeFigureOut">
              <a:rPr lang="fr-BE" smtClean="0"/>
              <a:t>11-12-25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FB2116-0A00-B6AB-43FF-F23B8EB09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38537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/>
          </a:solidFill>
          <a:latin typeface="+mn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utorialsteacher.com/python/decorator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utorialsteacher.com/python/classmethod-decorator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1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1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svg"/><Relationship Id="rId7" Type="http://schemas.openxmlformats.org/officeDocument/2006/relationships/image" Target="../media/image18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5" Type="http://schemas.openxmlformats.org/officeDocument/2006/relationships/image" Target="../media/image13.svg"/><Relationship Id="rId4" Type="http://schemas.openxmlformats.org/officeDocument/2006/relationships/image" Target="../media/image11.png"/><Relationship Id="rId9" Type="http://schemas.openxmlformats.org/officeDocument/2006/relationships/image" Target="../media/image20.sv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22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3.svg"/><Relationship Id="rId4" Type="http://schemas.openxmlformats.org/officeDocument/2006/relationships/image" Target="../media/image11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8.svg"/><Relationship Id="rId3" Type="http://schemas.openxmlformats.org/officeDocument/2006/relationships/image" Target="../media/image11.svg"/><Relationship Id="rId7" Type="http://schemas.openxmlformats.org/officeDocument/2006/relationships/image" Target="../media/image26.sv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13.svg"/><Relationship Id="rId5" Type="http://schemas.openxmlformats.org/officeDocument/2006/relationships/image" Target="../media/image24.svg"/><Relationship Id="rId10" Type="http://schemas.openxmlformats.org/officeDocument/2006/relationships/image" Target="../media/image11.png"/><Relationship Id="rId4" Type="http://schemas.openxmlformats.org/officeDocument/2006/relationships/image" Target="../media/image18.png"/><Relationship Id="rId9" Type="http://schemas.openxmlformats.org/officeDocument/2006/relationships/image" Target="../media/image22.sv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8.svg"/><Relationship Id="rId3" Type="http://schemas.openxmlformats.org/officeDocument/2006/relationships/image" Target="../media/image11.svg"/><Relationship Id="rId7" Type="http://schemas.openxmlformats.org/officeDocument/2006/relationships/image" Target="../media/image26.sv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13.svg"/><Relationship Id="rId5" Type="http://schemas.openxmlformats.org/officeDocument/2006/relationships/image" Target="../media/image24.svg"/><Relationship Id="rId15" Type="http://schemas.openxmlformats.org/officeDocument/2006/relationships/image" Target="../media/image30.svg"/><Relationship Id="rId10" Type="http://schemas.openxmlformats.org/officeDocument/2006/relationships/image" Target="../media/image11.png"/><Relationship Id="rId4" Type="http://schemas.openxmlformats.org/officeDocument/2006/relationships/image" Target="../media/image18.png"/><Relationship Id="rId9" Type="http://schemas.openxmlformats.org/officeDocument/2006/relationships/image" Target="../media/image22.svg"/><Relationship Id="rId14" Type="http://schemas.openxmlformats.org/officeDocument/2006/relationships/image" Target="../media/image21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8.svg"/><Relationship Id="rId3" Type="http://schemas.openxmlformats.org/officeDocument/2006/relationships/image" Target="../media/image11.svg"/><Relationship Id="rId7" Type="http://schemas.openxmlformats.org/officeDocument/2006/relationships/image" Target="../media/image26.sv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13.svg"/><Relationship Id="rId5" Type="http://schemas.openxmlformats.org/officeDocument/2006/relationships/image" Target="../media/image24.svg"/><Relationship Id="rId15" Type="http://schemas.openxmlformats.org/officeDocument/2006/relationships/image" Target="../media/image30.svg"/><Relationship Id="rId10" Type="http://schemas.openxmlformats.org/officeDocument/2006/relationships/image" Target="../media/image11.png"/><Relationship Id="rId4" Type="http://schemas.openxmlformats.org/officeDocument/2006/relationships/image" Target="../media/image18.png"/><Relationship Id="rId9" Type="http://schemas.openxmlformats.org/officeDocument/2006/relationships/image" Target="../media/image22.svg"/><Relationship Id="rId14" Type="http://schemas.openxmlformats.org/officeDocument/2006/relationships/image" Target="../media/image21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7354" y="1122363"/>
            <a:ext cx="8100646" cy="2387600"/>
          </a:xfrm>
        </p:spPr>
        <p:txBody>
          <a:bodyPr>
            <a:normAutofit fontScale="90000"/>
          </a:bodyPr>
          <a:lstStyle/>
          <a:p>
            <a:r>
              <a:rPr lang="fr-BE" dirty="0"/>
              <a:t>Bachelier en Informatique de Gestion</a:t>
            </a:r>
            <a:br>
              <a:rPr lang="fr-BE" dirty="0"/>
            </a:br>
            <a:r>
              <a:rPr lang="fr-BE" dirty="0"/>
              <a:t/>
            </a:r>
            <a:br>
              <a:rPr lang="fr-BE" dirty="0"/>
            </a:br>
            <a:r>
              <a:rPr lang="fr-BE" dirty="0"/>
              <a:t>Programmation Orientée Objet</a:t>
            </a:r>
            <a:endParaRPr lang="fr-BE" noProof="0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fr-BE" sz="3200" dirty="0"/>
              <a:t>Enseignement supérieur économique de type court</a:t>
            </a:r>
          </a:p>
          <a:p>
            <a:r>
              <a:rPr lang="fr-BE" sz="3200" dirty="0"/>
              <a:t>Code FWB : 7525 21 </a:t>
            </a:r>
            <a:r>
              <a:rPr lang="fr-BE" sz="3200" err="1"/>
              <a:t>U32</a:t>
            </a:r>
            <a:r>
              <a:rPr lang="fr-BE" sz="3200"/>
              <a:t> D3</a:t>
            </a:r>
            <a:endParaRPr lang="fr-BE" sz="3200" dirty="0"/>
          </a:p>
          <a:p>
            <a:r>
              <a:rPr lang="fr-BE" sz="3200" dirty="0"/>
              <a:t>Code ISFCE </a:t>
            </a:r>
            <a:r>
              <a:rPr lang="fr-BE" sz="3200"/>
              <a:t>: 4IPO3</a:t>
            </a:r>
            <a:endParaRPr lang="fr-FR" sz="3200" dirty="0"/>
          </a:p>
          <a:p>
            <a:endParaRPr lang="fr-FR" sz="3200" dirty="0"/>
          </a:p>
        </p:txBody>
      </p:sp>
      <p:pic>
        <p:nvPicPr>
          <p:cNvPr id="17" name="Picture 16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35596" y="289351"/>
            <a:ext cx="1674557" cy="1674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866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Table des matières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 numCol="1">
            <a:normAutofit fontScale="92500" lnSpcReduction="10000"/>
          </a:bodyPr>
          <a:lstStyle/>
          <a:p>
            <a:r>
              <a:rPr lang="fr-BE"/>
              <a:t>Introduction</a:t>
            </a:r>
          </a:p>
          <a:p>
            <a:pPr lvl="1"/>
            <a:r>
              <a:rPr lang="fr-BE"/>
              <a:t>00. Propos liminaires</a:t>
            </a:r>
          </a:p>
          <a:p>
            <a:pPr lvl="1"/>
            <a:r>
              <a:rPr lang="fr-BE"/>
              <a:t>01. Programmation procédurale : rappel</a:t>
            </a:r>
          </a:p>
          <a:p>
            <a:r>
              <a:rPr lang="fr-BE"/>
              <a:t>Concepts de Programmation Orientée Objet</a:t>
            </a:r>
          </a:p>
          <a:p>
            <a:pPr lvl="1"/>
            <a:r>
              <a:rPr lang="fr-BE"/>
              <a:t>11. Programmation orientée objet : bases </a:t>
            </a:r>
          </a:p>
          <a:p>
            <a:pPr lvl="1"/>
            <a:r>
              <a:rPr lang="fr-BE"/>
              <a:t>13</a:t>
            </a:r>
            <a:r>
              <a:rPr lang="fr-BE" dirty="0"/>
              <a:t>. Programmation orientée objet : aspects avancés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17. Patron de conception (design pattern)</a:t>
            </a:r>
          </a:p>
          <a:p>
            <a:r>
              <a:rPr lang="fr-BE"/>
              <a:t>Applications de la POO</a:t>
            </a:r>
          </a:p>
          <a:p>
            <a:pPr lvl="1"/>
            <a:r>
              <a:rPr lang="fr-BE"/>
              <a:t>21. Graphical User Interface</a:t>
            </a:r>
          </a:p>
        </p:txBody>
      </p:sp>
    </p:spTree>
    <p:extLst>
      <p:ext uri="{BB962C8B-B14F-4D97-AF65-F5344CB8AC3E}">
        <p14:creationId xmlns:p14="http://schemas.microsoft.com/office/powerpoint/2010/main" val="768976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"/>
          <p:cNvSpPr txBox="1">
            <a:spLocks noGrp="1"/>
          </p:cNvSpPr>
          <p:nvPr>
            <p:ph type="title"/>
          </p:nvPr>
        </p:nvSpPr>
        <p:spPr/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fr-BE"/>
              <a:t>Partie 17</a:t>
            </a:r>
            <a:r>
              <a:rPr lang="fr-BE" dirty="0"/>
              <a:t/>
            </a:r>
            <a:br>
              <a:rPr lang="fr-BE" dirty="0"/>
            </a:br>
            <a:r>
              <a:rPr lang="fr-BE" dirty="0"/>
              <a:t>Programmation Orientée Objet </a:t>
            </a:r>
            <a:br>
              <a:rPr lang="fr-BE" dirty="0"/>
            </a:br>
            <a:r>
              <a:rPr lang="fr-BE" dirty="0"/>
              <a:t>"Patron de </a:t>
            </a:r>
            <a:r>
              <a:rPr lang="fr-BE"/>
              <a:t>Conception" (</a:t>
            </a:r>
            <a:r>
              <a:rPr lang="fr-BE" dirty="0"/>
              <a:t>Design Pattern)</a:t>
            </a:r>
          </a:p>
        </p:txBody>
      </p:sp>
      <p:sp>
        <p:nvSpPr>
          <p:cNvPr id="48" name="Google Shape;48;p1"/>
          <p:cNvSpPr txBox="1">
            <a:spLocks noGrp="1"/>
          </p:cNvSpPr>
          <p:nvPr>
            <p:ph type="body" idx="1"/>
          </p:nvPr>
        </p:nvSpPr>
        <p:spPr/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fr-BE" dirty="0"/>
              <a:t>Syllabus &amp; Exercices</a:t>
            </a:r>
          </a:p>
        </p:txBody>
      </p:sp>
      <p:sp>
        <p:nvSpPr>
          <p:cNvPr id="11" name="Espace réservé pour une image  10">
            <a:extLst>
              <a:ext uri="{FF2B5EF4-FFF2-40B4-BE49-F238E27FC236}">
                <a16:creationId xmlns:a16="http://schemas.microsoft.com/office/drawing/2014/main" id="{69119C4E-C480-8DE1-E4D3-3D7595F6C4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ED76AD-2F5A-4CE9-801D-727C99B79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dirty="0"/>
              <a:t>17. POO Design Pattern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4953906-A3F8-4E39-80AF-AEAA5929D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1">
            <a:normAutofit/>
          </a:bodyPr>
          <a:lstStyle/>
          <a:p>
            <a:r>
              <a:rPr lang="fr-BE" dirty="0"/>
              <a:t>17-01 </a:t>
            </a:r>
            <a:r>
              <a:rPr lang="fr-BE" dirty="0" err="1"/>
              <a:t>Decorator</a:t>
            </a:r>
            <a:endParaRPr lang="fr-BE"/>
          </a:p>
          <a:p>
            <a:r>
              <a:rPr lang="fr-BE"/>
              <a:t>17-02 Factory</a:t>
            </a:r>
          </a:p>
          <a:p>
            <a:r>
              <a:rPr lang="fr-BE"/>
              <a:t>17-13 Iterator </a:t>
            </a:r>
          </a:p>
          <a:p>
            <a:r>
              <a:rPr lang="fr-BE"/>
              <a:t>17-16 Event &amp; Observer</a:t>
            </a:r>
          </a:p>
          <a:p>
            <a:r>
              <a:rPr lang="fr-BE"/>
              <a:t>17-19 Singleton</a:t>
            </a:r>
          </a:p>
          <a:p>
            <a:pPr marL="0" indent="0">
              <a:buNone/>
            </a:pPr>
            <a:endParaRPr lang="fr-BE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181505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ED76AD-2F5A-4CE9-801D-727C99B79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606562" cy="1325563"/>
          </a:xfrm>
        </p:spPr>
        <p:txBody>
          <a:bodyPr>
            <a:normAutofit/>
          </a:bodyPr>
          <a:lstStyle/>
          <a:p>
            <a:r>
              <a:rPr lang="fr-BE"/>
              <a:t>Design Pattern : références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4953906-A3F8-4E39-80AF-AEAA5929D8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numCol="1">
            <a:normAutofit/>
          </a:bodyPr>
          <a:lstStyle/>
          <a:p>
            <a:r>
              <a:rPr lang="en-US"/>
              <a:t>"Design Patterns – Elements of Reusable Object-Oriented Software"</a:t>
            </a:r>
          </a:p>
          <a:p>
            <a:r>
              <a:rPr lang="en-US"/>
              <a:t>By the </a:t>
            </a:r>
            <a:r>
              <a:rPr lang="en-US" i="1"/>
              <a:t>Gang of Four </a:t>
            </a:r>
            <a:endParaRPr lang="fr-BE" i="1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6927152-51A2-45D9-8EE3-0DE7BF7AE50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CA6D413-6BF7-410A-8775-62ED25D96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0525" y="0"/>
            <a:ext cx="54514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3665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67752F4D-10F7-41D9-AD2F-29205A92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références 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074BFA2E-AFCB-4ABB-82EF-C1E5FBBE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https://refactoring.guru/design-patterns</a:t>
            </a:r>
          </a:p>
        </p:txBody>
      </p:sp>
    </p:spTree>
    <p:extLst>
      <p:ext uri="{BB962C8B-B14F-4D97-AF65-F5344CB8AC3E}">
        <p14:creationId xmlns:p14="http://schemas.microsoft.com/office/powerpoint/2010/main" val="150346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7FF06B-6D89-4907-9743-52DDCB283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définition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7FA2CDD-02D6-43F6-BE8F-941566E0B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concept de </a:t>
            </a:r>
            <a:r>
              <a:rPr lang="fr-BE">
                <a:solidFill>
                  <a:schemeClr val="accent2"/>
                </a:solidFill>
              </a:rPr>
              <a:t>génie logiciel </a:t>
            </a:r>
          </a:p>
          <a:p>
            <a:r>
              <a:rPr lang="fr-BE"/>
              <a:t>résolution de problèmes </a:t>
            </a:r>
            <a:r>
              <a:rPr lang="fr-BE">
                <a:solidFill>
                  <a:schemeClr val="accent2"/>
                </a:solidFill>
              </a:rPr>
              <a:t>récurrents</a:t>
            </a:r>
            <a:r>
              <a:rPr lang="fr-BE"/>
              <a:t> de conception logicielle</a:t>
            </a:r>
          </a:p>
          <a:p>
            <a:r>
              <a:rPr lang="fr-BE"/>
              <a:t>formalisation de </a:t>
            </a:r>
            <a:r>
              <a:rPr lang="fr-BE">
                <a:solidFill>
                  <a:schemeClr val="accent2"/>
                </a:solidFill>
              </a:rPr>
              <a:t>bonnes pratiques </a:t>
            </a:r>
          </a:p>
          <a:p>
            <a:pPr lvl="1"/>
            <a:r>
              <a:rPr lang="fr-BE"/>
              <a:t>issu de l'expérience des concepteurs de logiciels</a:t>
            </a:r>
          </a:p>
          <a:p>
            <a:pPr lvl="1"/>
            <a:r>
              <a:rPr lang="fr-BE"/>
              <a:t>vocabulaire commun entre les intervenants (concepteur, programmeur, testeurs, ..)</a:t>
            </a:r>
          </a:p>
          <a:p>
            <a:r>
              <a:rPr lang="fr-BE"/>
              <a:t>capitalisation de </a:t>
            </a:r>
            <a:r>
              <a:rPr lang="fr-BE">
                <a:solidFill>
                  <a:schemeClr val="accent2"/>
                </a:solidFill>
              </a:rPr>
              <a:t>l'expérience</a:t>
            </a:r>
          </a:p>
          <a:p>
            <a:pPr lvl="1"/>
            <a:r>
              <a:rPr lang="fr-BE"/>
              <a:t>solution standard et (ré)utilisable</a:t>
            </a:r>
          </a:p>
          <a:p>
            <a:pPr lvl="1"/>
            <a:r>
              <a:rPr lang="fr-BE"/>
              <a:t>grandes lignes d'une solution, adaptable</a:t>
            </a:r>
          </a:p>
        </p:txBody>
      </p:sp>
    </p:spTree>
    <p:extLst>
      <p:ext uri="{BB962C8B-B14F-4D97-AF65-F5344CB8AC3E}">
        <p14:creationId xmlns:p14="http://schemas.microsoft.com/office/powerpoint/2010/main" val="349832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E344B-ECF9-1C3E-0D55-FAFF653C0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38557E-B701-79D3-7D22-8A993E38A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BE"/>
              <a:t>Design Pattern : pro &amp; con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AF9EDDB-D95B-322A-FD6D-EF96523B8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>
            <a:normAutofit/>
          </a:bodyPr>
          <a:lstStyle/>
          <a:p>
            <a:r>
              <a:rPr lang="fr-BE" sz="3600" b="0">
                <a:solidFill>
                  <a:schemeClr val="accent2"/>
                </a:solidFill>
              </a:rPr>
              <a:t>PRO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E7DECC3B-C3D1-9EE8-916E-47D0B0D866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>
            <a:normAutofit lnSpcReduction="10000"/>
          </a:bodyPr>
          <a:lstStyle/>
          <a:p>
            <a:r>
              <a:rPr lang="fr-BE"/>
              <a:t>clarté du code </a:t>
            </a:r>
          </a:p>
          <a:p>
            <a:r>
              <a:rPr lang="fr-BE"/>
              <a:t>réduction des interactions entre objets</a:t>
            </a:r>
          </a:p>
          <a:p>
            <a:pPr lvl="1"/>
            <a:r>
              <a:rPr lang="fr-BE"/>
              <a:t>maintainabilité accrue</a:t>
            </a:r>
          </a:p>
          <a:p>
            <a:r>
              <a:rPr lang="fr-BE"/>
              <a:t>diminution du temps de développement</a:t>
            </a:r>
          </a:p>
          <a:p>
            <a:pPr lvl="1"/>
            <a:r>
              <a:rPr lang="fr-BE"/>
              <a:t>si appliqué judicieusement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FF94BA-8B3C-3F1D-449B-3B95ED2572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>
            <a:normAutofit/>
          </a:bodyPr>
          <a:lstStyle/>
          <a:p>
            <a:r>
              <a:rPr lang="fr-BE" sz="3600" b="0">
                <a:solidFill>
                  <a:schemeClr val="accent2"/>
                </a:solidFill>
              </a:rPr>
              <a:t>CON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6D970C16-82A4-976D-806D-7B267182AA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fr-BE"/>
              <a:t>suringénierie </a:t>
            </a:r>
          </a:p>
          <a:p>
            <a:pPr lvl="1"/>
            <a:r>
              <a:rPr lang="fr-BE"/>
              <a:t>complexité du code</a:t>
            </a:r>
          </a:p>
          <a:p>
            <a:pPr lvl="1"/>
            <a:r>
              <a:rPr lang="fr-BE"/>
              <a:t>or : agile =&gt; simplicité</a:t>
            </a:r>
          </a:p>
          <a:p>
            <a:r>
              <a:rPr lang="fr-BE"/>
              <a:t>langages modernes intégrant de base certains DP </a:t>
            </a:r>
          </a:p>
        </p:txBody>
      </p:sp>
    </p:spTree>
    <p:extLst>
      <p:ext uri="{BB962C8B-B14F-4D97-AF65-F5344CB8AC3E}">
        <p14:creationId xmlns:p14="http://schemas.microsoft.com/office/powerpoint/2010/main" val="4271709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ABE0F8-115E-4D8B-ACF6-E333FBBE9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familles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304036-0B4D-4978-87AB-D257283C1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olidFill>
                  <a:schemeClr val="accent2"/>
                </a:solidFill>
              </a:rPr>
              <a:t>Créateurs</a:t>
            </a:r>
          </a:p>
          <a:p>
            <a:pPr lvl="1"/>
            <a:r>
              <a:rPr lang="fr-BE"/>
              <a:t>instanciation et configuration des classes et des objets</a:t>
            </a:r>
          </a:p>
          <a:p>
            <a:r>
              <a:rPr lang="fr-BE">
                <a:solidFill>
                  <a:schemeClr val="accent2"/>
                </a:solidFill>
              </a:rPr>
              <a:t>Structuraux</a:t>
            </a:r>
          </a:p>
          <a:p>
            <a:pPr lvl="1"/>
            <a:r>
              <a:rPr lang="fr-BE"/>
              <a:t>organisation des classes d'un programme dans une structure plus large</a:t>
            </a:r>
          </a:p>
          <a:p>
            <a:r>
              <a:rPr lang="fr-BE">
                <a:solidFill>
                  <a:schemeClr val="accent2"/>
                </a:solidFill>
              </a:rPr>
              <a:t>Comportementaux</a:t>
            </a:r>
          </a:p>
          <a:p>
            <a:pPr lvl="1"/>
            <a:r>
              <a:rPr lang="fr-BE"/>
              <a:t>Organisation des objets en vue d'une collaboration</a:t>
            </a:r>
          </a:p>
        </p:txBody>
      </p:sp>
    </p:spTree>
    <p:extLst>
      <p:ext uri="{BB962C8B-B14F-4D97-AF65-F5344CB8AC3E}">
        <p14:creationId xmlns:p14="http://schemas.microsoft.com/office/powerpoint/2010/main" val="17392153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ADB5DC-6A45-4254-BD4D-D9690BA33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Les design patterns du </a:t>
            </a:r>
            <a:r>
              <a:rPr lang="fr-BE" i="1"/>
              <a:t>gang of four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F48697-943C-4215-B2D0-D5976D2E2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3">
            <a:normAutofit fontScale="92500" lnSpcReduction="2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fr-BE">
                <a:solidFill>
                  <a:schemeClr val="accent2"/>
                </a:solidFill>
              </a:rPr>
              <a:t>Décorateur</a:t>
            </a:r>
          </a:p>
          <a:p>
            <a:pPr marL="742950" indent="-742950">
              <a:buFont typeface="+mj-lt"/>
              <a:buAutoNum type="arabicPeriod"/>
            </a:pPr>
            <a:r>
              <a:rPr lang="fr-BE">
                <a:solidFill>
                  <a:schemeClr val="accent2"/>
                </a:solidFill>
              </a:rPr>
              <a:t>Fabrique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Fabrique abstraite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Adaptateur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Pont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Monteur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Chaîne de responsabilité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Commande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Composite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Façade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Flyweight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Interpreter</a:t>
            </a:r>
          </a:p>
          <a:p>
            <a:pPr marL="742950" indent="-742950">
              <a:buFont typeface="+mj-lt"/>
              <a:buAutoNum type="arabicPeriod"/>
            </a:pPr>
            <a:r>
              <a:rPr lang="fr-BE">
                <a:solidFill>
                  <a:schemeClr val="accent2"/>
                </a:solidFill>
              </a:rPr>
              <a:t>Iterator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Mediator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Memento</a:t>
            </a:r>
          </a:p>
          <a:p>
            <a:pPr marL="742950" indent="-742950">
              <a:buFont typeface="+mj-lt"/>
              <a:buAutoNum type="arabicPeriod"/>
            </a:pPr>
            <a:r>
              <a:rPr lang="fr-BE">
                <a:solidFill>
                  <a:schemeClr val="accent2"/>
                </a:solidFill>
              </a:rPr>
              <a:t>Observer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Prototype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Proxy</a:t>
            </a:r>
          </a:p>
          <a:p>
            <a:pPr marL="742950" indent="-742950">
              <a:buFont typeface="+mj-lt"/>
              <a:buAutoNum type="arabicPeriod"/>
            </a:pPr>
            <a:r>
              <a:rPr lang="fr-BE">
                <a:solidFill>
                  <a:schemeClr val="accent2"/>
                </a:solidFill>
              </a:rPr>
              <a:t>Singleton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Strategy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Template method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Visitor</a:t>
            </a:r>
          </a:p>
          <a:p>
            <a:pPr marL="742950" indent="-742950">
              <a:buFont typeface="+mj-lt"/>
              <a:buAutoNum type="arabicPeriod"/>
            </a:pP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51841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Chapitre 17-01 : Décorateur</a:t>
            </a:r>
          </a:p>
        </p:txBody>
      </p:sp>
      <p:sp>
        <p:nvSpPr>
          <p:cNvPr id="60" name="Google Shape;60;p3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Design Pattern comportemental</a:t>
            </a:r>
          </a:p>
        </p:txBody>
      </p:sp>
      <p:sp>
        <p:nvSpPr>
          <p:cNvPr id="2" name="Espace réservé pour une image  1">
            <a:extLst>
              <a:ext uri="{FF2B5EF4-FFF2-40B4-BE49-F238E27FC236}">
                <a16:creationId xmlns:a16="http://schemas.microsoft.com/office/drawing/2014/main" id="{E2C01648-8616-82FB-253A-6F34464650D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BFCFA09-0061-4F5D-B7DD-108131FEF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Decorator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6B8A5BA-CD15-4A2A-81E9-83CDD93F3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fr-BE"/>
              <a:t>Utilité : Ajouter des fonctionnalités à un objet. </a:t>
            </a:r>
          </a:p>
          <a:p>
            <a:pPr lvl="1"/>
            <a:r>
              <a:rPr lang="fr-BE"/>
              <a:t>Par ex. lors du développement d'une nouvelle version d'un module</a:t>
            </a:r>
          </a:p>
          <a:p>
            <a:r>
              <a:rPr lang="fr-BE"/>
              <a:t>Il faut savoir qu'en Python</a:t>
            </a:r>
          </a:p>
          <a:p>
            <a:pPr lvl="1"/>
            <a:r>
              <a:rPr lang="fr-BE"/>
              <a:t>Une fonction peut être passée en argument à une autre fonction.</a:t>
            </a:r>
          </a:p>
          <a:p>
            <a:pPr lvl="1"/>
            <a:r>
              <a:rPr lang="fr-BE"/>
              <a:t>On peut définir une fonction à l'intérieur d'une autre fonction.</a:t>
            </a:r>
          </a:p>
          <a:p>
            <a:pPr lvl="1"/>
            <a:r>
              <a:rPr lang="fr-BE"/>
              <a:t>Une fonction peut retourner une autre fonction.</a:t>
            </a:r>
          </a:p>
          <a:p>
            <a:r>
              <a:rPr lang="fr-BE">
                <a:solidFill>
                  <a:schemeClr val="accent2"/>
                </a:solidFill>
              </a:rPr>
              <a:t>Décorateur en Python </a:t>
            </a:r>
          </a:p>
          <a:p>
            <a:pPr lvl="1"/>
            <a:r>
              <a:rPr lang="fr-BE"/>
              <a:t>Fonction recevant une autre fonction en argument</a:t>
            </a:r>
          </a:p>
          <a:p>
            <a:pPr lvl="1"/>
            <a:r>
              <a:rPr lang="fr-BE"/>
              <a:t>Comportement de la fonction argument </a:t>
            </a:r>
            <a:r>
              <a:rPr lang="fr-BE">
                <a:solidFill>
                  <a:schemeClr val="accent2"/>
                </a:solidFill>
              </a:rPr>
              <a:t>étendu</a:t>
            </a:r>
            <a:r>
              <a:rPr lang="fr-BE"/>
              <a:t> par le décorateur </a:t>
            </a:r>
          </a:p>
          <a:p>
            <a:r>
              <a:rPr lang="fr-BE"/>
              <a:t>Syntaxe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@decorator</a:t>
            </a:r>
          </a:p>
        </p:txBody>
      </p:sp>
    </p:spTree>
    <p:extLst>
      <p:ext uri="{BB962C8B-B14F-4D97-AF65-F5344CB8AC3E}">
        <p14:creationId xmlns:p14="http://schemas.microsoft.com/office/powerpoint/2010/main" val="367771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BFCFA09-0061-4F5D-B7DD-108131FEF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Decorator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6B8A5BA-CD15-4A2A-81E9-83CDD93F3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Exo 17-01-05</a:t>
            </a:r>
          </a:p>
          <a:p>
            <a:r>
              <a:rPr lang="fr-BE"/>
              <a:t>Référence</a:t>
            </a:r>
          </a:p>
          <a:p>
            <a:pPr lvl="1"/>
            <a:r>
              <a:rPr lang="fr-BE">
                <a:hlinkClick r:id="rId2"/>
              </a:rPr>
              <a:t>https://www.tutorialsteacher.com/python/decorators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0209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5CA7AA-3A8F-4617-854B-C75F5057D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Decorator :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@classmethod</a:t>
            </a:r>
            <a:endParaRPr lang="fr-BE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7F5AAA-0FBC-48C5-886F-C5D245F005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Utilité : Pouvoir appeler une méthode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MethodName</a:t>
            </a:r>
            <a:r>
              <a:rPr lang="fr-BE"/>
              <a:t> </a:t>
            </a:r>
            <a:r>
              <a:rPr lang="fr-BE">
                <a:solidFill>
                  <a:schemeClr val="accent2"/>
                </a:solidFill>
              </a:rPr>
              <a:t>sans créer </a:t>
            </a:r>
            <a:r>
              <a:rPr lang="fr-BE"/>
              <a:t>l'objet de classe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ClassName</a:t>
            </a:r>
            <a:endParaRPr lang="fr-BE"/>
          </a:p>
          <a:p>
            <a:pPr lvl="1"/>
            <a:r>
              <a:rPr lang="fr-BE"/>
              <a:t>Syntaxe pour la déclaration</a:t>
            </a:r>
          </a:p>
          <a:p>
            <a:pPr marL="1793875" lvl="2" indent="0">
              <a:buNone/>
              <a:tabLst>
                <a:tab pos="1793875" algn="l"/>
              </a:tabLst>
            </a:pPr>
            <a:r>
              <a:rPr lang="en-US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@classmethod</a:t>
            </a:r>
            <a:br>
              <a:rPr lang="en-US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MethodName():</a:t>
            </a:r>
          </a:p>
          <a:p>
            <a:pPr marL="1793875" lvl="2" indent="0">
              <a:buNone/>
              <a:tabLst>
                <a:tab pos="1793875" algn="l"/>
              </a:tabLst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pPr lvl="1"/>
            <a:r>
              <a:rPr lang="fr-BE"/>
              <a:t>Syntaxe pour l'appel</a:t>
            </a:r>
          </a:p>
          <a:p>
            <a:pPr marL="1793875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ClassName.MethodName()</a:t>
            </a:r>
          </a:p>
          <a:p>
            <a:r>
              <a:rPr lang="fr-BE"/>
              <a:t>Remarque</a:t>
            </a:r>
          </a:p>
          <a:p>
            <a:pPr lvl="1"/>
            <a:r>
              <a:rPr lang="fr-BE"/>
              <a:t>alternative à la fonction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classmethod()</a:t>
            </a:r>
            <a:r>
              <a:rPr lang="fr-BE"/>
              <a:t> (obsolète)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8042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5CA7AA-3A8F-4617-854B-C75F5057D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Decorator :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@classmethod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7F5AAA-0FBC-48C5-886F-C5D245F005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Décorateur d'une méthode de classe, p.ex.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MethodName</a:t>
            </a:r>
            <a:endParaRPr lang="fr-BE"/>
          </a:p>
          <a:p>
            <a:pPr lvl="1"/>
            <a:r>
              <a:rPr lang="fr-BE"/>
              <a:t>Souvent d'une classe abstraite</a:t>
            </a:r>
          </a:p>
          <a:p>
            <a:r>
              <a:rPr lang="fr-BE"/>
              <a:t>Premier paramètre :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cls</a:t>
            </a:r>
          </a:p>
          <a:p>
            <a:pPr lvl="1"/>
            <a:r>
              <a:rPr lang="fr-BE"/>
              <a:t>utilisé pour accéder aux attributs de classe</a:t>
            </a:r>
          </a:p>
          <a:p>
            <a:r>
              <a:rPr lang="fr-BE"/>
              <a:t>Accès uniquement aux attributs de classe</a:t>
            </a:r>
          </a:p>
          <a:p>
            <a:pPr lvl="1"/>
            <a:r>
              <a:rPr lang="fr-BE"/>
              <a:t>non aux attributs d'instance</a:t>
            </a:r>
          </a:p>
          <a:p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MethodName</a:t>
            </a:r>
            <a:r>
              <a:rPr lang="fr-BE"/>
              <a:t> peut retourner un objet de la classe.</a:t>
            </a:r>
          </a:p>
          <a:p>
            <a:pPr lvl="1"/>
            <a:r>
              <a:rPr lang="fr-BE"/>
              <a:t>Application remarquable à certains design patterns : Factory, Singleton, …</a:t>
            </a:r>
          </a:p>
        </p:txBody>
      </p:sp>
    </p:spTree>
    <p:extLst>
      <p:ext uri="{BB962C8B-B14F-4D97-AF65-F5344CB8AC3E}">
        <p14:creationId xmlns:p14="http://schemas.microsoft.com/office/powerpoint/2010/main" val="287084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BFCFA09-0061-4F5D-B7DD-108131FEF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Decorator : </a:t>
            </a:r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@classmethod</a:t>
            </a:r>
            <a:endParaRPr lang="fr-BE" b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6B8A5BA-CD15-4A2A-81E9-83CDD93F3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Exo 17-01-07, 17-01-08</a:t>
            </a:r>
          </a:p>
          <a:p>
            <a:r>
              <a:rPr lang="fr-BE"/>
              <a:t>Remarques:</a:t>
            </a:r>
          </a:p>
          <a:p>
            <a:pPr lvl="1"/>
            <a:r>
              <a:rPr lang="fr-BE"/>
              <a:t>Les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@classmethod</a:t>
            </a:r>
            <a:r>
              <a:rPr lang="fr-BE"/>
              <a:t> ne peuvent manipuler que les attributs de classe, pas les attributs d'objet.</a:t>
            </a:r>
          </a:p>
          <a:p>
            <a:r>
              <a:rPr lang="fr-BE"/>
              <a:t>Référence</a:t>
            </a:r>
          </a:p>
          <a:p>
            <a:pPr lvl="1"/>
            <a:r>
              <a:rPr lang="fr-BE">
                <a:hlinkClick r:id="rId2"/>
              </a:rPr>
              <a:t>https://www.tutorialsteacher.com/python/classmethod-decorator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73265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C3C1E3-87E0-ECDB-9EE2-BB1C75BDF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BE"/>
              <a:t>Remarque : décorateurs </a:t>
            </a:r>
            <a:br>
              <a:rPr lang="fr-BE"/>
            </a:b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@classmethod</a:t>
            </a:r>
            <a:r>
              <a:rPr lang="fr-BE"/>
              <a:t> vs.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@staticmethod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24C8667-A1C1-5C0E-852B-DAD08EE03F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/>
          <a:lstStyle/>
          <a:p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@classmethod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5F1D7A4-FA8B-26D0-F37F-0B235E5848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1er argument : cls</a:t>
            </a:r>
          </a:p>
          <a:p>
            <a:r>
              <a:rPr lang="en-US"/>
              <a:t>accès en lecture et en écriture aux attributs de la classe </a:t>
            </a:r>
          </a:p>
          <a:p>
            <a:r>
              <a:rPr lang="en-US"/>
              <a:t>application</a:t>
            </a:r>
          </a:p>
          <a:p>
            <a:pPr lvl="1"/>
            <a:r>
              <a:rPr lang="en-US"/>
              <a:t>modification des attributs de la classe</a:t>
            </a:r>
          </a:p>
          <a:p>
            <a:pPr lvl="1"/>
            <a:r>
              <a:rPr lang="en-US"/>
              <a:t>générateur d'objet (cf design pattern "factory")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F27DF88A-3F74-47D1-1C73-75113A28F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/>
          <a:lstStyle/>
          <a:p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@staticmethod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96F44F9D-D9C3-85F8-48B4-DE63377071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>
            <a:normAutofit lnSpcReduction="10000"/>
          </a:bodyPr>
          <a:lstStyle/>
          <a:p>
            <a:r>
              <a:rPr lang="fr-BE"/>
              <a:t>pas de 1er argument spécifique</a:t>
            </a:r>
          </a:p>
          <a:p>
            <a:r>
              <a:rPr lang="en-US"/>
              <a:t>aucun accès aux attributs de la classe </a:t>
            </a:r>
          </a:p>
          <a:p>
            <a:r>
              <a:rPr lang="en-US"/>
              <a:t>application : </a:t>
            </a:r>
          </a:p>
          <a:p>
            <a:pPr lvl="1"/>
            <a:r>
              <a:rPr lang="en-US"/>
              <a:t>tâche utilitaire </a:t>
            </a:r>
          </a:p>
          <a:p>
            <a:pPr lvl="1"/>
            <a:r>
              <a:rPr lang="en-US"/>
              <a:t>calcul </a:t>
            </a:r>
          </a:p>
          <a:p>
            <a:endParaRPr lang="en-US" dirty="0"/>
          </a:p>
          <a:p>
            <a:endParaRPr lang="en-US" dirty="0"/>
          </a:p>
          <a:p>
            <a:endParaRPr lang="fr-BE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C0A4520-4A1D-0150-DFA1-C8CEC6EE2C18}"/>
              </a:ext>
            </a:extLst>
          </p:cNvPr>
          <p:cNvSpPr txBox="1"/>
          <p:nvPr/>
        </p:nvSpPr>
        <p:spPr>
          <a:xfrm>
            <a:off x="753940" y="6396335"/>
            <a:ext cx="10007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>
                <a:solidFill>
                  <a:schemeClr val="bg1">
                    <a:lumMod val="50000"/>
                  </a:schemeClr>
                </a:solidFill>
                <a:latin typeface="Garamond" panose="02020404030301010803" pitchFamily="18" charset="0"/>
              </a:rPr>
              <a:t>https://www.tutorialspoint.com/class-method-vs-static-method-in-python</a:t>
            </a:r>
          </a:p>
        </p:txBody>
      </p:sp>
    </p:spTree>
    <p:extLst>
      <p:ext uri="{BB962C8B-B14F-4D97-AF65-F5344CB8AC3E}">
        <p14:creationId xmlns:p14="http://schemas.microsoft.com/office/powerpoint/2010/main" val="2721266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C3C1E3-87E0-ECDB-9EE2-BB1C75BDF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Remarque : décorateurs </a:t>
            </a:r>
            <a:br>
              <a:rPr lang="fr-BE"/>
            </a:b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@classmethod</a:t>
            </a:r>
            <a:r>
              <a:rPr lang="fr-BE"/>
              <a:t> vs.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@staticmethod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5F1D7A4-FA8B-26D0-F37F-0B235E5848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53749" cy="3603625"/>
          </a:xfrm>
        </p:spPr>
        <p:txBody>
          <a:bodyPr numCol="2" spcCol="180000"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class Employee: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__min_age = 25</a:t>
            </a:r>
          </a:p>
          <a:p>
            <a:pPr marL="0" indent="0">
              <a:spcBef>
                <a:spcPts val="0"/>
              </a:spcBef>
              <a:buNone/>
            </a:pPr>
            <a:endParaRPr lang="en-US" sz="1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def __init__(self, name, age):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self.name = name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self.age = age</a:t>
            </a:r>
          </a:p>
          <a:p>
            <a:pPr marL="0" indent="0">
              <a:spcBef>
                <a:spcPts val="0"/>
              </a:spcBef>
              <a:buNone/>
            </a:pPr>
            <a:endParaRPr lang="en-US" sz="1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@staticmethod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def isAdult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(age)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if 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age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&gt; 18: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   return True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else: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   return False</a:t>
            </a:r>
          </a:p>
          <a:p>
            <a:pPr marL="0" indent="0">
              <a:spcBef>
                <a:spcPts val="0"/>
              </a:spcBef>
              <a:buNone/>
            </a:pPr>
            <a:endParaRPr lang="en-US" sz="1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   @classmethod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def factory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(cls, name, year)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current_age = today().year - 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year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if 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cls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.isAdult(current_age)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   and current_age &gt;= 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cls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.__min_age: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   return 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cls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name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,current_age)</a:t>
            </a:r>
          </a:p>
          <a:p>
            <a:pPr marL="0" indent="0">
              <a:spcBef>
                <a:spcPts val="0"/>
              </a:spcBef>
              <a:buNone/>
            </a:pPr>
            <a:endParaRPr lang="en-US" sz="1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   @classmethod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def set_age_to_work(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cls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, new_age):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      cls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.__min_age = 18</a:t>
            </a:r>
          </a:p>
        </p:txBody>
      </p:sp>
    </p:spTree>
    <p:extLst>
      <p:ext uri="{BB962C8B-B14F-4D97-AF65-F5344CB8AC3E}">
        <p14:creationId xmlns:p14="http://schemas.microsoft.com/office/powerpoint/2010/main" val="947196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>
            <a:extLst>
              <a:ext uri="{FF2B5EF4-FFF2-40B4-BE49-F238E27FC236}">
                <a16:creationId xmlns:a16="http://schemas.microsoft.com/office/drawing/2014/main" id="{E3F96A23-0E72-44CB-ADC1-9B82A4D7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Chapitre 17-02 : Factory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C391F885-F486-4A84-88A9-A1551149C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Design Pattern créateur</a:t>
            </a:r>
          </a:p>
        </p:txBody>
      </p:sp>
      <p:sp>
        <p:nvSpPr>
          <p:cNvPr id="2" name="Espace réservé pour une image  1">
            <a:extLst>
              <a:ext uri="{FF2B5EF4-FFF2-40B4-BE49-F238E27FC236}">
                <a16:creationId xmlns:a16="http://schemas.microsoft.com/office/drawing/2014/main" id="{EBD8C7B2-C055-38A8-C502-86D6C57B3A6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fr-BE"/>
              <a:t> Design Pattern : Factory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CBBABB2C-54AE-4A0D-8432-C8EBB97C5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Utilité : </a:t>
            </a:r>
            <a:r>
              <a:rPr lang="fr-BE">
                <a:solidFill>
                  <a:schemeClr val="accent2"/>
                </a:solidFill>
              </a:rPr>
              <a:t>Créer une instance </a:t>
            </a:r>
            <a:r>
              <a:rPr lang="fr-BE"/>
              <a:t>à partir d'une famille de classes. </a:t>
            </a:r>
          </a:p>
          <a:p>
            <a:pPr lvl="1"/>
            <a:r>
              <a:rPr lang="fr-BE"/>
              <a:t>Isolement du processus de création d'un objet</a:t>
            </a:r>
          </a:p>
          <a:p>
            <a:pPr lvl="1"/>
            <a:r>
              <a:rPr lang="fr-BE"/>
              <a:t>En pratique, quand la création d'un objet et le choix de la classe adaptée est complexe, par ex. quand elle dépend de nombreux paramètres</a:t>
            </a:r>
          </a:p>
          <a:p>
            <a:pPr lvl="1"/>
            <a:r>
              <a:rPr lang="fr-BE"/>
              <a:t>Code simplifié, réutilisable et facile à entretenir.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fr-BE"/>
              <a:t> Design Pattern : Factory 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CBBABB2C-54AE-4A0D-8432-C8EBB97C5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Implantation </a:t>
            </a:r>
          </a:p>
          <a:p>
            <a:pPr lvl="1"/>
            <a:r>
              <a:rPr lang="fr-BE"/>
              <a:t>Via la 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factory() </a:t>
            </a:r>
          </a:p>
          <a:p>
            <a:pPr lvl="1"/>
            <a:r>
              <a:rPr lang="fr-BE"/>
              <a:t>Elle crée l'objet sur base</a:t>
            </a:r>
          </a:p>
          <a:p>
            <a:pPr lvl="2"/>
            <a:r>
              <a:rPr lang="fr-BE"/>
              <a:t>des paramètres fournis </a:t>
            </a:r>
          </a:p>
          <a:p>
            <a:pPr lvl="2"/>
            <a:r>
              <a:rPr lang="fr-BE"/>
              <a:t>de l'algorithme contenu dans la méthode </a:t>
            </a:r>
          </a:p>
          <a:p>
            <a:pPr lvl="1"/>
            <a:r>
              <a:rPr lang="fr-BE"/>
              <a:t>Elle retourne l'objet. </a:t>
            </a:r>
          </a:p>
          <a:p>
            <a:pPr lvl="1"/>
            <a:r>
              <a:rPr lang="fr-BE"/>
              <a:t>Méthode </a:t>
            </a:r>
            <a:r>
              <a:rPr lang="fr-BE" dirty="0"/>
              <a:t>statique, appelable depuis </a:t>
            </a:r>
            <a:r>
              <a:rPr lang="fr-BE"/>
              <a:t>la classe parente</a:t>
            </a:r>
          </a:p>
          <a:p>
            <a:pPr lvl="2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@classmethod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169050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ACBFEB-1FD3-4A74-8CD5-8DC675F41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17-02-05 : translator (sample)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1B64058-746A-4D62-92FF-49E9C5033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class </a:t>
            </a:r>
            <a:r>
              <a:rPr lang="fr-BE" b="1">
                <a:solidFill>
                  <a:schemeClr val="accent5"/>
                </a:solidFill>
                <a:latin typeface="Courier New" panose="02070309020205020404" pitchFamily="49" charset="0"/>
              </a:rPr>
              <a:t>Translator</a:t>
            </a: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	</a:t>
            </a: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</a:rPr>
              <a:t>@classmethod</a:t>
            </a:r>
          </a:p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	def </a:t>
            </a: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</a:rPr>
              <a:t>factory</a:t>
            </a: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(cls, language="English"):</a:t>
            </a:r>
          </a:p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		</a:t>
            </a:r>
            <a:r>
              <a:rPr lang="fr-BE" b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</a:rPr>
              <a:t>"""Factory Method"""</a:t>
            </a:r>
          </a:p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		…</a:t>
            </a:r>
          </a:p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		</a:t>
            </a: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</a:rPr>
              <a:t>return a_given_object</a:t>
            </a:r>
          </a:p>
          <a:p>
            <a:pPr marL="0" indent="0">
              <a:buNone/>
            </a:pPr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BE" b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</a:rPr>
              <a:t># MAIN </a:t>
            </a:r>
          </a:p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f = </a:t>
            </a:r>
            <a:r>
              <a:rPr lang="fr-BE" b="1">
                <a:solidFill>
                  <a:schemeClr val="accent5"/>
                </a:solidFill>
                <a:latin typeface="Courier New" panose="02070309020205020404" pitchFamily="49" charset="0"/>
              </a:rPr>
              <a:t>Translator</a:t>
            </a: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.factory("French")</a:t>
            </a:r>
          </a:p>
        </p:txBody>
      </p:sp>
    </p:spTree>
    <p:extLst>
      <p:ext uri="{BB962C8B-B14F-4D97-AF65-F5344CB8AC3E}">
        <p14:creationId xmlns:p14="http://schemas.microsoft.com/office/powerpoint/2010/main" val="1818145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85FF7A-719F-4EC3-B5DF-78B47ED88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17-02-13 : quadrilatère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656E0A6-0BEA-4189-9DC9-72F4D1363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20450" cy="4351339"/>
          </a:xfrm>
        </p:spPr>
        <p:txBody>
          <a:bodyPr>
            <a:normAutofit fontScale="55000" lnSpcReduction="20000"/>
          </a:bodyPr>
          <a:lstStyle/>
          <a:p>
            <a:r>
              <a:rPr lang="fr-BE" dirty="0"/>
              <a:t>Partez du fichier </a:t>
            </a:r>
            <a:r>
              <a:rPr lang="fr-BE" dirty="0">
                <a:solidFill>
                  <a:schemeClr val="tx1"/>
                </a:solidFill>
                <a:latin typeface="Courier New" panose="02070309020205020404" pitchFamily="49" charset="0"/>
              </a:rPr>
              <a:t>17-02-13_quadrilateres_start</a:t>
            </a:r>
          </a:p>
          <a:p>
            <a:pPr lvl="1"/>
            <a:r>
              <a:rPr lang="fr-BE" dirty="0"/>
              <a:t>La fonction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</a:rPr>
              <a:t>dump</a:t>
            </a:r>
            <a:r>
              <a:rPr lang="fr-BE" dirty="0"/>
              <a:t> est fournie. </a:t>
            </a:r>
          </a:p>
          <a:p>
            <a:r>
              <a:rPr lang="fr-BE" dirty="0"/>
              <a:t>Implantez </a:t>
            </a:r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</a:rPr>
              <a:t>factory</a:t>
            </a:r>
            <a:r>
              <a:rPr lang="fr-BE" dirty="0"/>
              <a:t>.  Principe : </a:t>
            </a:r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</a:rPr>
              <a:t>factory</a:t>
            </a:r>
            <a:r>
              <a:rPr lang="fr-BE" dirty="0"/>
              <a:t> retournera un quadrilatère, un losange ou un parallélogramme en fonction des valeurs de la liste fournie par l'utilisateur (input). </a:t>
            </a:r>
          </a:p>
          <a:p>
            <a:pPr marL="0" indent="0">
              <a:buNone/>
            </a:pPr>
            <a:endParaRPr lang="fr-BE" b="1" dirty="0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BE" dirty="0">
                <a:solidFill>
                  <a:srgbClr val="A87236"/>
                </a:solidFill>
                <a:latin typeface="Consolas" panose="020B0609020204030204" pitchFamily="49" charset="0"/>
              </a:rPr>
              <a:t>shape1 = </a:t>
            </a:r>
            <a:r>
              <a:rPr lang="fr-BE" dirty="0" err="1">
                <a:solidFill>
                  <a:srgbClr val="A87236"/>
                </a:solidFill>
                <a:latin typeface="Consolas" panose="020B0609020204030204" pitchFamily="49" charset="0"/>
              </a:rPr>
              <a:t>Quadrilatere.</a:t>
            </a:r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</a:rPr>
              <a:t>factory</a:t>
            </a:r>
            <a:r>
              <a:rPr lang="fr-BE" dirty="0">
                <a:solidFill>
                  <a:srgbClr val="A87236"/>
                </a:solidFill>
                <a:latin typeface="Consolas" panose="020B0609020204030204" pitchFamily="49" charset="0"/>
              </a:rPr>
              <a:t>([ 10, 15, 20, 25 ])</a:t>
            </a:r>
          </a:p>
          <a:p>
            <a:pPr marL="0" indent="0">
              <a:buNone/>
            </a:pPr>
            <a:r>
              <a:rPr lang="fr-BE" dirty="0">
                <a:solidFill>
                  <a:srgbClr val="A87236"/>
                </a:solidFill>
                <a:latin typeface="Consolas" panose="020B0609020204030204" pitchFamily="49" charset="0"/>
              </a:rPr>
              <a:t>dump(shape1, "*** shape1") </a:t>
            </a:r>
            <a:r>
              <a:rPr lang="fr-BE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quadrilatère </a:t>
            </a:r>
          </a:p>
          <a:p>
            <a:pPr marL="0" indent="0">
              <a:buNone/>
            </a:pPr>
            <a:endParaRPr lang="fr-BE" dirty="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 dirty="0">
                <a:solidFill>
                  <a:srgbClr val="A87236"/>
                </a:solidFill>
                <a:latin typeface="Consolas" panose="020B0609020204030204" pitchFamily="49" charset="0"/>
              </a:rPr>
              <a:t>shape2 = </a:t>
            </a:r>
            <a:r>
              <a:rPr lang="fr-BE" dirty="0" err="1">
                <a:solidFill>
                  <a:srgbClr val="A87236"/>
                </a:solidFill>
                <a:latin typeface="Consolas" panose="020B0609020204030204" pitchFamily="49" charset="0"/>
              </a:rPr>
              <a:t>Quadrilatere.</a:t>
            </a:r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</a:rPr>
              <a:t>factory</a:t>
            </a:r>
            <a:r>
              <a:rPr lang="fr-BE" dirty="0">
                <a:solidFill>
                  <a:srgbClr val="A87236"/>
                </a:solidFill>
                <a:latin typeface="Consolas" panose="020B0609020204030204" pitchFamily="49" charset="0"/>
              </a:rPr>
              <a:t>([ 5, 5, 5, 5 ])</a:t>
            </a:r>
          </a:p>
          <a:p>
            <a:pPr marL="0" indent="0">
              <a:buNone/>
            </a:pPr>
            <a:r>
              <a:rPr lang="fr-BE" dirty="0">
                <a:solidFill>
                  <a:srgbClr val="A87236"/>
                </a:solidFill>
                <a:latin typeface="Consolas" panose="020B0609020204030204" pitchFamily="49" charset="0"/>
              </a:rPr>
              <a:t>dump(shape2, "*** shape2") </a:t>
            </a:r>
            <a:r>
              <a:rPr lang="fr-BE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losange</a:t>
            </a:r>
          </a:p>
          <a:p>
            <a:pPr marL="0" indent="0">
              <a:buNone/>
            </a:pPr>
            <a:endParaRPr lang="fr-BE" dirty="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 dirty="0">
                <a:solidFill>
                  <a:srgbClr val="A87236"/>
                </a:solidFill>
                <a:latin typeface="Consolas" panose="020B0609020204030204" pitchFamily="49" charset="0"/>
              </a:rPr>
              <a:t>shape3 = </a:t>
            </a:r>
            <a:r>
              <a:rPr lang="fr-BE" dirty="0" err="1">
                <a:solidFill>
                  <a:srgbClr val="A87236"/>
                </a:solidFill>
                <a:latin typeface="Consolas" panose="020B0609020204030204" pitchFamily="49" charset="0"/>
              </a:rPr>
              <a:t>Quadrilatere.</a:t>
            </a:r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</a:rPr>
              <a:t>factory</a:t>
            </a:r>
            <a:r>
              <a:rPr lang="fr-BE" dirty="0">
                <a:solidFill>
                  <a:srgbClr val="A87236"/>
                </a:solidFill>
                <a:latin typeface="Consolas" panose="020B0609020204030204" pitchFamily="49" charset="0"/>
              </a:rPr>
              <a:t>([ 5, 15, 5, 15 ])</a:t>
            </a:r>
          </a:p>
          <a:p>
            <a:pPr marL="0" indent="0">
              <a:buNone/>
            </a:pPr>
            <a:r>
              <a:rPr lang="fr-BE" dirty="0">
                <a:solidFill>
                  <a:srgbClr val="A87236"/>
                </a:solidFill>
                <a:latin typeface="Consolas" panose="020B0609020204030204" pitchFamily="49" charset="0"/>
              </a:rPr>
              <a:t>dump(shape3, "*** shape3") </a:t>
            </a:r>
            <a:r>
              <a:rPr lang="fr-BE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parallélogramme </a:t>
            </a:r>
          </a:p>
        </p:txBody>
      </p:sp>
    </p:spTree>
    <p:extLst>
      <p:ext uri="{BB962C8B-B14F-4D97-AF65-F5344CB8AC3E}">
        <p14:creationId xmlns:p14="http://schemas.microsoft.com/office/powerpoint/2010/main" val="2179546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85FF7A-719F-4EC3-B5DF-78B47ED88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17-02-14 : formes géométriques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656E0A6-0BEA-4189-9DC9-72F4D1363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20450" cy="4351339"/>
          </a:xfrm>
        </p:spPr>
        <p:txBody>
          <a:bodyPr>
            <a:normAutofit fontScale="47500" lnSpcReduction="20000"/>
          </a:bodyPr>
          <a:lstStyle/>
          <a:p>
            <a:r>
              <a:rPr lang="fr-BE"/>
              <a:t>Partez du fichier </a:t>
            </a:r>
            <a:r>
              <a:rPr lang="fr-BE">
                <a:solidFill>
                  <a:schemeClr val="tx1"/>
                </a:solidFill>
                <a:latin typeface="Courier New" panose="02070309020205020404" pitchFamily="49" charset="0"/>
              </a:rPr>
              <a:t>17-02-14_shapes_start</a:t>
            </a:r>
          </a:p>
          <a:p>
            <a:r>
              <a:rPr lang="fr-BE"/>
              <a:t>Implantez les méthodes et le factory répondant à l'usage donné.</a:t>
            </a:r>
          </a:p>
          <a:p>
            <a:r>
              <a:rPr lang="fr-BE"/>
              <a:t>Les paramètres (longueurs, etc.) sont donnés en input par l'utilisateur.</a:t>
            </a:r>
          </a:p>
          <a:p>
            <a:pPr marL="0" indent="0">
              <a:buNone/>
            </a:pPr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shape_name = input("Enter the name of the shape: ")</a:t>
            </a: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shape = Shape.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factory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(shape_name)</a:t>
            </a:r>
          </a:p>
          <a:p>
            <a:pPr marL="0" indent="0">
              <a:buNone/>
            </a:pPr>
            <a:endParaRPr lang="en-US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print("The type of object created: {}"</a:t>
            </a:r>
            <a:b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</a:b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	.format(type(shape)))</a:t>
            </a:r>
          </a:p>
          <a:p>
            <a:pPr marL="0" indent="0">
              <a:buNone/>
            </a:pPr>
            <a:endParaRPr lang="en-US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print("The area of the {} is {}:"</a:t>
            </a:r>
            <a:b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</a:b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	.format(shape_name, shape.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calculate_area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()))</a:t>
            </a:r>
          </a:p>
          <a:p>
            <a:pPr marL="0" indent="0">
              <a:buNone/>
            </a:pPr>
            <a:endParaRPr lang="en-US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print("The perimeter of the {} is: {}"</a:t>
            </a:r>
            <a:b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</a:b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	.format(shape_name, shape.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calculate_perimeter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()))</a:t>
            </a:r>
          </a:p>
        </p:txBody>
      </p:sp>
    </p:spTree>
    <p:extLst>
      <p:ext uri="{BB962C8B-B14F-4D97-AF65-F5344CB8AC3E}">
        <p14:creationId xmlns:p14="http://schemas.microsoft.com/office/powerpoint/2010/main" val="2621214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>
            <a:extLst>
              <a:ext uri="{FF2B5EF4-FFF2-40B4-BE49-F238E27FC236}">
                <a16:creationId xmlns:a16="http://schemas.microsoft.com/office/drawing/2014/main" id="{E3F96A23-0E72-44CB-ADC1-9B82A4D7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Chapitre 17-13 : Iterator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C391F885-F486-4A84-88A9-A1551149C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Design Pattern comportemental</a:t>
            </a:r>
          </a:p>
        </p:txBody>
      </p:sp>
      <p:sp>
        <p:nvSpPr>
          <p:cNvPr id="2" name="Espace réservé pour une image  1">
            <a:extLst>
              <a:ext uri="{FF2B5EF4-FFF2-40B4-BE49-F238E27FC236}">
                <a16:creationId xmlns:a16="http://schemas.microsoft.com/office/drawing/2014/main" id="{23CF3F7F-4F94-0109-050A-98395A8BCE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72527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EEDE7D7-D3CF-4831-9500-7C14B08AD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Préalable : Generator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29B872C-9A88-4651-9D7E-6212AF7ED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0102"/>
            <a:ext cx="8763000" cy="4351339"/>
          </a:xfrm>
        </p:spPr>
        <p:txBody>
          <a:bodyPr>
            <a:normAutofit fontScale="55000" lnSpcReduction="20000"/>
          </a:bodyPr>
          <a:lstStyle/>
          <a:p>
            <a:r>
              <a:rPr lang="fr-BE"/>
              <a:t>Variante d'un itérateur classique (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for, while,</a:t>
            </a:r>
            <a:r>
              <a:rPr lang="fr-BE"/>
              <a:t> … )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BE"/>
              <a:t>Mais pas de stockage en mémoire des éléments</a:t>
            </a:r>
          </a:p>
          <a:p>
            <a:r>
              <a:rPr lang="fr-BE"/>
              <a:t>Dans une fonction : utiliser l'instruction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yield</a:t>
            </a:r>
            <a:r>
              <a:rPr lang="fr-BE"/>
              <a:t> </a:t>
            </a:r>
            <a:r>
              <a:rPr lang="fr-BE" dirty="0"/>
              <a:t>("céder</a:t>
            </a:r>
            <a:r>
              <a:rPr lang="fr-BE"/>
              <a:t>") et non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  <a:p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</a:p>
          <a:p>
            <a:pPr lvl="1"/>
            <a:r>
              <a:rPr lang="fr-BE"/>
              <a:t>Retourne un ensemble de valeurs</a:t>
            </a:r>
          </a:p>
          <a:p>
            <a:pPr lvl="1"/>
            <a:r>
              <a:rPr lang="fr-BE"/>
              <a:t>La fonction est terminée</a:t>
            </a:r>
          </a:p>
          <a:p>
            <a:pPr lvl="1"/>
            <a:r>
              <a:rPr lang="fr-BE"/>
              <a:t>L'ensemble des valeurs a dû être mis en mémoire</a:t>
            </a:r>
          </a:p>
          <a:p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Yield</a:t>
            </a:r>
          </a:p>
          <a:p>
            <a:pPr lvl="1"/>
            <a:r>
              <a:rPr lang="fr-BE"/>
              <a:t>Retourne une valeur</a:t>
            </a:r>
          </a:p>
          <a:p>
            <a:pPr lvl="1"/>
            <a:r>
              <a:rPr lang="fr-BE"/>
              <a:t>La fonction continue</a:t>
            </a:r>
          </a:p>
          <a:p>
            <a:pPr lvl="1"/>
            <a:r>
              <a:rPr lang="fr-BE"/>
              <a:t>La fonction retourne toutes les valeurs par "paquets", itérativement.</a:t>
            </a:r>
          </a:p>
          <a:p>
            <a:endParaRPr lang="fr-BE"/>
          </a:p>
          <a:p>
            <a:pPr marL="0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</a:rPr>
              <a:t>https://realpython.com/introduction-to-python-generators/</a:t>
            </a:r>
          </a:p>
          <a:p>
            <a:pPr lvl="1"/>
            <a:endParaRPr lang="fr-BE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75953F-4F08-439D-A411-CB43D4D50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0955" y="3788229"/>
            <a:ext cx="1661731" cy="1944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5BC8EDF4-2671-4A4B-8041-E982748FA3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0101943" y="2420515"/>
            <a:ext cx="1915885" cy="1367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0653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4F5F61-0D67-42D4-944F-3F3AF8ACC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Préalable : Generator : Exo 17-13-01 </a:t>
            </a:r>
            <a:br>
              <a:rPr lang="fr-BE"/>
            </a:br>
            <a:r>
              <a:rPr lang="fr-BE"/>
              <a:t>sample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C2BC26-9F03-4827-AC61-A20795275F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07931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fr-BE"/>
              <a:t>Défi : On veut se procurer des nombres pairs, sans se préoccuper de les calculer.</a:t>
            </a:r>
          </a:p>
          <a:p>
            <a:pPr marL="0" indent="0">
              <a:buNone/>
            </a:pPr>
            <a:endParaRPr lang="fr-BE"/>
          </a:p>
          <a:p>
            <a:pPr marL="3998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infinite_sequence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():</a:t>
            </a:r>
          </a:p>
          <a:p>
            <a:pPr marL="3998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num = 0</a:t>
            </a:r>
          </a:p>
          <a:p>
            <a:pPr marL="3998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while True:</a:t>
            </a:r>
          </a:p>
          <a:p>
            <a:pPr marL="399800" lvl="1" indent="0">
              <a:buNone/>
            </a:pP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yield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num</a:t>
            </a:r>
          </a:p>
          <a:p>
            <a:pPr marL="3998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	 num += 2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3998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 in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infinite_sequence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():</a:t>
            </a:r>
          </a:p>
          <a:p>
            <a:pPr marL="3998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print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(i, end=" ")</a:t>
            </a:r>
          </a:p>
          <a:p>
            <a:pPr marL="0" indent="0">
              <a:buNone/>
            </a:pPr>
            <a:r>
              <a:rPr lang="fr-BE"/>
              <a:t>Ou</a:t>
            </a:r>
          </a:p>
          <a:p>
            <a:pPr marL="399800" lvl="1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gen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infinite_sequence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en-US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gen : generator</a:t>
            </a:r>
            <a:endParaRPr lang="en-US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399800" lvl="1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next(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gen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0</a:t>
            </a:r>
          </a:p>
          <a:p>
            <a:pPr marL="399800" lvl="1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next(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gen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</a:t>
            </a:r>
            <a:r>
              <a:rPr lang="en-US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 …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Utile pour le debug en console</a:t>
            </a:r>
            <a:endParaRPr lang="fr-B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676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4F5F61-0D67-42D4-944F-3F3AF8ACC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Préalable : Generator : Exo 17-13-02</a:t>
            </a:r>
            <a:br>
              <a:rPr lang="fr-BE"/>
            </a:br>
            <a:r>
              <a:rPr lang="fr-BE"/>
              <a:t>application à la lecture d'un gros fichier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C2BC26-9F03-4827-AC61-A20795275F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4736042"/>
          </a:xfrm>
        </p:spPr>
        <p:txBody>
          <a:bodyPr>
            <a:normAutofit fontScale="85000" lnSpcReduction="20000"/>
          </a:bodyPr>
          <a:lstStyle/>
          <a:p>
            <a:pPr marL="482600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opening file using return</a:t>
            </a:r>
          </a:p>
          <a:p>
            <a:pPr marL="482600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=&gt; tout le contenu est retourné en un coup</a:t>
            </a:r>
          </a:p>
          <a:p>
            <a:pPr marL="4826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 csv_reader_1():</a:t>
            </a:r>
          </a:p>
          <a:p>
            <a:pPr marL="4826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file = open(fn)</a:t>
            </a:r>
          </a:p>
          <a:p>
            <a:pPr marL="4826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result = file.read().split("\n")</a:t>
            </a:r>
          </a:p>
          <a:p>
            <a:pPr marL="4826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result</a:t>
            </a:r>
          </a:p>
          <a:p>
            <a:pPr marL="482600" lvl="1" indent="0">
              <a:buNone/>
            </a:pP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82600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opening file using yield</a:t>
            </a:r>
          </a:p>
          <a:p>
            <a:pPr marL="482600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=&gt; le contenu est retourné ligne par ligne </a:t>
            </a:r>
          </a:p>
          <a:p>
            <a:pPr marL="482600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=&gt; gain en mémoire</a:t>
            </a:r>
          </a:p>
          <a:p>
            <a:pPr marL="4826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 csv_reader_2():</a:t>
            </a:r>
          </a:p>
          <a:p>
            <a:pPr marL="4826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for row in open(fn, "r"):</a:t>
            </a:r>
          </a:p>
          <a:p>
            <a:pPr marL="482600" lvl="1" indent="0">
              <a:buNone/>
            </a:pP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  yield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row</a:t>
            </a:r>
          </a:p>
        </p:txBody>
      </p:sp>
    </p:spTree>
    <p:extLst>
      <p:ext uri="{BB962C8B-B14F-4D97-AF65-F5344CB8AC3E}">
        <p14:creationId xmlns:p14="http://schemas.microsoft.com/office/powerpoint/2010/main" val="1166495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A75A0F-3AD4-4A4B-AA2D-F407696C2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Préalable : Generator : Exo 17-13-03 </a:t>
            </a:r>
            <a:br>
              <a:rPr lang="fr-BE"/>
            </a:br>
            <a:r>
              <a:rPr lang="fr-BE"/>
              <a:t>fonctions iter() et next()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DC37CA9-9715-42DD-A0CD-CF9BDF748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998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mytuple = ("apple", "banana", "cherry")</a:t>
            </a:r>
          </a:p>
          <a:p>
            <a:pPr marL="399800" lvl="1" indent="0">
              <a:buNone/>
            </a:pP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myit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iter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(mytuple)</a:t>
            </a: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 True:</a:t>
            </a: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try:</a:t>
            </a: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letter =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next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myit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except StopIteration:</a:t>
            </a: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break</a:t>
            </a: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print(letter)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0EC3C4D-42D9-4E0F-804A-61D34C190C92}"/>
              </a:ext>
            </a:extLst>
          </p:cNvPr>
          <p:cNvSpPr txBox="1"/>
          <p:nvPr/>
        </p:nvSpPr>
        <p:spPr>
          <a:xfrm>
            <a:off x="8439841" y="4218365"/>
            <a:ext cx="239484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sz="3200" i="1">
                <a:solidFill>
                  <a:srgbClr val="7F7F7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OUTPUT</a:t>
            </a:r>
          </a:p>
          <a:p>
            <a:r>
              <a:rPr lang="fr-BE" sz="3200" i="1">
                <a:solidFill>
                  <a:srgbClr val="7F7F7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apple</a:t>
            </a:r>
          </a:p>
          <a:p>
            <a:r>
              <a:rPr lang="fr-BE" sz="3200" i="1">
                <a:solidFill>
                  <a:srgbClr val="7F7F7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banana</a:t>
            </a:r>
          </a:p>
          <a:p>
            <a:r>
              <a:rPr lang="fr-BE" sz="3200" i="1">
                <a:solidFill>
                  <a:srgbClr val="7F7F7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cherry</a:t>
            </a:r>
          </a:p>
        </p:txBody>
      </p:sp>
    </p:spTree>
    <p:extLst>
      <p:ext uri="{BB962C8B-B14F-4D97-AF65-F5344CB8AC3E}">
        <p14:creationId xmlns:p14="http://schemas.microsoft.com/office/powerpoint/2010/main" val="1196694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2E0679-26B4-434E-8AFB-5BA93D613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Préalable : Generator : fonctions avancées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4F62DFB-B37C-43CA-AEDF-7E272791A6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yield</a:t>
            </a:r>
          </a:p>
          <a:p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.send()</a:t>
            </a:r>
          </a:p>
          <a:p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.throw()</a:t>
            </a:r>
          </a:p>
          <a:p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.close()</a:t>
            </a:r>
          </a:p>
        </p:txBody>
      </p:sp>
    </p:spTree>
    <p:extLst>
      <p:ext uri="{BB962C8B-B14F-4D97-AF65-F5344CB8AC3E}">
        <p14:creationId xmlns:p14="http://schemas.microsoft.com/office/powerpoint/2010/main" val="3163699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DCA14F-4D4C-4333-BE8A-11B88B690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Iterator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5A1AB59-6681-46C1-9B3C-9946D8E790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fr-BE"/>
              <a:t>Utilité : Accéder séquentiellement aux éléments d'un </a:t>
            </a:r>
            <a:r>
              <a:rPr lang="fr-BE">
                <a:solidFill>
                  <a:schemeClr val="accent2"/>
                </a:solidFill>
              </a:rPr>
              <a:t>objet agrégé</a:t>
            </a:r>
          </a:p>
          <a:p>
            <a:pPr marL="939800" lvl="1" indent="-457200">
              <a:buFont typeface="Arial" panose="020B0604020202020204" pitchFamily="34" charset="0"/>
              <a:buChar char="•"/>
            </a:pPr>
            <a:r>
              <a:rPr lang="fr-BE"/>
              <a:t>Sans exposer son implémentation</a:t>
            </a:r>
          </a:p>
          <a:p>
            <a:pPr marL="939800" lvl="1" indent="-457200">
              <a:buFont typeface="Arial" panose="020B0604020202020204" pitchFamily="34" charset="0"/>
              <a:buChar char="•"/>
            </a:pPr>
            <a:r>
              <a:rPr lang="fr-BE"/>
              <a:t>On parcourt les éléments des collections sans prendre en compte les détails approfondis des éléments. </a:t>
            </a:r>
          </a:p>
        </p:txBody>
      </p:sp>
      <p:pic>
        <p:nvPicPr>
          <p:cNvPr id="2050" name="Picture 2" descr="Lightbox">
            <a:extLst>
              <a:ext uri="{FF2B5EF4-FFF2-40B4-BE49-F238E27FC236}">
                <a16:creationId xmlns:a16="http://schemas.microsoft.com/office/drawing/2014/main" id="{F81DD48F-446B-4D53-9A08-CDF0107FC3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1197" y="1736116"/>
            <a:ext cx="6045031" cy="1411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Lightbox">
            <a:extLst>
              <a:ext uri="{FF2B5EF4-FFF2-40B4-BE49-F238E27FC236}">
                <a16:creationId xmlns:a16="http://schemas.microsoft.com/office/drawing/2014/main" id="{D3D868DA-85D2-445F-8802-6B7591C86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3777" y="3429000"/>
            <a:ext cx="3724275" cy="266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62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F24D9F-C676-4B92-B885-EA8641B70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Iterator</a:t>
            </a:r>
          </a:p>
        </p:txBody>
      </p:sp>
      <p:pic>
        <p:nvPicPr>
          <p:cNvPr id="3074" name="Picture 2" descr="Lightbox">
            <a:extLst>
              <a:ext uri="{FF2B5EF4-FFF2-40B4-BE49-F238E27FC236}">
                <a16:creationId xmlns:a16="http://schemas.microsoft.com/office/drawing/2014/main" id="{44A30209-3DA4-467D-AC2B-5848A5629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0688"/>
            <a:ext cx="9719348" cy="462121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8232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12FCCD-B49B-4ACC-8FFB-CEB33D3B1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Iterator : création 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11E771F-A92A-4125-9E96-3D1D9D981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__iter__()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fr-BE"/>
              <a:t>Pour initialiser l'iterator</a:t>
            </a:r>
          </a:p>
          <a:p>
            <a:pPr lvl="1"/>
            <a:r>
              <a:rPr lang="fr-BE"/>
              <a:t>Similaire à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__init__()</a:t>
            </a:r>
          </a:p>
          <a:p>
            <a:pPr lvl="1"/>
            <a:r>
              <a:rPr lang="fr-BE"/>
              <a:t>Retourne : l'objet (self) !</a:t>
            </a:r>
          </a:p>
          <a:p>
            <a:r>
              <a:rPr lang="fr-BE" dirty="0"/>
              <a:t>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__next__()</a:t>
            </a:r>
          </a:p>
          <a:p>
            <a:pPr lvl="1"/>
            <a:r>
              <a:rPr lang="fr-BE"/>
              <a:t>Pour atteindre l'élément suivant </a:t>
            </a:r>
          </a:p>
          <a:p>
            <a:pPr lvl="1"/>
            <a:r>
              <a:rPr lang="fr-BE"/>
              <a:t>Retourne : l'élément suivant de l'itération</a:t>
            </a:r>
          </a:p>
          <a:p>
            <a:pPr lvl="1"/>
            <a:r>
              <a:rPr lang="fr-BE"/>
              <a:t>Fin d'itération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raise StopIteration</a:t>
            </a:r>
          </a:p>
        </p:txBody>
      </p:sp>
    </p:spTree>
    <p:extLst>
      <p:ext uri="{BB962C8B-B14F-4D97-AF65-F5344CB8AC3E}">
        <p14:creationId xmlns:p14="http://schemas.microsoft.com/office/powerpoint/2010/main" val="37712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A6E0B5-1600-436B-BC49-454073C69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Iterator : Exo 17-13-06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06B2B2-7CD4-4E61-88DD-7314E10AE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032375"/>
          </a:xfrm>
        </p:spPr>
        <p:txBody>
          <a:bodyPr numCol="1">
            <a:normAutofit fontScale="47500" lnSpcReduction="20000"/>
          </a:bodyPr>
          <a:lstStyle/>
          <a:p>
            <a:pPr marL="0" indent="0">
              <a:buNone/>
            </a:pPr>
            <a:r>
              <a:rPr lang="en-US"/>
              <a:t>Ecrivez l'itérateur qui implante un compte à rebours.  Scénario 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initialization du CountDown à 5 </a:t>
            </a: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my_iter =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iter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(CountDown(5))</a:t>
            </a:r>
          </a:p>
          <a:p>
            <a:pPr marL="0" indent="0">
              <a:buNone/>
            </a:pPr>
            <a:endParaRPr lang="en-US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while True:</a:t>
            </a: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  try:</a:t>
            </a:r>
          </a:p>
          <a:p>
            <a:pPr marL="0" indent="0">
              <a:buNone/>
            </a:pPr>
            <a:r>
              <a:rPr lang="en-US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# iteration </a:t>
            </a: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    i =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next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(my_iter)</a:t>
            </a: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    print(i)</a:t>
            </a:r>
          </a:p>
          <a:p>
            <a:pPr marL="0" indent="0">
              <a:buNone/>
            </a:pPr>
            <a:endParaRPr lang="en-US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  except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StopIteration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# quand i atteint 0 </a:t>
            </a: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    print("Go !")</a:t>
            </a: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    break</a:t>
            </a:r>
            <a:endParaRPr lang="en-US">
              <a:latin typeface="Consolas" panose="020B0609020204030204" pitchFamily="49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0CF9653-177C-4127-ABBD-960B48AE50E5}"/>
              </a:ext>
            </a:extLst>
          </p:cNvPr>
          <p:cNvSpPr txBox="1"/>
          <p:nvPr/>
        </p:nvSpPr>
        <p:spPr>
          <a:xfrm>
            <a:off x="8680847" y="3314700"/>
            <a:ext cx="183951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3200" b="1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OUTPUT 4</a:t>
            </a:r>
          </a:p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3</a:t>
            </a:r>
          </a:p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2</a:t>
            </a:r>
          </a:p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1</a:t>
            </a:r>
          </a:p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Go !</a:t>
            </a:r>
          </a:p>
        </p:txBody>
      </p:sp>
    </p:spTree>
    <p:extLst>
      <p:ext uri="{BB962C8B-B14F-4D97-AF65-F5344CB8AC3E}">
        <p14:creationId xmlns:p14="http://schemas.microsoft.com/office/powerpoint/2010/main" val="1313568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A6E0B5-1600-436B-BC49-454073C69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Iterator : Exo 17-13-06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06B2B2-7CD4-4E61-88DD-7314E10AE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629" y="1825625"/>
            <a:ext cx="11903825" cy="4351339"/>
          </a:xfrm>
        </p:spPr>
        <p:txBody>
          <a:bodyPr numCol="2" spcCol="0"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class Counter:</a:t>
            </a:r>
          </a:p>
          <a:p>
            <a:pPr marL="0" indent="0">
              <a:buNone/>
            </a:pPr>
            <a:endParaRPr lang="en-US" sz="24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 __init__(self):</a:t>
            </a:r>
          </a:p>
          <a:p>
            <a:pPr marL="0" indent="0">
              <a:buNone/>
            </a:pPr>
            <a:r>
              <a:rPr lang="en-US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24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Constructor</a:t>
            </a:r>
          </a:p>
          <a:p>
            <a:pPr marL="0" indent="0">
              <a:buNone/>
            </a:pPr>
            <a:r>
              <a:rPr lang="en-US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...</a:t>
            </a:r>
          </a:p>
          <a:p>
            <a:pPr marL="0" indent="0">
              <a:buNone/>
            </a:pPr>
            <a:endParaRPr lang="en-US" sz="240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 __iter__(self):</a:t>
            </a:r>
          </a:p>
          <a:p>
            <a:pPr marL="0" indent="0">
              <a:buNone/>
            </a:pPr>
            <a:r>
              <a:rPr lang="en-US" sz="24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# creates iterator object</a:t>
            </a:r>
          </a:p>
          <a:p>
            <a:pPr marL="0" indent="0">
              <a:buNone/>
            </a:pPr>
            <a:r>
              <a:rPr lang="en-US" sz="24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self.__target = 0</a:t>
            </a:r>
          </a:p>
          <a:p>
            <a:pPr marL="0" indent="0">
              <a:buNone/>
            </a:pPr>
            <a:r>
              <a:rPr lang="en-US" sz="24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return self</a:t>
            </a:r>
          </a:p>
          <a:p>
            <a:pPr marL="0" indent="0">
              <a:buNone/>
            </a:pPr>
            <a:endParaRPr lang="en-US" sz="240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2400">
              <a:solidFill>
                <a:schemeClr val="accent2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 __next__(self):</a:t>
            </a:r>
          </a:p>
          <a:p>
            <a:pPr marL="0" indent="0">
              <a:buNone/>
            </a:pPr>
            <a:r>
              <a:rPr lang="en-US" sz="24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# move to next element</a:t>
            </a:r>
          </a:p>
          <a:p>
            <a:pPr marL="0" indent="0">
              <a:buNone/>
            </a:pPr>
            <a:endParaRPr lang="en-US" sz="240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# decrement</a:t>
            </a:r>
          </a:p>
          <a:p>
            <a:pPr marL="0" indent="0">
              <a:buNone/>
            </a:pPr>
            <a:r>
              <a:rPr lang="en-US" sz="2400">
                <a:solidFill>
                  <a:srgbClr val="A87236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self.__counter -= 1</a:t>
            </a:r>
          </a:p>
          <a:p>
            <a:pPr marL="0" indent="0">
              <a:buNone/>
            </a:pPr>
            <a:endParaRPr lang="en-US" sz="240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# Stop if target reached</a:t>
            </a:r>
          </a:p>
          <a:p>
            <a:pPr marL="0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if self.__counter &lt;= self.__target:</a:t>
            </a:r>
          </a:p>
          <a:p>
            <a:pPr marL="0" indent="0">
              <a:buNone/>
            </a:pPr>
            <a:r>
              <a:rPr lang="en-US" sz="2400">
                <a:solidFill>
                  <a:srgbClr val="A87236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raise StopIteration</a:t>
            </a:r>
          </a:p>
          <a:p>
            <a:pPr marL="0" indent="0">
              <a:buNone/>
            </a:pPr>
            <a:endParaRPr lang="en-US" sz="240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# Else return value</a:t>
            </a:r>
          </a:p>
          <a:p>
            <a:pPr marL="0" indent="0">
              <a:buNone/>
            </a:pPr>
            <a:r>
              <a:rPr lang="en-US" sz="24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return self.__counter</a:t>
            </a:r>
          </a:p>
        </p:txBody>
      </p:sp>
    </p:spTree>
    <p:extLst>
      <p:ext uri="{BB962C8B-B14F-4D97-AF65-F5344CB8AC3E}">
        <p14:creationId xmlns:p14="http://schemas.microsoft.com/office/powerpoint/2010/main" val="364781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538F23-1761-4911-A205-8950539CE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17-13-11 : feu de signalisation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8B3D0DD-ECAA-4BAF-B9E9-E9D235BEE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Partez de l'exo 17-13-11_start.py</a:t>
            </a:r>
          </a:p>
          <a:p>
            <a:r>
              <a:rPr lang="fr-BE" dirty="0"/>
              <a:t>Redesignez la classe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</a:rPr>
              <a:t>Light</a:t>
            </a:r>
            <a:r>
              <a:rPr lang="fr-BE" dirty="0"/>
              <a:t> avec le Design Pattern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Iterator</a:t>
            </a:r>
          </a:p>
          <a:p>
            <a:pPr lvl="1"/>
            <a:r>
              <a:rPr lang="fr-BE" dirty="0"/>
              <a:t>Méthode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iter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__() </a:t>
            </a:r>
          </a:p>
          <a:p>
            <a:pPr lvl="1"/>
            <a:r>
              <a:rPr lang="fr-BE" dirty="0"/>
              <a:t>Méthode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next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__()</a:t>
            </a:r>
          </a:p>
          <a:p>
            <a:pPr lvl="1"/>
            <a:r>
              <a:rPr lang="fr-BE" dirty="0"/>
              <a:t>Utilisation de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iter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fr-BE" dirty="0"/>
              <a:t>Utilisation de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next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fr-BE" dirty="0"/>
              <a:t>Quid de l'objet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feu01</a:t>
            </a:r>
            <a:r>
              <a:rPr lang="fr-BE" dirty="0"/>
              <a:t> ? </a:t>
            </a:r>
            <a:endParaRPr lang="fr-BE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0540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8E3914-FDA3-4BDE-84F5-B6A841A8E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17-13-24 : la jungle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9AF7726-C5DE-474C-A70F-B193FC5EA6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Partez de l'exo 17-13-24_jungle_start.py</a:t>
            </a:r>
          </a:p>
          <a:p>
            <a:r>
              <a:rPr lang="fr-BE"/>
              <a:t>Redesignez ce code avec le Design Pattern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Iterator</a:t>
            </a:r>
          </a:p>
          <a:p>
            <a:pPr lvl="1"/>
            <a:r>
              <a:rPr lang="fr-BE"/>
              <a:t>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__iter__() </a:t>
            </a:r>
          </a:p>
          <a:p>
            <a:pPr lvl="1"/>
            <a:r>
              <a:rPr lang="fr-BE"/>
              <a:t>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__next__()</a:t>
            </a:r>
          </a:p>
          <a:p>
            <a:pPr lvl="1"/>
            <a:r>
              <a:rPr lang="fr-BE"/>
              <a:t>Remplacez les méthodes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go()</a:t>
            </a:r>
          </a:p>
          <a:p>
            <a:pPr lvl="1"/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8451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Chapitre 17-16 : Observer</a:t>
            </a:r>
          </a:p>
        </p:txBody>
      </p:sp>
      <p:sp>
        <p:nvSpPr>
          <p:cNvPr id="60" name="Google Shape;60;p3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fr-BE"/>
              <a:t>Design Pattern comportemental</a:t>
            </a:r>
          </a:p>
          <a:p>
            <a:pPr lvl="0"/>
            <a:r>
              <a:rPr lang="fr-BE"/>
              <a:t>Notion d' "évènement"</a:t>
            </a:r>
          </a:p>
          <a:p>
            <a:pPr lvl="0"/>
            <a:r>
              <a:rPr lang="fr-BE"/>
              <a:t>Couplage entre objets : à minimiser </a:t>
            </a:r>
          </a:p>
        </p:txBody>
      </p:sp>
      <p:sp>
        <p:nvSpPr>
          <p:cNvPr id="2" name="Espace réservé pour une image  1">
            <a:extLst>
              <a:ext uri="{FF2B5EF4-FFF2-40B4-BE49-F238E27FC236}">
                <a16:creationId xmlns:a16="http://schemas.microsoft.com/office/drawing/2014/main" id="{3D01FC0D-DA39-333D-A5B2-1A8FD2A0743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38820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Police&#10;&#10;Description générée automatiquement">
            <a:extLst>
              <a:ext uri="{FF2B5EF4-FFF2-40B4-BE49-F238E27FC236}">
                <a16:creationId xmlns:a16="http://schemas.microsoft.com/office/drawing/2014/main" id="{05F98F35-D719-3FA6-2F57-BC71CC784C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954" y="0"/>
            <a:ext cx="97040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502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44F499-EA7B-846D-0CD6-328060790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Observer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50ABBC-4946-E038-167C-2FA3F03005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Motivation : </a:t>
            </a:r>
          </a:p>
          <a:p>
            <a:pPr lvl="1"/>
            <a:r>
              <a:rPr lang="fr-BE"/>
              <a:t>Prendre en compte le </a:t>
            </a:r>
            <a:r>
              <a:rPr lang="fr-BE">
                <a:solidFill>
                  <a:schemeClr val="accent2"/>
                </a:solidFill>
              </a:rPr>
              <a:t>couplage entre objets 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Réduire le couplage</a:t>
            </a:r>
            <a:r>
              <a:rPr lang="fr-BE"/>
              <a:t> (la dépendance) </a:t>
            </a:r>
            <a:r>
              <a:rPr lang="fr-BE">
                <a:solidFill>
                  <a:schemeClr val="accent2"/>
                </a:solidFill>
              </a:rPr>
              <a:t>entre objets </a:t>
            </a:r>
          </a:p>
          <a:p>
            <a:pPr lvl="1"/>
            <a:r>
              <a:rPr lang="fr-BE"/>
              <a:t>Rendre le code plus lisible et plus maintenable </a:t>
            </a:r>
          </a:p>
        </p:txBody>
      </p:sp>
    </p:spTree>
    <p:extLst>
      <p:ext uri="{BB962C8B-B14F-4D97-AF65-F5344CB8AC3E}">
        <p14:creationId xmlns:p14="http://schemas.microsoft.com/office/powerpoint/2010/main" val="2456674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Observer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Collaboration entre feu et voiture  </a:t>
            </a:r>
          </a:p>
          <a:p>
            <a:pPr lvl="1"/>
            <a:r>
              <a:rPr lang="fr-BE"/>
              <a:t>Rapprochons-nous de la réalité</a:t>
            </a:r>
          </a:p>
          <a:p>
            <a:pPr lvl="1"/>
            <a:r>
              <a:rPr lang="fr-BE"/>
              <a:t>Le feu envoie une notification (sa couleur) à la voiture</a:t>
            </a:r>
          </a:p>
          <a:p>
            <a:pPr lvl="1"/>
            <a:r>
              <a:rPr lang="fr-BE"/>
              <a:t>La voiture réagit en conséquence. </a:t>
            </a:r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34A869B8-9FA0-47D2-9AB1-DF299305BCA2}"/>
              </a:ext>
            </a:extLst>
          </p:cNvPr>
          <p:cNvGrpSpPr/>
          <p:nvPr/>
        </p:nvGrpSpPr>
        <p:grpSpPr>
          <a:xfrm>
            <a:off x="413709" y="4648777"/>
            <a:ext cx="2600932" cy="1977329"/>
            <a:chOff x="413709" y="4648777"/>
            <a:chExt cx="2600932" cy="1977329"/>
          </a:xfrm>
        </p:grpSpPr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A4CE9B8F-836F-4236-AF34-67AEEC8695F9}"/>
                </a:ext>
              </a:extLst>
            </p:cNvPr>
            <p:cNvSpPr/>
            <p:nvPr/>
          </p:nvSpPr>
          <p:spPr>
            <a:xfrm>
              <a:off x="2493053" y="4762083"/>
              <a:ext cx="147142" cy="147142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pic>
          <p:nvPicPr>
            <p:cNvPr id="12" name="Graphique 11" descr="Voiture avec un remplissage uni">
              <a:extLst>
                <a:ext uri="{FF2B5EF4-FFF2-40B4-BE49-F238E27FC236}">
                  <a16:creationId xmlns:a16="http://schemas.microsoft.com/office/drawing/2014/main" id="{2E330D32-C9BA-4A7C-ABFB-40A0489EE1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p:blipFill>
          <p:spPr>
            <a:xfrm>
              <a:off x="1172404" y="5906106"/>
              <a:ext cx="720000" cy="720000"/>
            </a:xfrm>
            <a:prstGeom prst="rect">
              <a:avLst/>
            </a:prstGeom>
          </p:spPr>
        </p:pic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096F9375-6FAE-41D3-A811-A2330AE1BEED}"/>
                </a:ext>
              </a:extLst>
            </p:cNvPr>
            <p:cNvCxnSpPr>
              <a:cxnSpLocks/>
            </p:cNvCxnSpPr>
            <p:nvPr/>
          </p:nvCxnSpPr>
          <p:spPr>
            <a:xfrm>
              <a:off x="413709" y="6542203"/>
              <a:ext cx="2600932" cy="0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0BA0855A-16A1-49C9-A613-3500DF97910F}"/>
                </a:ext>
              </a:extLst>
            </p:cNvPr>
            <p:cNvCxnSpPr>
              <a:cxnSpLocks/>
              <a:stCxn id="13" idx="1"/>
              <a:endCxn id="12" idx="0"/>
            </p:cNvCxnSpPr>
            <p:nvPr/>
          </p:nvCxnSpPr>
          <p:spPr>
            <a:xfrm flipH="1">
              <a:off x="1532404" y="5008777"/>
              <a:ext cx="690241" cy="897329"/>
            </a:xfrm>
            <a:prstGeom prst="line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" name="Groupe 2">
              <a:extLst>
                <a:ext uri="{FF2B5EF4-FFF2-40B4-BE49-F238E27FC236}">
                  <a16:creationId xmlns:a16="http://schemas.microsoft.com/office/drawing/2014/main" id="{DCA80DE6-AA27-428C-BC45-F0DF8FEB0160}"/>
                </a:ext>
              </a:extLst>
            </p:cNvPr>
            <p:cNvGrpSpPr/>
            <p:nvPr/>
          </p:nvGrpSpPr>
          <p:grpSpPr>
            <a:xfrm>
              <a:off x="2222645" y="4648777"/>
              <a:ext cx="720000" cy="1893426"/>
              <a:chOff x="9294994" y="4648777"/>
              <a:chExt cx="720000" cy="1893426"/>
            </a:xfrm>
          </p:grpSpPr>
          <p:pic>
            <p:nvPicPr>
              <p:cNvPr id="13" name="Graphique 12" descr="Feux de signalisation avec un remplissage uni">
                <a:extLst>
                  <a:ext uri="{FF2B5EF4-FFF2-40B4-BE49-F238E27FC236}">
                    <a16:creationId xmlns:a16="http://schemas.microsoft.com/office/drawing/2014/main" id="{460CDED6-8444-4021-93A4-D1ED44018C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xmlns="" r:embed="rId5"/>
                  </a:ext>
                </a:extLst>
              </a:blip>
              <a:stretch>
                <a:fillRect/>
              </a:stretch>
            </p:blipFill>
            <p:spPr>
              <a:xfrm>
                <a:off x="9294994" y="4648777"/>
                <a:ext cx="720000" cy="720000"/>
              </a:xfrm>
              <a:prstGeom prst="rect">
                <a:avLst/>
              </a:prstGeom>
            </p:spPr>
          </p:pic>
          <p:cxnSp>
            <p:nvCxnSpPr>
              <p:cNvPr id="17" name="Connecteur droit 16">
                <a:extLst>
                  <a:ext uri="{FF2B5EF4-FFF2-40B4-BE49-F238E27FC236}">
                    <a16:creationId xmlns:a16="http://schemas.microsoft.com/office/drawing/2014/main" id="{8DB05C1C-BAD9-4381-A337-4D6FBD550283}"/>
                  </a:ext>
                </a:extLst>
              </p:cNvPr>
              <p:cNvCxnSpPr/>
              <p:nvPr/>
            </p:nvCxnSpPr>
            <p:spPr>
              <a:xfrm>
                <a:off x="9654994" y="5283936"/>
                <a:ext cx="0" cy="1258267"/>
              </a:xfrm>
              <a:prstGeom prst="line">
                <a:avLst/>
              </a:prstGeom>
              <a:ln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7294C329-9CE8-4038-8D96-E4C9E4D6FB67}"/>
              </a:ext>
            </a:extLst>
          </p:cNvPr>
          <p:cNvGrpSpPr/>
          <p:nvPr/>
        </p:nvGrpSpPr>
        <p:grpSpPr>
          <a:xfrm>
            <a:off x="3464630" y="4648777"/>
            <a:ext cx="2600932" cy="1977329"/>
            <a:chOff x="3464630" y="4648777"/>
            <a:chExt cx="2600932" cy="1977329"/>
          </a:xfrm>
        </p:grpSpPr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3CB85C12-6FF7-498E-B4F6-7BE557A86037}"/>
                </a:ext>
              </a:extLst>
            </p:cNvPr>
            <p:cNvSpPr/>
            <p:nvPr/>
          </p:nvSpPr>
          <p:spPr>
            <a:xfrm>
              <a:off x="5551348" y="5093919"/>
              <a:ext cx="147142" cy="147142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pic>
          <p:nvPicPr>
            <p:cNvPr id="25" name="Graphique 24" descr="Voiture avec un remplissage uni">
              <a:extLst>
                <a:ext uri="{FF2B5EF4-FFF2-40B4-BE49-F238E27FC236}">
                  <a16:creationId xmlns:a16="http://schemas.microsoft.com/office/drawing/2014/main" id="{A37992D5-8473-4083-B68A-0E2AEF125A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p:blipFill>
          <p:spPr>
            <a:xfrm>
              <a:off x="4223325" y="5906106"/>
              <a:ext cx="720000" cy="720000"/>
            </a:xfrm>
            <a:prstGeom prst="rect">
              <a:avLst/>
            </a:prstGeom>
          </p:spPr>
        </p:pic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29D08023-1F56-481E-8251-E08653F4EA60}"/>
                </a:ext>
              </a:extLst>
            </p:cNvPr>
            <p:cNvCxnSpPr>
              <a:cxnSpLocks/>
            </p:cNvCxnSpPr>
            <p:nvPr/>
          </p:nvCxnSpPr>
          <p:spPr>
            <a:xfrm>
              <a:off x="3464630" y="6542203"/>
              <a:ext cx="2600932" cy="0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07B85FDF-7E62-4C62-A309-5EA9173B3E83}"/>
                </a:ext>
              </a:extLst>
            </p:cNvPr>
            <p:cNvCxnSpPr>
              <a:cxnSpLocks/>
              <a:stCxn id="29" idx="1"/>
              <a:endCxn id="25" idx="0"/>
            </p:cNvCxnSpPr>
            <p:nvPr/>
          </p:nvCxnSpPr>
          <p:spPr>
            <a:xfrm flipH="1">
              <a:off x="4583325" y="5008777"/>
              <a:ext cx="690241" cy="897329"/>
            </a:xfrm>
            <a:prstGeom prst="line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oupe 27">
              <a:extLst>
                <a:ext uri="{FF2B5EF4-FFF2-40B4-BE49-F238E27FC236}">
                  <a16:creationId xmlns:a16="http://schemas.microsoft.com/office/drawing/2014/main" id="{278A6A0B-6C21-4E3C-B96F-078711E0E6C5}"/>
                </a:ext>
              </a:extLst>
            </p:cNvPr>
            <p:cNvGrpSpPr/>
            <p:nvPr/>
          </p:nvGrpSpPr>
          <p:grpSpPr>
            <a:xfrm>
              <a:off x="5273566" y="4648777"/>
              <a:ext cx="720000" cy="1893426"/>
              <a:chOff x="9294994" y="4648777"/>
              <a:chExt cx="720000" cy="1893426"/>
            </a:xfrm>
          </p:grpSpPr>
          <p:pic>
            <p:nvPicPr>
              <p:cNvPr id="29" name="Graphique 28" descr="Feux de signalisation avec un remplissage uni">
                <a:extLst>
                  <a:ext uri="{FF2B5EF4-FFF2-40B4-BE49-F238E27FC236}">
                    <a16:creationId xmlns:a16="http://schemas.microsoft.com/office/drawing/2014/main" id="{EC30B8DE-3439-40EF-B02E-2BB9854AC8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xmlns="" r:embed="rId5"/>
                  </a:ext>
                </a:extLst>
              </a:blip>
              <a:stretch>
                <a:fillRect/>
              </a:stretch>
            </p:blipFill>
            <p:spPr>
              <a:xfrm>
                <a:off x="9294994" y="4648777"/>
                <a:ext cx="720000" cy="720000"/>
              </a:xfrm>
              <a:prstGeom prst="rect">
                <a:avLst/>
              </a:prstGeom>
            </p:spPr>
          </p:pic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56CD9332-01F5-4C30-A62E-DC3AFDD8B7D4}"/>
                  </a:ext>
                </a:extLst>
              </p:cNvPr>
              <p:cNvCxnSpPr/>
              <p:nvPr/>
            </p:nvCxnSpPr>
            <p:spPr>
              <a:xfrm>
                <a:off x="9654994" y="5283936"/>
                <a:ext cx="0" cy="1258267"/>
              </a:xfrm>
              <a:prstGeom prst="line">
                <a:avLst/>
              </a:prstGeom>
              <a:ln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33" name="Ellipse 32">
            <a:extLst>
              <a:ext uri="{FF2B5EF4-FFF2-40B4-BE49-F238E27FC236}">
                <a16:creationId xmlns:a16="http://schemas.microsoft.com/office/drawing/2014/main" id="{CBF5EEFB-D46C-44A3-9EC1-FFB0C034079F}"/>
              </a:ext>
            </a:extLst>
          </p:cNvPr>
          <p:cNvSpPr/>
          <p:nvPr/>
        </p:nvSpPr>
        <p:spPr>
          <a:xfrm>
            <a:off x="6952541" y="5093919"/>
            <a:ext cx="147142" cy="14714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34" name="Graphique 33" descr="Voiture avec un remplissage uni">
            <a:extLst>
              <a:ext uri="{FF2B5EF4-FFF2-40B4-BE49-F238E27FC236}">
                <a16:creationId xmlns:a16="http://schemas.microsoft.com/office/drawing/2014/main" id="{5ABDF1EE-2665-44C1-B6DD-618DBA3E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8234978" y="5906106"/>
            <a:ext cx="720000" cy="720000"/>
          </a:xfrm>
          <a:prstGeom prst="rect">
            <a:avLst/>
          </a:prstGeom>
        </p:spPr>
      </p:pic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576D3F98-D238-4F45-B3AE-D78DAAF8E0DA}"/>
              </a:ext>
            </a:extLst>
          </p:cNvPr>
          <p:cNvCxnSpPr>
            <a:cxnSpLocks/>
          </p:cNvCxnSpPr>
          <p:nvPr/>
        </p:nvCxnSpPr>
        <p:spPr>
          <a:xfrm>
            <a:off x="6584004" y="6542203"/>
            <a:ext cx="2600932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E377D151-1B2F-4CD4-8B58-C81AAE05DF4C}"/>
              </a:ext>
            </a:extLst>
          </p:cNvPr>
          <p:cNvGrpSpPr/>
          <p:nvPr/>
        </p:nvGrpSpPr>
        <p:grpSpPr>
          <a:xfrm>
            <a:off x="6667381" y="4648777"/>
            <a:ext cx="720000" cy="1893426"/>
            <a:chOff x="9294994" y="4648777"/>
            <a:chExt cx="720000" cy="1893426"/>
          </a:xfrm>
        </p:grpSpPr>
        <p:pic>
          <p:nvPicPr>
            <p:cNvPr id="38" name="Graphique 37" descr="Feux de signalisation avec un remplissage uni">
              <a:extLst>
                <a:ext uri="{FF2B5EF4-FFF2-40B4-BE49-F238E27FC236}">
                  <a16:creationId xmlns:a16="http://schemas.microsoft.com/office/drawing/2014/main" id="{ADC74655-B907-467D-B06E-498CBAD07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9294994" y="4648777"/>
              <a:ext cx="720000" cy="720000"/>
            </a:xfrm>
            <a:prstGeom prst="rect">
              <a:avLst/>
            </a:prstGeom>
          </p:spPr>
        </p:pic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AFE715D1-6EDB-4D97-8B18-5F14CAFE83AE}"/>
                </a:ext>
              </a:extLst>
            </p:cNvPr>
            <p:cNvCxnSpPr/>
            <p:nvPr/>
          </p:nvCxnSpPr>
          <p:spPr>
            <a:xfrm>
              <a:off x="9654994" y="5283936"/>
              <a:ext cx="0" cy="1258267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Nuage 20">
            <a:extLst>
              <a:ext uri="{FF2B5EF4-FFF2-40B4-BE49-F238E27FC236}">
                <a16:creationId xmlns:a16="http://schemas.microsoft.com/office/drawing/2014/main" id="{E9D928D9-8C11-47A1-9164-081D15481A94}"/>
              </a:ext>
            </a:extLst>
          </p:cNvPr>
          <p:cNvSpPr/>
          <p:nvPr/>
        </p:nvSpPr>
        <p:spPr>
          <a:xfrm>
            <a:off x="7470759" y="6167215"/>
            <a:ext cx="719998" cy="291086"/>
          </a:xfrm>
          <a:prstGeom prst="cloud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7444BDDF-07E5-486A-B153-E2618FB9E00D}"/>
              </a:ext>
            </a:extLst>
          </p:cNvPr>
          <p:cNvSpPr txBox="1"/>
          <p:nvPr/>
        </p:nvSpPr>
        <p:spPr>
          <a:xfrm>
            <a:off x="1795064" y="4302531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>
                <a:latin typeface="Garamond" panose="02020404030301010803" pitchFamily="18" charset="0"/>
              </a:rPr>
              <a:t>observable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2759C544-6D60-415D-BA1C-56499D81441B}"/>
              </a:ext>
            </a:extLst>
          </p:cNvPr>
          <p:cNvSpPr txBox="1"/>
          <p:nvPr/>
        </p:nvSpPr>
        <p:spPr>
          <a:xfrm>
            <a:off x="-119019" y="5619896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BE" sz="2400">
                <a:solidFill>
                  <a:schemeClr val="accent1"/>
                </a:solidFill>
                <a:latin typeface="Garamond" panose="02020404030301010803" pitchFamily="18" charset="0"/>
              </a:rPr>
              <a:t>observer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2771FAD2-58B3-4144-9067-05359EF6BBF0}"/>
              </a:ext>
            </a:extLst>
          </p:cNvPr>
          <p:cNvSpPr txBox="1"/>
          <p:nvPr/>
        </p:nvSpPr>
        <p:spPr>
          <a:xfrm>
            <a:off x="328217" y="4975611"/>
            <a:ext cx="1669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.notify()</a:t>
            </a:r>
          </a:p>
        </p:txBody>
      </p:sp>
    </p:spTree>
    <p:extLst>
      <p:ext uri="{BB962C8B-B14F-4D97-AF65-F5344CB8AC3E}">
        <p14:creationId xmlns:p14="http://schemas.microsoft.com/office/powerpoint/2010/main" val="10541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Observer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42820"/>
          </a:xfrm>
        </p:spPr>
        <p:txBody>
          <a:bodyPr>
            <a:normAutofit fontScale="85000" lnSpcReduction="10000"/>
          </a:bodyPr>
          <a:lstStyle/>
          <a:p>
            <a:r>
              <a:rPr lang="fr-BE"/>
              <a:t>Utilité : Gestion des évènements</a:t>
            </a:r>
          </a:p>
          <a:p>
            <a:pPr lvl="1"/>
            <a:r>
              <a:rPr lang="fr-BE"/>
              <a:t>Lorsqu'un objet change, d'autres objets sont avisés du changement.</a:t>
            </a:r>
          </a:p>
          <a:p>
            <a:r>
              <a:rPr lang="fr-BE"/>
              <a:t>Principe</a:t>
            </a:r>
          </a:p>
          <a:p>
            <a:pPr lvl="1"/>
            <a:r>
              <a:rPr lang="fr-BE"/>
              <a:t>Un objet </a:t>
            </a:r>
            <a:r>
              <a:rPr lang="fr-BE">
                <a:solidFill>
                  <a:schemeClr val="accent2"/>
                </a:solidFill>
              </a:rPr>
              <a:t>sujet</a:t>
            </a:r>
            <a:r>
              <a:rPr lang="fr-BE"/>
              <a:t> est déclaré </a:t>
            </a:r>
            <a:r>
              <a:rPr lang="fr-BE">
                <a:solidFill>
                  <a:schemeClr val="accent2"/>
                </a:solidFill>
              </a:rPr>
              <a:t>"observable"</a:t>
            </a:r>
            <a:endParaRPr lang="fr-BE"/>
          </a:p>
          <a:p>
            <a:pPr lvl="1"/>
            <a:r>
              <a:rPr lang="fr-BE"/>
              <a:t>Les objets </a:t>
            </a:r>
            <a:r>
              <a:rPr lang="fr-BE">
                <a:solidFill>
                  <a:schemeClr val="accent2"/>
                </a:solidFill>
              </a:rPr>
              <a:t>observateurs </a:t>
            </a:r>
            <a:r>
              <a:rPr lang="fr-BE"/>
              <a:t>du sujet sont déclarés </a:t>
            </a:r>
            <a:r>
              <a:rPr lang="fr-BE">
                <a:solidFill>
                  <a:schemeClr val="accent2"/>
                </a:solidFill>
              </a:rPr>
              <a:t>"observer".</a:t>
            </a:r>
            <a:endParaRPr lang="fr-BE"/>
          </a:p>
          <a:p>
            <a:pPr lvl="1"/>
            <a:r>
              <a:rPr lang="fr-BE"/>
              <a:t>Un mécanisme de </a:t>
            </a:r>
            <a:r>
              <a:rPr lang="fr-BE">
                <a:solidFill>
                  <a:schemeClr val="accent2"/>
                </a:solidFill>
              </a:rPr>
              <a:t>souscription </a:t>
            </a:r>
            <a:r>
              <a:rPr lang="fr-BE"/>
              <a:t>est mis en place.</a:t>
            </a:r>
          </a:p>
          <a:p>
            <a:pPr lvl="1"/>
            <a:r>
              <a:rPr lang="fr-BE"/>
              <a:t>Le sujet déclenche l'exécution d'une méthode de l'observateur.</a:t>
            </a:r>
          </a:p>
          <a:p>
            <a:pPr lvl="1"/>
            <a:r>
              <a:rPr lang="fr-BE"/>
              <a:t>Les observateurs ne sont activés que quand ils sont notifiés.</a:t>
            </a:r>
          </a:p>
          <a:p>
            <a:r>
              <a:rPr lang="fr-BE"/>
              <a:t>Avantages</a:t>
            </a:r>
          </a:p>
          <a:p>
            <a:pPr lvl="1"/>
            <a:r>
              <a:rPr lang="fr-BE"/>
              <a:t>Limitation du </a:t>
            </a:r>
            <a:r>
              <a:rPr lang="fr-BE">
                <a:solidFill>
                  <a:schemeClr val="accent2"/>
                </a:solidFill>
              </a:rPr>
              <a:t>couplage entre objets </a:t>
            </a:r>
            <a:r>
              <a:rPr lang="fr-BE"/>
              <a:t>aux seuls phénomènes à observer. </a:t>
            </a:r>
          </a:p>
          <a:p>
            <a:pPr lvl="1"/>
            <a:r>
              <a:rPr lang="fr-BE"/>
              <a:t>Simplification si des observateurs multiples dépendent du même sujet</a:t>
            </a:r>
          </a:p>
        </p:txBody>
      </p:sp>
    </p:spTree>
    <p:extLst>
      <p:ext uri="{BB962C8B-B14F-4D97-AF65-F5344CB8AC3E}">
        <p14:creationId xmlns:p14="http://schemas.microsoft.com/office/powerpoint/2010/main" val="2985334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16DABB-238C-4655-861E-C7E951E45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fr-BE"/>
              <a:t>Design Pattern : Observer : Souscription</a:t>
            </a:r>
          </a:p>
        </p:txBody>
      </p:sp>
      <p:pic>
        <p:nvPicPr>
          <p:cNvPr id="2050" name="Picture 2" descr="Architecture Diagram of Observer Design Pattern - shows a news feed as an observable and multiple readers as observers subscribed to the news feed">
            <a:extLst>
              <a:ext uri="{FF2B5EF4-FFF2-40B4-BE49-F238E27FC236}">
                <a16:creationId xmlns:a16="http://schemas.microsoft.com/office/drawing/2014/main" id="{188F5666-00A0-4E89-959F-2323F074D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604735" y="1690689"/>
            <a:ext cx="6982530" cy="4486276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2055" name="Slide Number Placeholder 3">
            <a:extLst>
              <a:ext uri="{FF2B5EF4-FFF2-40B4-BE49-F238E27FC236}">
                <a16:creationId xmlns:a16="http://schemas.microsoft.com/office/drawing/2014/main" id="{BAD27A25-600F-A104-923E-60AF16DBB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9526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02C092ED-0E97-497E-99D9-BB9DD7276F53}" type="slidenum">
              <a:rPr lang="fr-BE" smtClean="0"/>
              <a:pPr>
                <a:spcAft>
                  <a:spcPts val="600"/>
                </a:spcAft>
              </a:pPr>
              <a:t>43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24008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Observer : Architecture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fr-BE"/>
              <a:t>Relation One-To-Many</a:t>
            </a:r>
          </a:p>
          <a:p>
            <a:pPr lvl="1"/>
            <a:r>
              <a:rPr lang="fr-BE"/>
              <a:t>un sujet, plusieurs observateurs</a:t>
            </a:r>
          </a:p>
          <a:p>
            <a:pPr lvl="1"/>
            <a:r>
              <a:rPr lang="fr-BE"/>
              <a:t>Pas de "event manager"</a:t>
            </a:r>
          </a:p>
          <a:p>
            <a:r>
              <a:rPr lang="fr-BE"/>
              <a:t>Sujet </a:t>
            </a:r>
          </a:p>
          <a:p>
            <a:pPr lvl="1"/>
            <a:r>
              <a:rPr lang="fr-BE"/>
              <a:t>Class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Observable</a:t>
            </a:r>
            <a:r>
              <a:rPr lang="fr-BE"/>
              <a:t> </a:t>
            </a:r>
          </a:p>
          <a:p>
            <a:pPr lvl="1"/>
            <a:r>
              <a:rPr lang="fr-BE"/>
              <a:t>Il gère la liste des observateurs.</a:t>
            </a:r>
          </a:p>
          <a:p>
            <a:pPr lvl="1"/>
            <a:r>
              <a:rPr lang="fr-BE"/>
              <a:t>modification apportée au sujet =&gt; </a:t>
            </a:r>
            <a:r>
              <a:rPr lang="fr-BE">
                <a:solidFill>
                  <a:schemeClr val="accent2"/>
                </a:solidFill>
              </a:rPr>
              <a:t>message</a:t>
            </a:r>
            <a:r>
              <a:rPr lang="fr-BE"/>
              <a:t> émis vers les observateurs</a:t>
            </a:r>
          </a:p>
          <a:p>
            <a:pPr lvl="1"/>
            <a:r>
              <a:rPr lang="fr-BE"/>
              <a:t>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notifyObservers()</a:t>
            </a:r>
          </a:p>
          <a:p>
            <a:r>
              <a:rPr lang="fr-BE"/>
              <a:t>Observateurs </a:t>
            </a:r>
          </a:p>
          <a:p>
            <a:pPr lvl="1"/>
            <a:r>
              <a:rPr lang="fr-BE"/>
              <a:t>Class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Observer</a:t>
            </a:r>
          </a:p>
          <a:p>
            <a:pPr lvl="1"/>
            <a:r>
              <a:rPr lang="fr-BE"/>
              <a:t>modification apportée au sujet =&gt; </a:t>
            </a:r>
            <a:r>
              <a:rPr lang="fr-BE">
                <a:solidFill>
                  <a:schemeClr val="accent2"/>
                </a:solidFill>
              </a:rPr>
              <a:t>message</a:t>
            </a:r>
            <a:r>
              <a:rPr lang="fr-BE"/>
              <a:t> reçu de la part du sujet</a:t>
            </a:r>
          </a:p>
          <a:p>
            <a:pPr lvl="1"/>
            <a:r>
              <a:rPr lang="fr-BE"/>
              <a:t>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notify()</a:t>
            </a:r>
            <a:r>
              <a:rPr lang="fr-BE"/>
              <a:t>, appelée lorsqu'un message est émis.</a:t>
            </a:r>
          </a:p>
          <a:p>
            <a:pPr lvl="1"/>
            <a:r>
              <a:rPr lang="fr-BE"/>
              <a:t>responsable de la mise à jour de son état</a:t>
            </a:r>
          </a:p>
        </p:txBody>
      </p:sp>
    </p:spTree>
    <p:extLst>
      <p:ext uri="{BB962C8B-B14F-4D97-AF65-F5344CB8AC3E}">
        <p14:creationId xmlns:p14="http://schemas.microsoft.com/office/powerpoint/2010/main" val="2169959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F6970C-23EA-4BAF-9547-60A49C839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Observer : UML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3480A72-B76B-4C68-B47D-53F92F76F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104" y="1762549"/>
            <a:ext cx="10295792" cy="425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8775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&#10;&#10;Description générée automatiquement">
            <a:extLst>
              <a:ext uri="{FF2B5EF4-FFF2-40B4-BE49-F238E27FC236}">
                <a16:creationId xmlns:a16="http://schemas.microsoft.com/office/drawing/2014/main" id="{82FECBBA-AB0E-4632-A217-F9994FDA1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954" y="0"/>
            <a:ext cx="97040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066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DB30F1-78EB-40EA-A655-E0FC027F1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exo 17-16-02 : trivial … mais complet !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4509F0E-2D93-401C-9CA3-4459CD25CF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914" y="1825625"/>
            <a:ext cx="11350172" cy="4351339"/>
          </a:xfrm>
        </p:spPr>
        <p:txBody>
          <a:bodyPr numCol="2">
            <a:normAutofit fontScale="92500" lnSpcReduction="20000"/>
          </a:bodyPr>
          <a:lstStyle/>
          <a:p>
            <a:pPr marL="0" indent="0">
              <a:buNone/>
            </a:pPr>
            <a:r>
              <a:rPr lang="fr-BE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à télécharger et à tester</a:t>
            </a: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class Observer(ABC):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fr-BE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""" observateur """</a:t>
            </a: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def __init__(self,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observable</a:t>
            </a: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):</a:t>
            </a:r>
          </a:p>
          <a:p>
            <a:pPr marL="0" indent="0"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observable</a:t>
            </a: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.subscribe(self)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def </a:t>
            </a:r>
            <a:r>
              <a:rPr lang="fr-BE" sz="20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notify</a:t>
            </a: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():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  pass</a:t>
            </a: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class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Observable(ABC)</a:t>
            </a: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fr-BE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""" sujet """</a:t>
            </a: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def __init__(self):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  self.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observer_l</a:t>
            </a: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= []</a:t>
            </a: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  def subscribe(self, observer):</a:t>
            </a:r>
          </a:p>
          <a:p>
            <a:pPr marL="0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    self.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observer_l</a:t>
            </a: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.append(observer)</a:t>
            </a: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def notify_observers(self):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  for obs in self.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observer_l</a:t>
            </a: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    obs.</a:t>
            </a:r>
            <a:r>
              <a:rPr lang="fr-BE" sz="20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notify</a:t>
            </a: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(self)</a:t>
            </a:r>
          </a:p>
        </p:txBody>
      </p:sp>
    </p:spTree>
    <p:extLst>
      <p:ext uri="{BB962C8B-B14F-4D97-AF65-F5344CB8AC3E}">
        <p14:creationId xmlns:p14="http://schemas.microsoft.com/office/powerpoint/2010/main" val="2282992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exo 17-16-12 : trafic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Commençons par une situation simple </a:t>
            </a:r>
          </a:p>
          <a:p>
            <a:pPr lvl="1"/>
            <a:r>
              <a:rPr lang="fr-BE"/>
              <a:t>1 objet "feu"</a:t>
            </a:r>
          </a:p>
          <a:p>
            <a:pPr lvl="1"/>
            <a:r>
              <a:rPr lang="fr-BE"/>
              <a:t>1 objet "voiture"</a:t>
            </a:r>
          </a:p>
          <a:p>
            <a:pPr lvl="1"/>
            <a:r>
              <a:rPr lang="fr-BE"/>
              <a:t>=&gt; 1 fil de message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FEFE05C8-1FCF-40EB-8B40-BB61685B0EE4}"/>
              </a:ext>
            </a:extLst>
          </p:cNvPr>
          <p:cNvGrpSpPr/>
          <p:nvPr/>
        </p:nvGrpSpPr>
        <p:grpSpPr>
          <a:xfrm>
            <a:off x="838200" y="4648777"/>
            <a:ext cx="4577862" cy="1977329"/>
            <a:chOff x="838200" y="4648777"/>
            <a:chExt cx="4577862" cy="1977329"/>
          </a:xfrm>
        </p:grpSpPr>
        <p:pic>
          <p:nvPicPr>
            <p:cNvPr id="8" name="Graphique 7" descr="Voiture avec un remplissage uni">
              <a:extLst>
                <a:ext uri="{FF2B5EF4-FFF2-40B4-BE49-F238E27FC236}">
                  <a16:creationId xmlns:a16="http://schemas.microsoft.com/office/drawing/2014/main" id="{1C11EAD0-4BF2-4B59-A6DE-FD3DAAB17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p:blipFill>
          <p:spPr>
            <a:xfrm>
              <a:off x="1596895" y="5906106"/>
              <a:ext cx="720000" cy="720000"/>
            </a:xfrm>
            <a:prstGeom prst="rect">
              <a:avLst/>
            </a:prstGeom>
          </p:spPr>
        </p:pic>
        <p:pic>
          <p:nvPicPr>
            <p:cNvPr id="16" name="Graphique 15" descr="Feux de signalisation avec un remplissage uni">
              <a:extLst>
                <a:ext uri="{FF2B5EF4-FFF2-40B4-BE49-F238E27FC236}">
                  <a16:creationId xmlns:a16="http://schemas.microsoft.com/office/drawing/2014/main" id="{AD4F3269-E9B6-4C64-81F0-5B0C22130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4475951" y="4648777"/>
              <a:ext cx="720000" cy="720000"/>
            </a:xfrm>
            <a:prstGeom prst="rect">
              <a:avLst/>
            </a:prstGeom>
          </p:spPr>
        </p:pic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C5F42D2B-23BA-41B0-BA56-167D7FD4E9A6}"/>
                </a:ext>
              </a:extLst>
            </p:cNvPr>
            <p:cNvCxnSpPr>
              <a:cxnSpLocks/>
            </p:cNvCxnSpPr>
            <p:nvPr/>
          </p:nvCxnSpPr>
          <p:spPr>
            <a:xfrm>
              <a:off x="838200" y="6542203"/>
              <a:ext cx="4577862" cy="0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B9AFF756-DE95-4C1E-8994-96F82651CC42}"/>
                </a:ext>
              </a:extLst>
            </p:cNvPr>
            <p:cNvCxnSpPr>
              <a:cxnSpLocks/>
              <a:stCxn id="16" idx="1"/>
              <a:endCxn id="8" idx="0"/>
            </p:cNvCxnSpPr>
            <p:nvPr/>
          </p:nvCxnSpPr>
          <p:spPr>
            <a:xfrm flipH="1">
              <a:off x="1956895" y="5008777"/>
              <a:ext cx="2519056" cy="897329"/>
            </a:xfrm>
            <a:prstGeom prst="line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404E72D1-CAB3-4081-A899-31C46F4F9BDD}"/>
                </a:ext>
              </a:extLst>
            </p:cNvPr>
            <p:cNvCxnSpPr/>
            <p:nvPr/>
          </p:nvCxnSpPr>
          <p:spPr>
            <a:xfrm>
              <a:off x="4835951" y="5283936"/>
              <a:ext cx="0" cy="1258267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30435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94D758-719A-4B84-BE3B-5DA7EEF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17-16-12 : trafic, un feu, une voiture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80450E-1C09-49FB-88F5-7D3B3FC2C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032375"/>
          </a:xfrm>
        </p:spPr>
        <p:txBody>
          <a:bodyPr>
            <a:normAutofit fontScale="55000" lnSpcReduction="20000"/>
          </a:bodyPr>
          <a:lstStyle/>
          <a:p>
            <a:r>
              <a:rPr lang="fr-BE"/>
              <a:t>Partir de 17-16-12_trafic_one2one_start.py</a:t>
            </a:r>
          </a:p>
          <a:p>
            <a:r>
              <a:rPr lang="fr-BE"/>
              <a:t>Spec additionnelle : </a:t>
            </a:r>
            <a:r>
              <a:rPr lang="fr-BE">
                <a:solidFill>
                  <a:schemeClr val="accent2"/>
                </a:solidFill>
              </a:rPr>
              <a:t>la voiture A s'arrête au feu orange !</a:t>
            </a:r>
          </a:p>
          <a:p>
            <a:r>
              <a:rPr lang="fr-BE"/>
              <a:t>Appliquez le design pattern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Observer</a:t>
            </a:r>
            <a:r>
              <a:rPr lang="fr-BE"/>
              <a:t> correspondant au scénario suivant :</a:t>
            </a:r>
            <a:br>
              <a:rPr lang="fr-BE"/>
            </a:br>
            <a:endParaRPr lang="fr-BE"/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voiture_A = Car("Peugeot")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feu01 = Light(voiture_A)</a:t>
            </a:r>
          </a:p>
          <a:p>
            <a:pPr marL="0" indent="0">
              <a:buNone/>
            </a:pP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for i in range(4):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print(feu01)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print(voiture_A)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feu01.change()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r>
              <a:rPr lang="fr-BE"/>
              <a:t>En particulier, en vous aidant de l'exo 17-16-02 "trivia"</a:t>
            </a:r>
          </a:p>
          <a:p>
            <a:pPr lvl="1"/>
            <a:r>
              <a:rPr lang="fr-BE"/>
              <a:t>Identifiez la classe observable et la classe observateur</a:t>
            </a:r>
          </a:p>
          <a:p>
            <a:pPr lvl="1"/>
            <a:r>
              <a:rPr lang="fr-BE"/>
              <a:t>Implantez la 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.notify_observers()</a:t>
            </a:r>
            <a:r>
              <a:rPr lang="fr-BE"/>
              <a:t> dans l'objet observable</a:t>
            </a:r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pPr lvl="1"/>
            <a:r>
              <a:rPr lang="fr-BE"/>
              <a:t>Implantez la 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.notify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()</a:t>
            </a:r>
            <a:r>
              <a:rPr lang="fr-BE"/>
              <a:t> dans l'objet observateur</a:t>
            </a:r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2620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94D758-719A-4B84-BE3B-5DA7EEF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17-16-12 : la morale de l'histoire 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C8072783-179A-4B45-A829-16B885E333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6"/>
            <a:ext cx="5181600" cy="2111111"/>
          </a:xfrm>
        </p:spPr>
        <p:txBody>
          <a:bodyPr>
            <a:normAutofit fontScale="92500" lnSpcReduction="20000"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fr-BE"/>
              <a:t>Sans observateur : 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/>
              <a:t>Le feu donne plusieurs ordres à la voiture 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/>
              <a:t>La voiture ne décide pas.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/>
              <a:t>Couplage fort entre objets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12E06EE-4B39-444E-B53D-EC900006BC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223959"/>
          </a:xfrm>
        </p:spPr>
        <p:txBody>
          <a:bodyPr>
            <a:normAutofit lnSpcReduction="10000"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fr-BE" sz="3200"/>
              <a:t>Avec observateur :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 sz="2800"/>
              <a:t>le feu informe la voiture de son nouvel état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 sz="2800"/>
              <a:t>La voiture décide d'avancer 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 sz="2800"/>
              <a:t>Couplage faible entre objets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577FAF28-2C9C-478E-80BB-BE1816823BC6}"/>
              </a:ext>
            </a:extLst>
          </p:cNvPr>
          <p:cNvGrpSpPr/>
          <p:nvPr/>
        </p:nvGrpSpPr>
        <p:grpSpPr>
          <a:xfrm>
            <a:off x="1547172" y="4656737"/>
            <a:ext cx="3268248" cy="1836138"/>
            <a:chOff x="1634283" y="3851516"/>
            <a:chExt cx="3268248" cy="1836138"/>
          </a:xfrm>
        </p:grpSpPr>
        <p:pic>
          <p:nvPicPr>
            <p:cNvPr id="10" name="Graphique 9" descr="Voiture avec un remplissage uni">
              <a:extLst>
                <a:ext uri="{FF2B5EF4-FFF2-40B4-BE49-F238E27FC236}">
                  <a16:creationId xmlns:a16="http://schemas.microsoft.com/office/drawing/2014/main" id="{154FC199-DB7E-4D5B-9BD9-E9166D9CC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p:blipFill>
          <p:spPr>
            <a:xfrm>
              <a:off x="3704767" y="4967654"/>
              <a:ext cx="720000" cy="720000"/>
            </a:xfrm>
            <a:prstGeom prst="rect">
              <a:avLst/>
            </a:prstGeom>
          </p:spPr>
        </p:pic>
        <p:pic>
          <p:nvPicPr>
            <p:cNvPr id="11" name="Graphique 10" descr="Feux de signalisation avec un remplissage uni">
              <a:extLst>
                <a:ext uri="{FF2B5EF4-FFF2-40B4-BE49-F238E27FC236}">
                  <a16:creationId xmlns:a16="http://schemas.microsoft.com/office/drawing/2014/main" id="{BE3371F8-191A-4D3C-8171-4D3E3C508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651338" y="3851516"/>
              <a:ext cx="720000" cy="720000"/>
            </a:xfrm>
            <a:prstGeom prst="rect">
              <a:avLst/>
            </a:prstGeom>
          </p:spPr>
        </p:pic>
        <p:cxnSp>
          <p:nvCxnSpPr>
            <p:cNvPr id="13" name="Connecteur : en arc 12" descr="start">
              <a:extLst>
                <a:ext uri="{FF2B5EF4-FFF2-40B4-BE49-F238E27FC236}">
                  <a16:creationId xmlns:a16="http://schemas.microsoft.com/office/drawing/2014/main" id="{C9450F34-90E2-4855-984C-E97136A69DB7}"/>
                </a:ext>
                <a:ext uri="{C183D7F6-B498-43B3-948B-1728B52AA6E4}">
                  <adec:decorative xmlns:adec="http://schemas.microsoft.com/office/drawing/2017/decorative" xmlns="" val="0"/>
                </a:ext>
              </a:extLst>
            </p:cNvPr>
            <p:cNvCxnSpPr>
              <a:cxnSpLocks/>
              <a:stCxn id="11" idx="3"/>
              <a:endCxn id="10" idx="0"/>
            </p:cNvCxnSpPr>
            <p:nvPr/>
          </p:nvCxnSpPr>
          <p:spPr>
            <a:xfrm>
              <a:off x="2371338" y="4211516"/>
              <a:ext cx="1693429" cy="756138"/>
            </a:xfrm>
            <a:prstGeom prst="curvedConnector2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8DB92290-D706-47EA-90F5-C2AA6C575BB9}"/>
                </a:ext>
              </a:extLst>
            </p:cNvPr>
            <p:cNvSpPr txBox="1"/>
            <p:nvPr/>
          </p:nvSpPr>
          <p:spPr>
            <a:xfrm>
              <a:off x="3704767" y="4076579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fr-BE" sz="1800">
                  <a:solidFill>
                    <a:srgbClr val="996633"/>
                  </a:solidFill>
                  <a:latin typeface="Consolas" panose="020B0609020204030204" pitchFamily="49" charset="0"/>
                </a:rPr>
                <a:t>.start()</a:t>
              </a:r>
            </a:p>
          </p:txBody>
        </p:sp>
        <p:cxnSp>
          <p:nvCxnSpPr>
            <p:cNvPr id="17" name="Connecteur : en arc 16">
              <a:extLst>
                <a:ext uri="{FF2B5EF4-FFF2-40B4-BE49-F238E27FC236}">
                  <a16:creationId xmlns:a16="http://schemas.microsoft.com/office/drawing/2014/main" id="{D6811645-E998-44DF-8CB7-A6399507F71D}"/>
                </a:ext>
              </a:extLst>
            </p:cNvPr>
            <p:cNvCxnSpPr>
              <a:cxnSpLocks/>
              <a:stCxn id="11" idx="2"/>
              <a:endCxn id="10" idx="1"/>
            </p:cNvCxnSpPr>
            <p:nvPr/>
          </p:nvCxnSpPr>
          <p:spPr>
            <a:xfrm rot="16200000" flipH="1">
              <a:off x="2479983" y="4102870"/>
              <a:ext cx="756138" cy="1693429"/>
            </a:xfrm>
            <a:prstGeom prst="curvedConnector2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triangle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366C5F34-64AC-4397-84D9-F66649A13D37}"/>
                </a:ext>
              </a:extLst>
            </p:cNvPr>
            <p:cNvSpPr txBox="1"/>
            <p:nvPr/>
          </p:nvSpPr>
          <p:spPr>
            <a:xfrm>
              <a:off x="1634283" y="5107535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fr-BE" sz="1800">
                  <a:solidFill>
                    <a:srgbClr val="996633"/>
                  </a:solidFill>
                  <a:latin typeface="Consolas" panose="020B0609020204030204" pitchFamily="49" charset="0"/>
                </a:rPr>
                <a:t>.stop()</a:t>
              </a:r>
            </a:p>
          </p:txBody>
        </p:sp>
      </p:grp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CDD8CF4E-F566-417C-9AE4-52C1FCCEB360}"/>
              </a:ext>
            </a:extLst>
          </p:cNvPr>
          <p:cNvGrpSpPr/>
          <p:nvPr/>
        </p:nvGrpSpPr>
        <p:grpSpPr>
          <a:xfrm>
            <a:off x="7580284" y="4769585"/>
            <a:ext cx="2811009" cy="1836138"/>
            <a:chOff x="7580284" y="4769585"/>
            <a:chExt cx="2811009" cy="1836138"/>
          </a:xfrm>
        </p:grpSpPr>
        <p:grpSp>
          <p:nvGrpSpPr>
            <p:cNvPr id="28" name="Groupe 27">
              <a:extLst>
                <a:ext uri="{FF2B5EF4-FFF2-40B4-BE49-F238E27FC236}">
                  <a16:creationId xmlns:a16="http://schemas.microsoft.com/office/drawing/2014/main" id="{E8271B3E-BA91-48B4-BCFC-326331D966B1}"/>
                </a:ext>
              </a:extLst>
            </p:cNvPr>
            <p:cNvGrpSpPr/>
            <p:nvPr/>
          </p:nvGrpSpPr>
          <p:grpSpPr>
            <a:xfrm>
              <a:off x="7580284" y="4769585"/>
              <a:ext cx="2773429" cy="1836138"/>
              <a:chOff x="7026369" y="3834019"/>
              <a:chExt cx="2773429" cy="1836138"/>
            </a:xfrm>
          </p:grpSpPr>
          <p:pic>
            <p:nvPicPr>
              <p:cNvPr id="22" name="Graphique 21" descr="Voiture avec un remplissage uni">
                <a:extLst>
                  <a:ext uri="{FF2B5EF4-FFF2-40B4-BE49-F238E27FC236}">
                    <a16:creationId xmlns:a16="http://schemas.microsoft.com/office/drawing/2014/main" id="{0218C95B-EFFB-43C7-AEA4-0AEDCB960B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xmlns="" r:embed="rId3"/>
                  </a:ext>
                </a:extLst>
              </a:blip>
              <a:stretch>
                <a:fillRect/>
              </a:stretch>
            </p:blipFill>
            <p:spPr>
              <a:xfrm>
                <a:off x="9079798" y="4950157"/>
                <a:ext cx="720000" cy="720000"/>
              </a:xfrm>
              <a:prstGeom prst="rect">
                <a:avLst/>
              </a:prstGeom>
            </p:spPr>
          </p:pic>
          <p:pic>
            <p:nvPicPr>
              <p:cNvPr id="23" name="Graphique 22" descr="Feux de signalisation avec un remplissage uni">
                <a:extLst>
                  <a:ext uri="{FF2B5EF4-FFF2-40B4-BE49-F238E27FC236}">
                    <a16:creationId xmlns:a16="http://schemas.microsoft.com/office/drawing/2014/main" id="{A5D3F8FA-5C2F-4C66-A5CA-2A14406DD4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xmlns="" r:embed="rId5"/>
                  </a:ext>
                </a:extLst>
              </a:blip>
              <a:stretch>
                <a:fillRect/>
              </a:stretch>
            </p:blipFill>
            <p:spPr>
              <a:xfrm>
                <a:off x="7026369" y="3834019"/>
                <a:ext cx="720000" cy="720000"/>
              </a:xfrm>
              <a:prstGeom prst="rect">
                <a:avLst/>
              </a:prstGeom>
            </p:spPr>
          </p:pic>
          <p:cxnSp>
            <p:nvCxnSpPr>
              <p:cNvPr id="24" name="Connecteur : en arc 23" descr="start">
                <a:extLst>
                  <a:ext uri="{FF2B5EF4-FFF2-40B4-BE49-F238E27FC236}">
                    <a16:creationId xmlns:a16="http://schemas.microsoft.com/office/drawing/2014/main" id="{9073478C-F8E9-42B2-B7C3-38DB1ED161A4}"/>
                  </a:ext>
                  <a:ext uri="{C183D7F6-B498-43B3-948B-1728B52AA6E4}">
                    <adec:decorative xmlns:adec="http://schemas.microsoft.com/office/drawing/2017/decorative" xmlns="" val="0"/>
                  </a:ext>
                </a:extLst>
              </p:cNvPr>
              <p:cNvCxnSpPr>
                <a:cxnSpLocks/>
                <a:stCxn id="23" idx="3"/>
                <a:endCxn id="22" idx="0"/>
              </p:cNvCxnSpPr>
              <p:nvPr/>
            </p:nvCxnSpPr>
            <p:spPr>
              <a:xfrm>
                <a:off x="7746369" y="4194019"/>
                <a:ext cx="1693429" cy="756138"/>
              </a:xfrm>
              <a:prstGeom prst="curvedConnector2">
                <a:avLst/>
              </a:prstGeom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DF40ABAD-65E5-4194-BD52-4D4FDA5FFF60}"/>
                </a:ext>
              </a:extLst>
            </p:cNvPr>
            <p:cNvSpPr txBox="1"/>
            <p:nvPr/>
          </p:nvSpPr>
          <p:spPr>
            <a:xfrm>
              <a:off x="9066891" y="4844085"/>
              <a:ext cx="1324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fr-BE" sz="1800">
                  <a:solidFill>
                    <a:srgbClr val="996633"/>
                  </a:solidFill>
                  <a:latin typeface="Consolas" panose="020B0609020204030204" pitchFamily="49" charset="0"/>
                </a:rPr>
                <a:t>.notify()</a:t>
              </a:r>
            </a:p>
          </p:txBody>
        </p:sp>
      </p:grpSp>
      <p:pic>
        <p:nvPicPr>
          <p:cNvPr id="4" name="Graphique 3" descr="Contour de visage souriant avec un remplissage uni">
            <a:extLst>
              <a:ext uri="{FF2B5EF4-FFF2-40B4-BE49-F238E27FC236}">
                <a16:creationId xmlns:a16="http://schemas.microsoft.com/office/drawing/2014/main" id="{383D0A5C-BD66-4741-B320-E41D870288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7745884" y="5754805"/>
            <a:ext cx="914400" cy="914400"/>
          </a:xfrm>
          <a:prstGeom prst="rect">
            <a:avLst/>
          </a:prstGeom>
        </p:spPr>
      </p:pic>
      <p:pic>
        <p:nvPicPr>
          <p:cNvPr id="8" name="Graphique 7" descr="Contour de visage triste avec un remplissage uni">
            <a:extLst>
              <a:ext uri="{FF2B5EF4-FFF2-40B4-BE49-F238E27FC236}">
                <a16:creationId xmlns:a16="http://schemas.microsoft.com/office/drawing/2014/main" id="{90FD5F2C-4AF0-4CD3-BB1B-B99B6C1DA7C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89826" y="500023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707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exo 17-16-14 : trafic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Compliquons un peu</a:t>
            </a:r>
          </a:p>
          <a:p>
            <a:pPr lvl="1"/>
            <a:r>
              <a:rPr lang="fr-BE"/>
              <a:t>1 objet "feu"</a:t>
            </a:r>
          </a:p>
          <a:p>
            <a:pPr lvl="1"/>
            <a:r>
              <a:rPr lang="fr-BE"/>
              <a:t>2 objets "voiture"</a:t>
            </a:r>
          </a:p>
          <a:p>
            <a:pPr lvl="1"/>
            <a:r>
              <a:rPr lang="fr-BE"/>
              <a:t>=&gt; 2 fils de message </a:t>
            </a:r>
          </a:p>
        </p:txBody>
      </p:sp>
      <p:pic>
        <p:nvPicPr>
          <p:cNvPr id="8" name="Graphique 7" descr="Voiture avec un remplissage uni">
            <a:extLst>
              <a:ext uri="{FF2B5EF4-FFF2-40B4-BE49-F238E27FC236}">
                <a16:creationId xmlns:a16="http://schemas.microsoft.com/office/drawing/2014/main" id="{1C11EAD0-4BF2-4B59-A6DE-FD3DAAB173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1596895" y="5906106"/>
            <a:ext cx="720000" cy="720000"/>
          </a:xfrm>
          <a:prstGeom prst="rect">
            <a:avLst/>
          </a:prstGeom>
        </p:spPr>
      </p:pic>
      <p:pic>
        <p:nvPicPr>
          <p:cNvPr id="16" name="Graphique 15" descr="Feux de signalisation avec un remplissage uni">
            <a:extLst>
              <a:ext uri="{FF2B5EF4-FFF2-40B4-BE49-F238E27FC236}">
                <a16:creationId xmlns:a16="http://schemas.microsoft.com/office/drawing/2014/main" id="{AD4F3269-E9B6-4C64-81F0-5B0C22130A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475951" y="4648777"/>
            <a:ext cx="720000" cy="720000"/>
          </a:xfrm>
          <a:prstGeom prst="rect">
            <a:avLst/>
          </a:prstGeom>
        </p:spPr>
      </p:pic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C5F42D2B-23BA-41B0-BA56-167D7FD4E9A6}"/>
              </a:ext>
            </a:extLst>
          </p:cNvPr>
          <p:cNvCxnSpPr>
            <a:cxnSpLocks/>
          </p:cNvCxnSpPr>
          <p:nvPr/>
        </p:nvCxnSpPr>
        <p:spPr>
          <a:xfrm>
            <a:off x="838200" y="6542203"/>
            <a:ext cx="4577862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B9AFF756-DE95-4C1E-8994-96F82651CC42}"/>
              </a:ext>
            </a:extLst>
          </p:cNvPr>
          <p:cNvCxnSpPr>
            <a:cxnSpLocks/>
            <a:stCxn id="16" idx="1"/>
            <a:endCxn id="8" idx="0"/>
          </p:cNvCxnSpPr>
          <p:nvPr/>
        </p:nvCxnSpPr>
        <p:spPr>
          <a:xfrm flipH="1">
            <a:off x="1956895" y="5008777"/>
            <a:ext cx="2519056" cy="897329"/>
          </a:xfrm>
          <a:prstGeom prst="line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404E72D1-CAB3-4081-A899-31C46F4F9BDD}"/>
              </a:ext>
            </a:extLst>
          </p:cNvPr>
          <p:cNvCxnSpPr/>
          <p:nvPr/>
        </p:nvCxnSpPr>
        <p:spPr>
          <a:xfrm>
            <a:off x="4835951" y="5283936"/>
            <a:ext cx="0" cy="1258267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9" name="Graphique 8" descr="Voiture contour">
            <a:extLst>
              <a:ext uri="{FF2B5EF4-FFF2-40B4-BE49-F238E27FC236}">
                <a16:creationId xmlns:a16="http://schemas.microsoft.com/office/drawing/2014/main" id="{E4EC0A27-DEE8-4B32-97F3-4D734C483A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216423" y="5913069"/>
            <a:ext cx="720000" cy="720000"/>
          </a:xfrm>
          <a:prstGeom prst="rect">
            <a:avLst/>
          </a:prstGeom>
        </p:spPr>
      </p:pic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99FAE0C3-18BD-437E-AB75-ECB842F522D0}"/>
              </a:ext>
            </a:extLst>
          </p:cNvPr>
          <p:cNvCxnSpPr>
            <a:cxnSpLocks/>
            <a:stCxn id="16" idx="1"/>
            <a:endCxn id="9" idx="0"/>
          </p:cNvCxnSpPr>
          <p:nvPr/>
        </p:nvCxnSpPr>
        <p:spPr>
          <a:xfrm flipH="1">
            <a:off x="3576423" y="5008777"/>
            <a:ext cx="899528" cy="904292"/>
          </a:xfrm>
          <a:prstGeom prst="line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2854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94D758-719A-4B84-BE3B-5DA7EEF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17-16-14 : trafic, un feu, deux voitures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80450E-1C09-49FB-88F5-7D3B3FC2C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032375"/>
          </a:xfrm>
        </p:spPr>
        <p:txBody>
          <a:bodyPr>
            <a:normAutofit fontScale="47500" lnSpcReduction="20000"/>
          </a:bodyPr>
          <a:lstStyle/>
          <a:p>
            <a:r>
              <a:rPr lang="fr-BE"/>
              <a:t>Partir de l'exo 17-16-12</a:t>
            </a:r>
          </a:p>
          <a:p>
            <a:r>
              <a:rPr lang="fr-BE"/>
              <a:t>Spec : Au feu orange, la voiture A s'arrête, mais </a:t>
            </a:r>
            <a:r>
              <a:rPr lang="fr-BE">
                <a:solidFill>
                  <a:schemeClr val="accent2"/>
                </a:solidFill>
              </a:rPr>
              <a:t>la voiture B continue</a:t>
            </a:r>
            <a:r>
              <a:rPr lang="fr-BE"/>
              <a:t>. </a:t>
            </a:r>
          </a:p>
          <a:p>
            <a:r>
              <a:rPr lang="fr-BE"/>
              <a:t>Appliquez le design pattern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Observer</a:t>
            </a:r>
            <a:r>
              <a:rPr lang="fr-BE"/>
              <a:t> correspondant au scénario suivant :</a:t>
            </a:r>
            <a:br>
              <a:rPr lang="fr-BE"/>
            </a:br>
            <a:endParaRPr lang="fr-BE"/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voiture_A = Car("Peugeot")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voiture_B = BadCar("BMW")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feu01 = Light()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feu01.subscribe(voiture_A)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feu01.subscribe(voiture_B)</a:t>
            </a:r>
          </a:p>
          <a:p>
            <a:pPr marL="0" indent="0">
              <a:buNone/>
            </a:pP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for i in range(6):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print(feu01)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print(voiture_A)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print(voiture_B)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feu01.change()</a:t>
            </a: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/>
            </a:r>
            <a:b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</a:br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1608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94D758-719A-4B84-BE3B-5DA7EEF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17-16-16 : trafic, un feu, trois voitures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80450E-1C09-49FB-88F5-7D3B3FC2C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Partir de l'exo 17-16-14</a:t>
            </a:r>
          </a:p>
          <a:p>
            <a:r>
              <a:rPr lang="fr-BE"/>
              <a:t>Appliquez le design pattern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Observer</a:t>
            </a:r>
            <a:r>
              <a:rPr lang="fr-BE"/>
              <a:t> correspondant au scénario suivant :</a:t>
            </a:r>
          </a:p>
          <a:p>
            <a:pPr lvl="1"/>
            <a:r>
              <a:rPr lang="fr-BE"/>
              <a:t>La voiture A s'arrête au feu rouge et au feu orange</a:t>
            </a:r>
          </a:p>
          <a:p>
            <a:pPr lvl="1"/>
            <a:r>
              <a:rPr lang="fr-BE"/>
              <a:t>La voiture B s'arrête au feu rouge uniquement</a:t>
            </a:r>
          </a:p>
          <a:p>
            <a:pPr lvl="1"/>
            <a:r>
              <a:rPr lang="fr-BE"/>
              <a:t>La voiture C ne s'arrête pas au feu rouge</a:t>
            </a:r>
          </a:p>
          <a:p>
            <a:r>
              <a:rPr lang="fr-BE"/>
              <a:t>Implantation : A, B et C sont instances de trois classes enfants d'une classe (abstraite)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Vehicle</a:t>
            </a:r>
            <a:r>
              <a:rPr lang="fr-BE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344691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sujets multiples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Trafic : approche classique</a:t>
            </a:r>
          </a:p>
          <a:p>
            <a:pPr lvl="1"/>
            <a:r>
              <a:rPr lang="fr-BE"/>
              <a:t>F objets "feu"</a:t>
            </a:r>
          </a:p>
          <a:p>
            <a:pPr lvl="1"/>
            <a:r>
              <a:rPr lang="fr-BE"/>
              <a:t>V objets "voiture"</a:t>
            </a:r>
          </a:p>
          <a:p>
            <a:pPr lvl="1"/>
            <a:r>
              <a:rPr lang="fr-BE"/>
              <a:t>on dénombre </a:t>
            </a:r>
            <a:r>
              <a:rPr lang="fr-BE" u="sng">
                <a:solidFill>
                  <a:schemeClr val="accent2"/>
                </a:solidFill>
              </a:rPr>
              <a:t>F * V</a:t>
            </a:r>
            <a:r>
              <a:rPr lang="fr-BE"/>
              <a:t> fils de message</a:t>
            </a:r>
          </a:p>
          <a:p>
            <a:pPr lvl="1"/>
            <a:r>
              <a:rPr lang="fr-BE"/>
              <a:t>Les observers devraient gérer des notifications inutiles.</a:t>
            </a:r>
          </a:p>
        </p:txBody>
      </p: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5747173A-FDF5-42B7-AA62-7BFFD7745E00}"/>
              </a:ext>
            </a:extLst>
          </p:cNvPr>
          <p:cNvGrpSpPr/>
          <p:nvPr/>
        </p:nvGrpSpPr>
        <p:grpSpPr>
          <a:xfrm>
            <a:off x="838200" y="4648777"/>
            <a:ext cx="10115746" cy="1980015"/>
            <a:chOff x="838200" y="3894632"/>
            <a:chExt cx="10115746" cy="1980015"/>
          </a:xfrm>
        </p:grpSpPr>
        <p:pic>
          <p:nvPicPr>
            <p:cNvPr id="8" name="Graphique 7" descr="Voiture avec un remplissage uni">
              <a:extLst>
                <a:ext uri="{FF2B5EF4-FFF2-40B4-BE49-F238E27FC236}">
                  <a16:creationId xmlns:a16="http://schemas.microsoft.com/office/drawing/2014/main" id="{1C11EAD0-4BF2-4B59-A6DE-FD3DAAB17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p:blipFill>
          <p:spPr>
            <a:xfrm>
              <a:off x="1596895" y="5151961"/>
              <a:ext cx="720000" cy="720000"/>
            </a:xfrm>
            <a:prstGeom prst="rect">
              <a:avLst/>
            </a:prstGeom>
          </p:spPr>
        </p:pic>
        <p:pic>
          <p:nvPicPr>
            <p:cNvPr id="10" name="Graphique 9" descr="Convertible avec un remplissage uni">
              <a:extLst>
                <a:ext uri="{FF2B5EF4-FFF2-40B4-BE49-F238E27FC236}">
                  <a16:creationId xmlns:a16="http://schemas.microsoft.com/office/drawing/2014/main" id="{01766596-BC66-4694-AA89-503CECD67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8620082" y="5151961"/>
              <a:ext cx="720000" cy="720000"/>
            </a:xfrm>
            <a:prstGeom prst="rect">
              <a:avLst/>
            </a:prstGeom>
          </p:spPr>
        </p:pic>
        <p:pic>
          <p:nvPicPr>
            <p:cNvPr id="12" name="Graphique 11" descr="Convertible contour">
              <a:extLst>
                <a:ext uri="{FF2B5EF4-FFF2-40B4-BE49-F238E27FC236}">
                  <a16:creationId xmlns:a16="http://schemas.microsoft.com/office/drawing/2014/main" id="{8FD803CE-84E0-4CD6-A7DD-790528C4E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7162825" y="5151961"/>
              <a:ext cx="720000" cy="720000"/>
            </a:xfrm>
            <a:prstGeom prst="rect">
              <a:avLst/>
            </a:prstGeom>
          </p:spPr>
        </p:pic>
        <p:pic>
          <p:nvPicPr>
            <p:cNvPr id="14" name="Graphique 13" descr="Voiture contour">
              <a:extLst>
                <a:ext uri="{FF2B5EF4-FFF2-40B4-BE49-F238E27FC236}">
                  <a16:creationId xmlns:a16="http://schemas.microsoft.com/office/drawing/2014/main" id="{15B5EFC5-92D6-4A91-8973-25F1759F2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>
              <a:off x="2971850" y="5154647"/>
              <a:ext cx="720000" cy="720000"/>
            </a:xfrm>
            <a:prstGeom prst="rect">
              <a:avLst/>
            </a:prstGeom>
          </p:spPr>
        </p:pic>
        <p:pic>
          <p:nvPicPr>
            <p:cNvPr id="16" name="Graphique 15" descr="Feux de signalisation avec un remplissage uni">
              <a:extLst>
                <a:ext uri="{FF2B5EF4-FFF2-40B4-BE49-F238E27FC236}">
                  <a16:creationId xmlns:a16="http://schemas.microsoft.com/office/drawing/2014/main" id="{AD4F3269-E9B6-4C64-81F0-5B0C22130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4475951" y="3894632"/>
              <a:ext cx="720000" cy="720000"/>
            </a:xfrm>
            <a:prstGeom prst="rect">
              <a:avLst/>
            </a:prstGeom>
          </p:spPr>
        </p:pic>
        <p:pic>
          <p:nvPicPr>
            <p:cNvPr id="17" name="Graphique 16" descr="Feux de signalisation avec un remplissage uni">
              <a:extLst>
                <a:ext uri="{FF2B5EF4-FFF2-40B4-BE49-F238E27FC236}">
                  <a16:creationId xmlns:a16="http://schemas.microsoft.com/office/drawing/2014/main" id="{39008429-7848-4AFF-869B-FA696A34F5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xmlns="" r:embed="rId13"/>
                </a:ext>
              </a:extLst>
            </a:blip>
            <a:stretch>
              <a:fillRect/>
            </a:stretch>
          </p:blipFill>
          <p:spPr>
            <a:xfrm>
              <a:off x="9704097" y="3894632"/>
              <a:ext cx="720000" cy="720000"/>
            </a:xfrm>
            <a:prstGeom prst="rect">
              <a:avLst/>
            </a:prstGeom>
          </p:spPr>
        </p:pic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C5F42D2B-23BA-41B0-BA56-167D7FD4E9A6}"/>
                </a:ext>
              </a:extLst>
            </p:cNvPr>
            <p:cNvCxnSpPr/>
            <p:nvPr/>
          </p:nvCxnSpPr>
          <p:spPr>
            <a:xfrm>
              <a:off x="838200" y="5788058"/>
              <a:ext cx="10115746" cy="0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B9AFF756-DE95-4C1E-8994-96F82651CC42}"/>
                </a:ext>
              </a:extLst>
            </p:cNvPr>
            <p:cNvCxnSpPr>
              <a:stCxn id="16" idx="1"/>
              <a:endCxn id="8" idx="0"/>
            </p:cNvCxnSpPr>
            <p:nvPr/>
          </p:nvCxnSpPr>
          <p:spPr>
            <a:xfrm flipH="1">
              <a:off x="1956895" y="4254632"/>
              <a:ext cx="2519056" cy="897329"/>
            </a:xfrm>
            <a:prstGeom prst="line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0136E6B0-D3F4-4428-94E8-AA1FA2747D31}"/>
                </a:ext>
              </a:extLst>
            </p:cNvPr>
            <p:cNvCxnSpPr>
              <a:stCxn id="16" idx="1"/>
              <a:endCxn id="14" idx="0"/>
            </p:cNvCxnSpPr>
            <p:nvPr/>
          </p:nvCxnSpPr>
          <p:spPr>
            <a:xfrm flipH="1">
              <a:off x="3331850" y="4254632"/>
              <a:ext cx="1144101" cy="900015"/>
            </a:xfrm>
            <a:prstGeom prst="line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C087C90E-1EA6-4500-BF79-F9ADE7AD1DD9}"/>
                </a:ext>
              </a:extLst>
            </p:cNvPr>
            <p:cNvCxnSpPr>
              <a:cxnSpLocks/>
              <a:stCxn id="16" idx="3"/>
              <a:endCxn id="12" idx="0"/>
            </p:cNvCxnSpPr>
            <p:nvPr/>
          </p:nvCxnSpPr>
          <p:spPr>
            <a:xfrm>
              <a:off x="5195951" y="4254632"/>
              <a:ext cx="2326874" cy="897329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F940087D-CE86-4A9A-A7B3-70C74431F874}"/>
                </a:ext>
              </a:extLst>
            </p:cNvPr>
            <p:cNvCxnSpPr>
              <a:stCxn id="16" idx="3"/>
              <a:endCxn id="10" idx="0"/>
            </p:cNvCxnSpPr>
            <p:nvPr/>
          </p:nvCxnSpPr>
          <p:spPr>
            <a:xfrm>
              <a:off x="5195951" y="4254632"/>
              <a:ext cx="3784131" cy="897329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404E72D1-CAB3-4081-A899-31C46F4F9BDD}"/>
                </a:ext>
              </a:extLst>
            </p:cNvPr>
            <p:cNvCxnSpPr/>
            <p:nvPr/>
          </p:nvCxnSpPr>
          <p:spPr>
            <a:xfrm>
              <a:off x="4835951" y="4529791"/>
              <a:ext cx="0" cy="1258267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DF7CFFD5-E0C4-4A2F-BCA5-67400A168C13}"/>
                </a:ext>
              </a:extLst>
            </p:cNvPr>
            <p:cNvCxnSpPr/>
            <p:nvPr/>
          </p:nvCxnSpPr>
          <p:spPr>
            <a:xfrm>
              <a:off x="10064097" y="4529791"/>
              <a:ext cx="0" cy="1258267"/>
            </a:xfrm>
            <a:prstGeom prst="line">
              <a:avLst/>
            </a:prstGeom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F94CE377-4962-469C-9611-2D8194ADF038}"/>
                </a:ext>
              </a:extLst>
            </p:cNvPr>
            <p:cNvCxnSpPr>
              <a:stCxn id="17" idx="1"/>
              <a:endCxn id="8" idx="0"/>
            </p:cNvCxnSpPr>
            <p:nvPr/>
          </p:nvCxnSpPr>
          <p:spPr>
            <a:xfrm flipH="1">
              <a:off x="1956895" y="4254632"/>
              <a:ext cx="7747202" cy="897329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prstDash val="lgDash"/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D8A9F00C-85FA-4DC1-88A2-CB35E394AB59}"/>
                </a:ext>
              </a:extLst>
            </p:cNvPr>
            <p:cNvCxnSpPr>
              <a:cxnSpLocks/>
              <a:stCxn id="17" idx="1"/>
              <a:endCxn id="14" idx="0"/>
            </p:cNvCxnSpPr>
            <p:nvPr/>
          </p:nvCxnSpPr>
          <p:spPr>
            <a:xfrm flipH="1">
              <a:off x="3331850" y="4254632"/>
              <a:ext cx="6372247" cy="900015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prstDash val="lgDash"/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7B4A489B-98E6-40C5-8C3F-F1BE46B7DE2F}"/>
                </a:ext>
              </a:extLst>
            </p:cNvPr>
            <p:cNvCxnSpPr>
              <a:stCxn id="17" idx="1"/>
              <a:endCxn id="12" idx="0"/>
            </p:cNvCxnSpPr>
            <p:nvPr/>
          </p:nvCxnSpPr>
          <p:spPr>
            <a:xfrm flipH="1">
              <a:off x="7522825" y="4254632"/>
              <a:ext cx="2181272" cy="897329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Connecteur droit 44">
              <a:extLst>
                <a:ext uri="{FF2B5EF4-FFF2-40B4-BE49-F238E27FC236}">
                  <a16:creationId xmlns:a16="http://schemas.microsoft.com/office/drawing/2014/main" id="{893D538F-426D-4D9F-99B9-F56204F1A1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05512" y="4251946"/>
              <a:ext cx="694570" cy="900015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9AAC4A2B-F0E0-495F-A8B7-B0FBFCE999ED}"/>
              </a:ext>
            </a:extLst>
          </p:cNvPr>
          <p:cNvSpPr txBox="1">
            <a:spLocks noChangeAspect="1"/>
          </p:cNvSpPr>
          <p:nvPr/>
        </p:nvSpPr>
        <p:spPr>
          <a:xfrm>
            <a:off x="9005512" y="973327"/>
            <a:ext cx="1981906" cy="15696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 anchorCtr="0">
            <a:spAutoFit/>
          </a:bodyPr>
          <a:lstStyle/>
          <a:p>
            <a:pPr algn="ctr"/>
            <a:r>
              <a:rPr lang="fr-BE" sz="3200" b="1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  <a:latin typeface="Garamond" panose="02020404030301010803" pitchFamily="18" charset="0"/>
              </a:rPr>
              <a:t>Problème avancé et complexe</a:t>
            </a:r>
          </a:p>
        </p:txBody>
      </p:sp>
    </p:spTree>
    <p:extLst>
      <p:ext uri="{BB962C8B-B14F-4D97-AF65-F5344CB8AC3E}">
        <p14:creationId xmlns:p14="http://schemas.microsoft.com/office/powerpoint/2010/main" val="2996584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sujets multiples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0351" y="1327721"/>
            <a:ext cx="5995971" cy="2052513"/>
          </a:xfrm>
        </p:spPr>
        <p:txBody>
          <a:bodyPr>
            <a:normAutofit/>
          </a:bodyPr>
          <a:lstStyle/>
          <a:p>
            <a:r>
              <a:rPr lang="fr-BE"/>
              <a:t>Solution : l' </a:t>
            </a:r>
            <a:r>
              <a:rPr lang="fr-BE">
                <a:solidFill>
                  <a:schemeClr val="accent2"/>
                </a:solidFill>
              </a:rPr>
              <a:t>event engine</a:t>
            </a:r>
          </a:p>
          <a:p>
            <a:pPr lvl="1"/>
            <a:r>
              <a:rPr lang="fr-BE">
                <a:solidFill>
                  <a:schemeClr val="tx1"/>
                </a:solidFill>
              </a:rPr>
              <a:t>Gérer les souscriptions</a:t>
            </a:r>
          </a:p>
          <a:p>
            <a:pPr lvl="1"/>
            <a:r>
              <a:rPr lang="fr-BE">
                <a:solidFill>
                  <a:schemeClr val="tx1"/>
                </a:solidFill>
              </a:rPr>
              <a:t>Flux de messages: en triangle</a:t>
            </a:r>
          </a:p>
        </p:txBody>
      </p:sp>
      <p:grpSp>
        <p:nvGrpSpPr>
          <p:cNvPr id="70" name="Groupe 69">
            <a:extLst>
              <a:ext uri="{FF2B5EF4-FFF2-40B4-BE49-F238E27FC236}">
                <a16:creationId xmlns:a16="http://schemas.microsoft.com/office/drawing/2014/main" id="{5FAF99FD-2E60-4235-B5B6-2998B6B353B3}"/>
              </a:ext>
            </a:extLst>
          </p:cNvPr>
          <p:cNvGrpSpPr/>
          <p:nvPr/>
        </p:nvGrpSpPr>
        <p:grpSpPr>
          <a:xfrm>
            <a:off x="838200" y="2926190"/>
            <a:ext cx="10115746" cy="3702602"/>
            <a:chOff x="838200" y="2926190"/>
            <a:chExt cx="10115746" cy="3702602"/>
          </a:xfrm>
        </p:grpSpPr>
        <p:pic>
          <p:nvPicPr>
            <p:cNvPr id="8" name="Graphique 7" descr="Voiture avec un remplissage uni">
              <a:extLst>
                <a:ext uri="{FF2B5EF4-FFF2-40B4-BE49-F238E27FC236}">
                  <a16:creationId xmlns:a16="http://schemas.microsoft.com/office/drawing/2014/main" id="{1C11EAD0-4BF2-4B59-A6DE-FD3DAAB17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p:blipFill>
          <p:spPr>
            <a:xfrm>
              <a:off x="1596895" y="5906106"/>
              <a:ext cx="720000" cy="720000"/>
            </a:xfrm>
            <a:prstGeom prst="rect">
              <a:avLst/>
            </a:prstGeom>
          </p:spPr>
        </p:pic>
        <p:pic>
          <p:nvPicPr>
            <p:cNvPr id="10" name="Graphique 9" descr="Convertible avec un remplissage uni">
              <a:extLst>
                <a:ext uri="{FF2B5EF4-FFF2-40B4-BE49-F238E27FC236}">
                  <a16:creationId xmlns:a16="http://schemas.microsoft.com/office/drawing/2014/main" id="{01766596-BC66-4694-AA89-503CECD67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8620082" y="5906106"/>
              <a:ext cx="720000" cy="720000"/>
            </a:xfrm>
            <a:prstGeom prst="rect">
              <a:avLst/>
            </a:prstGeom>
          </p:spPr>
        </p:pic>
        <p:pic>
          <p:nvPicPr>
            <p:cNvPr id="12" name="Graphique 11" descr="Convertible contour">
              <a:extLst>
                <a:ext uri="{FF2B5EF4-FFF2-40B4-BE49-F238E27FC236}">
                  <a16:creationId xmlns:a16="http://schemas.microsoft.com/office/drawing/2014/main" id="{8FD803CE-84E0-4CD6-A7DD-790528C4E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7162825" y="5906106"/>
              <a:ext cx="720000" cy="720000"/>
            </a:xfrm>
            <a:prstGeom prst="rect">
              <a:avLst/>
            </a:prstGeom>
          </p:spPr>
        </p:pic>
        <p:pic>
          <p:nvPicPr>
            <p:cNvPr id="14" name="Graphique 13" descr="Voiture contour">
              <a:extLst>
                <a:ext uri="{FF2B5EF4-FFF2-40B4-BE49-F238E27FC236}">
                  <a16:creationId xmlns:a16="http://schemas.microsoft.com/office/drawing/2014/main" id="{15B5EFC5-92D6-4A91-8973-25F1759F2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>
              <a:off x="2971850" y="5908792"/>
              <a:ext cx="720000" cy="720000"/>
            </a:xfrm>
            <a:prstGeom prst="rect">
              <a:avLst/>
            </a:prstGeom>
          </p:spPr>
        </p:pic>
        <p:pic>
          <p:nvPicPr>
            <p:cNvPr id="16" name="Graphique 15" descr="Feux de signalisation avec un remplissage uni">
              <a:extLst>
                <a:ext uri="{FF2B5EF4-FFF2-40B4-BE49-F238E27FC236}">
                  <a16:creationId xmlns:a16="http://schemas.microsoft.com/office/drawing/2014/main" id="{AD4F3269-E9B6-4C64-81F0-5B0C22130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4475951" y="4648777"/>
              <a:ext cx="720000" cy="720000"/>
            </a:xfrm>
            <a:prstGeom prst="rect">
              <a:avLst/>
            </a:prstGeom>
          </p:spPr>
        </p:pic>
        <p:pic>
          <p:nvPicPr>
            <p:cNvPr id="17" name="Graphique 16" descr="Feux de signalisation avec un remplissage uni">
              <a:extLst>
                <a:ext uri="{FF2B5EF4-FFF2-40B4-BE49-F238E27FC236}">
                  <a16:creationId xmlns:a16="http://schemas.microsoft.com/office/drawing/2014/main" id="{39008429-7848-4AFF-869B-FA696A34F5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xmlns="" r:embed="rId13"/>
                </a:ext>
              </a:extLst>
            </a:blip>
            <a:stretch>
              <a:fillRect/>
            </a:stretch>
          </p:blipFill>
          <p:spPr>
            <a:xfrm>
              <a:off x="9704097" y="4648777"/>
              <a:ext cx="720000" cy="720000"/>
            </a:xfrm>
            <a:prstGeom prst="rect">
              <a:avLst/>
            </a:prstGeom>
          </p:spPr>
        </p:pic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C5F42D2B-23BA-41B0-BA56-167D7FD4E9A6}"/>
                </a:ext>
              </a:extLst>
            </p:cNvPr>
            <p:cNvCxnSpPr/>
            <p:nvPr/>
          </p:nvCxnSpPr>
          <p:spPr>
            <a:xfrm>
              <a:off x="838200" y="6542203"/>
              <a:ext cx="10115746" cy="0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B9AFF756-DE95-4C1E-8994-96F82651CC42}"/>
                </a:ext>
              </a:extLst>
            </p:cNvPr>
            <p:cNvCxnSpPr>
              <a:stCxn id="16" idx="1"/>
              <a:endCxn id="8" idx="0"/>
            </p:cNvCxnSpPr>
            <p:nvPr/>
          </p:nvCxnSpPr>
          <p:spPr>
            <a:xfrm flipH="1">
              <a:off x="1956895" y="5008777"/>
              <a:ext cx="2519056" cy="897329"/>
            </a:xfrm>
            <a:prstGeom prst="line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0136E6B0-D3F4-4428-94E8-AA1FA2747D31}"/>
                </a:ext>
              </a:extLst>
            </p:cNvPr>
            <p:cNvCxnSpPr>
              <a:stCxn id="16" idx="1"/>
              <a:endCxn id="14" idx="0"/>
            </p:cNvCxnSpPr>
            <p:nvPr/>
          </p:nvCxnSpPr>
          <p:spPr>
            <a:xfrm flipH="1">
              <a:off x="3331850" y="5008777"/>
              <a:ext cx="1144101" cy="900015"/>
            </a:xfrm>
            <a:prstGeom prst="line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404E72D1-CAB3-4081-A899-31C46F4F9BDD}"/>
                </a:ext>
              </a:extLst>
            </p:cNvPr>
            <p:cNvCxnSpPr/>
            <p:nvPr/>
          </p:nvCxnSpPr>
          <p:spPr>
            <a:xfrm>
              <a:off x="4835951" y="5283936"/>
              <a:ext cx="0" cy="1258267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DF7CFFD5-E0C4-4A2F-BCA5-67400A168C13}"/>
                </a:ext>
              </a:extLst>
            </p:cNvPr>
            <p:cNvCxnSpPr/>
            <p:nvPr/>
          </p:nvCxnSpPr>
          <p:spPr>
            <a:xfrm>
              <a:off x="10064097" y="5283936"/>
              <a:ext cx="0" cy="1258267"/>
            </a:xfrm>
            <a:prstGeom prst="line">
              <a:avLst/>
            </a:prstGeom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7B4A489B-98E6-40C5-8C3F-F1BE46B7DE2F}"/>
                </a:ext>
              </a:extLst>
            </p:cNvPr>
            <p:cNvCxnSpPr>
              <a:stCxn id="17" idx="1"/>
              <a:endCxn id="12" idx="0"/>
            </p:cNvCxnSpPr>
            <p:nvPr/>
          </p:nvCxnSpPr>
          <p:spPr>
            <a:xfrm flipH="1">
              <a:off x="7522825" y="5008777"/>
              <a:ext cx="2181272" cy="897329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Connecteur droit 44">
              <a:extLst>
                <a:ext uri="{FF2B5EF4-FFF2-40B4-BE49-F238E27FC236}">
                  <a16:creationId xmlns:a16="http://schemas.microsoft.com/office/drawing/2014/main" id="{893D538F-426D-4D9F-99B9-F56204F1A1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05512" y="5006091"/>
              <a:ext cx="694570" cy="900015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pic>
          <p:nvPicPr>
            <p:cNvPr id="23" name="Graphique 22" descr="Jumelles avec un remplissage uni">
              <a:extLst>
                <a:ext uri="{FF2B5EF4-FFF2-40B4-BE49-F238E27FC236}">
                  <a16:creationId xmlns:a16="http://schemas.microsoft.com/office/drawing/2014/main" id="{87864AE5-C2C0-442C-8709-E575448D8C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xmlns="" r:embed="rId15"/>
                </a:ext>
              </a:extLst>
            </a:blip>
            <a:stretch>
              <a:fillRect/>
            </a:stretch>
          </p:blipFill>
          <p:spPr>
            <a:xfrm>
              <a:off x="4281551" y="2926190"/>
              <a:ext cx="914400" cy="914400"/>
            </a:xfrm>
            <a:prstGeom prst="rect">
              <a:avLst/>
            </a:prstGeom>
          </p:spPr>
        </p:pic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FA7A6E34-748E-4F02-B27D-CB504C53ECFB}"/>
                </a:ext>
              </a:extLst>
            </p:cNvPr>
            <p:cNvCxnSpPr>
              <a:cxnSpLocks/>
              <a:stCxn id="23" idx="2"/>
              <a:endCxn id="8" idx="0"/>
            </p:cNvCxnSpPr>
            <p:nvPr/>
          </p:nvCxnSpPr>
          <p:spPr>
            <a:xfrm flipH="1">
              <a:off x="1956895" y="3840590"/>
              <a:ext cx="2781856" cy="2065516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C59C4C7B-7A75-43F9-BC16-1319DAA83333}"/>
                </a:ext>
              </a:extLst>
            </p:cNvPr>
            <p:cNvCxnSpPr>
              <a:cxnSpLocks/>
              <a:stCxn id="23" idx="2"/>
              <a:endCxn id="14" idx="0"/>
            </p:cNvCxnSpPr>
            <p:nvPr/>
          </p:nvCxnSpPr>
          <p:spPr>
            <a:xfrm flipH="1">
              <a:off x="3331850" y="3840590"/>
              <a:ext cx="1406901" cy="2068202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B2CD0BA7-FB3A-4C72-824C-D232742A1266}"/>
                </a:ext>
              </a:extLst>
            </p:cNvPr>
            <p:cNvCxnSpPr>
              <a:cxnSpLocks/>
              <a:stCxn id="23" idx="2"/>
              <a:endCxn id="10" idx="0"/>
            </p:cNvCxnSpPr>
            <p:nvPr/>
          </p:nvCxnSpPr>
          <p:spPr>
            <a:xfrm>
              <a:off x="4738751" y="3840590"/>
              <a:ext cx="4241331" cy="2065516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021A0BBB-CB13-47EB-BAEE-6BC609283F18}"/>
                </a:ext>
              </a:extLst>
            </p:cNvPr>
            <p:cNvCxnSpPr>
              <a:cxnSpLocks/>
              <a:stCxn id="23" idx="2"/>
              <a:endCxn id="12" idx="0"/>
            </p:cNvCxnSpPr>
            <p:nvPr/>
          </p:nvCxnSpPr>
          <p:spPr>
            <a:xfrm>
              <a:off x="4738751" y="3840590"/>
              <a:ext cx="2784074" cy="2065516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avec flèche 58">
              <a:extLst>
                <a:ext uri="{FF2B5EF4-FFF2-40B4-BE49-F238E27FC236}">
                  <a16:creationId xmlns:a16="http://schemas.microsoft.com/office/drawing/2014/main" id="{30B798B6-AC71-414F-B352-0973F4059714}"/>
                </a:ext>
              </a:extLst>
            </p:cNvPr>
            <p:cNvCxnSpPr>
              <a:cxnSpLocks/>
              <a:stCxn id="23" idx="2"/>
              <a:endCxn id="16" idx="0"/>
            </p:cNvCxnSpPr>
            <p:nvPr/>
          </p:nvCxnSpPr>
          <p:spPr>
            <a:xfrm>
              <a:off x="4738751" y="3840590"/>
              <a:ext cx="97200" cy="808187"/>
            </a:xfrm>
            <a:prstGeom prst="straightConnector1">
              <a:avLst/>
            </a:prstGeom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triangle" w="lg" len="lg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1" name="Connecteur droit avec flèche 60">
              <a:extLst>
                <a:ext uri="{FF2B5EF4-FFF2-40B4-BE49-F238E27FC236}">
                  <a16:creationId xmlns:a16="http://schemas.microsoft.com/office/drawing/2014/main" id="{F9640640-BAF1-4444-96DC-907C6415E284}"/>
                </a:ext>
              </a:extLst>
            </p:cNvPr>
            <p:cNvCxnSpPr>
              <a:cxnSpLocks/>
              <a:stCxn id="23" idx="2"/>
              <a:endCxn id="17" idx="0"/>
            </p:cNvCxnSpPr>
            <p:nvPr/>
          </p:nvCxnSpPr>
          <p:spPr>
            <a:xfrm>
              <a:off x="4738751" y="3840590"/>
              <a:ext cx="5325346" cy="808187"/>
            </a:xfrm>
            <a:prstGeom prst="straightConnector1">
              <a:avLst/>
            </a:prstGeom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triangle" w="lg" len="lg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26" name="ZoneTexte 25">
            <a:extLst>
              <a:ext uri="{FF2B5EF4-FFF2-40B4-BE49-F238E27FC236}">
                <a16:creationId xmlns:a16="http://schemas.microsoft.com/office/drawing/2014/main" id="{1590EFB7-5BE2-4B29-A220-2082A698E49A}"/>
              </a:ext>
            </a:extLst>
          </p:cNvPr>
          <p:cNvSpPr txBox="1"/>
          <p:nvPr/>
        </p:nvSpPr>
        <p:spPr>
          <a:xfrm>
            <a:off x="5195951" y="3108067"/>
            <a:ext cx="18299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>
                <a:solidFill>
                  <a:schemeClr val="accent2"/>
                </a:solidFill>
                <a:latin typeface="Garamond" panose="02020404030301010803" pitchFamily="18" charset="0"/>
              </a:rPr>
              <a:t>event engine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FBB7F4B3-AAD0-4B1E-936D-6E7016BEF974}"/>
              </a:ext>
            </a:extLst>
          </p:cNvPr>
          <p:cNvSpPr txBox="1"/>
          <p:nvPr/>
        </p:nvSpPr>
        <p:spPr>
          <a:xfrm>
            <a:off x="5164605" y="5067211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>
                <a:latin typeface="Garamond" panose="02020404030301010803" pitchFamily="18" charset="0"/>
              </a:rPr>
              <a:t>observable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B4949CB3-DB96-4E5B-A31D-8B82644A77BD}"/>
              </a:ext>
            </a:extLst>
          </p:cNvPr>
          <p:cNvSpPr txBox="1"/>
          <p:nvPr/>
        </p:nvSpPr>
        <p:spPr>
          <a:xfrm>
            <a:off x="10064097" y="4078071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>
                <a:solidFill>
                  <a:schemeClr val="accent6">
                    <a:lumMod val="50000"/>
                  </a:schemeClr>
                </a:solidFill>
                <a:latin typeface="Garamond" panose="02020404030301010803" pitchFamily="18" charset="0"/>
              </a:rPr>
              <a:t>observable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A745922A-1F43-493F-B872-E6F9AE1D4524}"/>
              </a:ext>
            </a:extLst>
          </p:cNvPr>
          <p:cNvSpPr txBox="1"/>
          <p:nvPr/>
        </p:nvSpPr>
        <p:spPr>
          <a:xfrm>
            <a:off x="1137415" y="6501941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BE" sz="2400">
                <a:solidFill>
                  <a:schemeClr val="accent1"/>
                </a:solidFill>
                <a:latin typeface="Garamond" panose="02020404030301010803" pitchFamily="18" charset="0"/>
              </a:rPr>
              <a:t>observer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FF7CBDC8-1CCF-4AF3-B677-E9B945F50FCE}"/>
              </a:ext>
            </a:extLst>
          </p:cNvPr>
          <p:cNvSpPr txBox="1"/>
          <p:nvPr/>
        </p:nvSpPr>
        <p:spPr>
          <a:xfrm>
            <a:off x="2512370" y="6497162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BE" sz="2400">
                <a:solidFill>
                  <a:schemeClr val="accent1"/>
                </a:solidFill>
                <a:latin typeface="Garamond" panose="02020404030301010803" pitchFamily="18" charset="0"/>
              </a:rPr>
              <a:t>observer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7D61CCBB-42A7-495E-AC60-EF9269F320F2}"/>
              </a:ext>
            </a:extLst>
          </p:cNvPr>
          <p:cNvSpPr txBox="1"/>
          <p:nvPr/>
        </p:nvSpPr>
        <p:spPr>
          <a:xfrm>
            <a:off x="6703345" y="6480834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BE" sz="2400">
                <a:solidFill>
                  <a:schemeClr val="accent1"/>
                </a:solidFill>
                <a:latin typeface="Garamond" panose="02020404030301010803" pitchFamily="18" charset="0"/>
              </a:rPr>
              <a:t>observer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2D09D670-5B38-4D6C-9F8E-391418204364}"/>
              </a:ext>
            </a:extLst>
          </p:cNvPr>
          <p:cNvSpPr txBox="1"/>
          <p:nvPr/>
        </p:nvSpPr>
        <p:spPr>
          <a:xfrm>
            <a:off x="8160602" y="6480834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BE" sz="2400">
                <a:solidFill>
                  <a:schemeClr val="accent1"/>
                </a:solidFill>
                <a:latin typeface="Garamond" panose="02020404030301010803" pitchFamily="18" charset="0"/>
              </a:rPr>
              <a:t>observer</a:t>
            </a:r>
          </a:p>
        </p:txBody>
      </p:sp>
    </p:spTree>
    <p:extLst>
      <p:ext uri="{BB962C8B-B14F-4D97-AF65-F5344CB8AC3E}">
        <p14:creationId xmlns:p14="http://schemas.microsoft.com/office/powerpoint/2010/main" val="806058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sujets multiples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olidFill>
                  <a:schemeClr val="accent2"/>
                </a:solidFill>
              </a:rPr>
              <a:t>event engine</a:t>
            </a:r>
          </a:p>
          <a:p>
            <a:pPr lvl="1"/>
            <a:r>
              <a:rPr lang="fr-BE"/>
              <a:t>F objets "feu"</a:t>
            </a:r>
          </a:p>
          <a:p>
            <a:pPr lvl="1"/>
            <a:r>
              <a:rPr lang="fr-BE"/>
              <a:t>V objets "voiture"</a:t>
            </a:r>
          </a:p>
          <a:p>
            <a:pPr lvl="1"/>
            <a:r>
              <a:rPr lang="fr-BE" dirty="0"/>
              <a:t>on </a:t>
            </a:r>
            <a:r>
              <a:rPr lang="fr-BE"/>
              <a:t>dénombre approx. </a:t>
            </a:r>
            <a:r>
              <a:rPr lang="fr-BE" u="sng">
                <a:solidFill>
                  <a:schemeClr val="accent2"/>
                </a:solidFill>
              </a:rPr>
              <a:t>2V+ F</a:t>
            </a:r>
            <a:r>
              <a:rPr lang="fr-BE"/>
              <a:t> </a:t>
            </a:r>
            <a:r>
              <a:rPr lang="fr-BE" dirty="0"/>
              <a:t>fils</a:t>
            </a:r>
          </a:p>
          <a:p>
            <a:endParaRPr lang="fr-BE" dirty="0">
              <a:solidFill>
                <a:schemeClr val="accent2"/>
              </a:solidFill>
            </a:endParaRPr>
          </a:p>
        </p:txBody>
      </p:sp>
      <p:grpSp>
        <p:nvGrpSpPr>
          <p:cNvPr id="70" name="Groupe 69">
            <a:extLst>
              <a:ext uri="{FF2B5EF4-FFF2-40B4-BE49-F238E27FC236}">
                <a16:creationId xmlns:a16="http://schemas.microsoft.com/office/drawing/2014/main" id="{5FAF99FD-2E60-4235-B5B6-2998B6B353B3}"/>
              </a:ext>
            </a:extLst>
          </p:cNvPr>
          <p:cNvGrpSpPr/>
          <p:nvPr/>
        </p:nvGrpSpPr>
        <p:grpSpPr>
          <a:xfrm>
            <a:off x="2311905" y="3938955"/>
            <a:ext cx="7261650" cy="2654668"/>
            <a:chOff x="838200" y="2926190"/>
            <a:chExt cx="10115746" cy="3702602"/>
          </a:xfrm>
        </p:grpSpPr>
        <p:pic>
          <p:nvPicPr>
            <p:cNvPr id="8" name="Graphique 7" descr="Voiture avec un remplissage uni">
              <a:extLst>
                <a:ext uri="{FF2B5EF4-FFF2-40B4-BE49-F238E27FC236}">
                  <a16:creationId xmlns:a16="http://schemas.microsoft.com/office/drawing/2014/main" id="{1C11EAD0-4BF2-4B59-A6DE-FD3DAAB17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p:blipFill>
          <p:spPr>
            <a:xfrm>
              <a:off x="1596895" y="5906106"/>
              <a:ext cx="720000" cy="720000"/>
            </a:xfrm>
            <a:prstGeom prst="rect">
              <a:avLst/>
            </a:prstGeom>
          </p:spPr>
        </p:pic>
        <p:pic>
          <p:nvPicPr>
            <p:cNvPr id="10" name="Graphique 9" descr="Convertible avec un remplissage uni">
              <a:extLst>
                <a:ext uri="{FF2B5EF4-FFF2-40B4-BE49-F238E27FC236}">
                  <a16:creationId xmlns:a16="http://schemas.microsoft.com/office/drawing/2014/main" id="{01766596-BC66-4694-AA89-503CECD67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8620082" y="5906106"/>
              <a:ext cx="720000" cy="720000"/>
            </a:xfrm>
            <a:prstGeom prst="rect">
              <a:avLst/>
            </a:prstGeom>
          </p:spPr>
        </p:pic>
        <p:pic>
          <p:nvPicPr>
            <p:cNvPr id="12" name="Graphique 11" descr="Convertible contour">
              <a:extLst>
                <a:ext uri="{FF2B5EF4-FFF2-40B4-BE49-F238E27FC236}">
                  <a16:creationId xmlns:a16="http://schemas.microsoft.com/office/drawing/2014/main" id="{8FD803CE-84E0-4CD6-A7DD-790528C4E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7162825" y="5906106"/>
              <a:ext cx="720000" cy="720000"/>
            </a:xfrm>
            <a:prstGeom prst="rect">
              <a:avLst/>
            </a:prstGeom>
          </p:spPr>
        </p:pic>
        <p:pic>
          <p:nvPicPr>
            <p:cNvPr id="14" name="Graphique 13" descr="Voiture contour">
              <a:extLst>
                <a:ext uri="{FF2B5EF4-FFF2-40B4-BE49-F238E27FC236}">
                  <a16:creationId xmlns:a16="http://schemas.microsoft.com/office/drawing/2014/main" id="{15B5EFC5-92D6-4A91-8973-25F1759F2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>
              <a:off x="2971850" y="5908792"/>
              <a:ext cx="720000" cy="720000"/>
            </a:xfrm>
            <a:prstGeom prst="rect">
              <a:avLst/>
            </a:prstGeom>
          </p:spPr>
        </p:pic>
        <p:pic>
          <p:nvPicPr>
            <p:cNvPr id="16" name="Graphique 15" descr="Feux de signalisation avec un remplissage uni">
              <a:extLst>
                <a:ext uri="{FF2B5EF4-FFF2-40B4-BE49-F238E27FC236}">
                  <a16:creationId xmlns:a16="http://schemas.microsoft.com/office/drawing/2014/main" id="{AD4F3269-E9B6-4C64-81F0-5B0C22130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4475951" y="4648777"/>
              <a:ext cx="720000" cy="720000"/>
            </a:xfrm>
            <a:prstGeom prst="rect">
              <a:avLst/>
            </a:prstGeom>
          </p:spPr>
        </p:pic>
        <p:pic>
          <p:nvPicPr>
            <p:cNvPr id="17" name="Graphique 16" descr="Feux de signalisation avec un remplissage uni">
              <a:extLst>
                <a:ext uri="{FF2B5EF4-FFF2-40B4-BE49-F238E27FC236}">
                  <a16:creationId xmlns:a16="http://schemas.microsoft.com/office/drawing/2014/main" id="{39008429-7848-4AFF-869B-FA696A34F5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xmlns="" r:embed="rId13"/>
                </a:ext>
              </a:extLst>
            </a:blip>
            <a:stretch>
              <a:fillRect/>
            </a:stretch>
          </p:blipFill>
          <p:spPr>
            <a:xfrm>
              <a:off x="9704097" y="4648777"/>
              <a:ext cx="720000" cy="720000"/>
            </a:xfrm>
            <a:prstGeom prst="rect">
              <a:avLst/>
            </a:prstGeom>
          </p:spPr>
        </p:pic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C5F42D2B-23BA-41B0-BA56-167D7FD4E9A6}"/>
                </a:ext>
              </a:extLst>
            </p:cNvPr>
            <p:cNvCxnSpPr/>
            <p:nvPr/>
          </p:nvCxnSpPr>
          <p:spPr>
            <a:xfrm>
              <a:off x="838200" y="6542203"/>
              <a:ext cx="10115746" cy="0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B9AFF756-DE95-4C1E-8994-96F82651CC42}"/>
                </a:ext>
              </a:extLst>
            </p:cNvPr>
            <p:cNvCxnSpPr>
              <a:stCxn id="16" idx="1"/>
              <a:endCxn id="8" idx="0"/>
            </p:cNvCxnSpPr>
            <p:nvPr/>
          </p:nvCxnSpPr>
          <p:spPr>
            <a:xfrm flipH="1">
              <a:off x="1956895" y="5008777"/>
              <a:ext cx="2519056" cy="897329"/>
            </a:xfrm>
            <a:prstGeom prst="line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0136E6B0-D3F4-4428-94E8-AA1FA2747D31}"/>
                </a:ext>
              </a:extLst>
            </p:cNvPr>
            <p:cNvCxnSpPr>
              <a:stCxn id="16" idx="1"/>
              <a:endCxn id="14" idx="0"/>
            </p:cNvCxnSpPr>
            <p:nvPr/>
          </p:nvCxnSpPr>
          <p:spPr>
            <a:xfrm flipH="1">
              <a:off x="3331850" y="5008777"/>
              <a:ext cx="1144101" cy="900015"/>
            </a:xfrm>
            <a:prstGeom prst="line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404E72D1-CAB3-4081-A899-31C46F4F9BDD}"/>
                </a:ext>
              </a:extLst>
            </p:cNvPr>
            <p:cNvCxnSpPr/>
            <p:nvPr/>
          </p:nvCxnSpPr>
          <p:spPr>
            <a:xfrm>
              <a:off x="4835951" y="5283936"/>
              <a:ext cx="0" cy="1258267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DF7CFFD5-E0C4-4A2F-BCA5-67400A168C13}"/>
                </a:ext>
              </a:extLst>
            </p:cNvPr>
            <p:cNvCxnSpPr/>
            <p:nvPr/>
          </p:nvCxnSpPr>
          <p:spPr>
            <a:xfrm>
              <a:off x="10064097" y="5283936"/>
              <a:ext cx="0" cy="1258267"/>
            </a:xfrm>
            <a:prstGeom prst="line">
              <a:avLst/>
            </a:prstGeom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7B4A489B-98E6-40C5-8C3F-F1BE46B7DE2F}"/>
                </a:ext>
              </a:extLst>
            </p:cNvPr>
            <p:cNvCxnSpPr>
              <a:stCxn id="17" idx="1"/>
              <a:endCxn id="12" idx="0"/>
            </p:cNvCxnSpPr>
            <p:nvPr/>
          </p:nvCxnSpPr>
          <p:spPr>
            <a:xfrm flipH="1">
              <a:off x="7522825" y="5008777"/>
              <a:ext cx="2181272" cy="897329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Connecteur droit 44">
              <a:extLst>
                <a:ext uri="{FF2B5EF4-FFF2-40B4-BE49-F238E27FC236}">
                  <a16:creationId xmlns:a16="http://schemas.microsoft.com/office/drawing/2014/main" id="{893D538F-426D-4D9F-99B9-F56204F1A1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05512" y="5006091"/>
              <a:ext cx="694570" cy="900015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pic>
          <p:nvPicPr>
            <p:cNvPr id="23" name="Graphique 22" descr="Jumelles avec un remplissage uni">
              <a:extLst>
                <a:ext uri="{FF2B5EF4-FFF2-40B4-BE49-F238E27FC236}">
                  <a16:creationId xmlns:a16="http://schemas.microsoft.com/office/drawing/2014/main" id="{87864AE5-C2C0-442C-8709-E575448D8C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xmlns="" r:embed="rId15"/>
                </a:ext>
              </a:extLst>
            </a:blip>
            <a:stretch>
              <a:fillRect/>
            </a:stretch>
          </p:blipFill>
          <p:spPr>
            <a:xfrm>
              <a:off x="4281551" y="2926190"/>
              <a:ext cx="914400" cy="914400"/>
            </a:xfrm>
            <a:prstGeom prst="rect">
              <a:avLst/>
            </a:prstGeom>
          </p:spPr>
        </p:pic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FA7A6E34-748E-4F02-B27D-CB504C53ECFB}"/>
                </a:ext>
              </a:extLst>
            </p:cNvPr>
            <p:cNvCxnSpPr>
              <a:cxnSpLocks/>
              <a:stCxn id="23" idx="2"/>
              <a:endCxn id="8" idx="0"/>
            </p:cNvCxnSpPr>
            <p:nvPr/>
          </p:nvCxnSpPr>
          <p:spPr>
            <a:xfrm flipH="1">
              <a:off x="1956895" y="3840590"/>
              <a:ext cx="2781856" cy="2065516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C59C4C7B-7A75-43F9-BC16-1319DAA83333}"/>
                </a:ext>
              </a:extLst>
            </p:cNvPr>
            <p:cNvCxnSpPr>
              <a:cxnSpLocks/>
              <a:stCxn id="23" idx="2"/>
              <a:endCxn id="14" idx="0"/>
            </p:cNvCxnSpPr>
            <p:nvPr/>
          </p:nvCxnSpPr>
          <p:spPr>
            <a:xfrm flipH="1">
              <a:off x="3331850" y="3840590"/>
              <a:ext cx="1406901" cy="2068202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B2CD0BA7-FB3A-4C72-824C-D232742A1266}"/>
                </a:ext>
              </a:extLst>
            </p:cNvPr>
            <p:cNvCxnSpPr>
              <a:cxnSpLocks/>
              <a:stCxn id="23" idx="2"/>
              <a:endCxn id="10" idx="0"/>
            </p:cNvCxnSpPr>
            <p:nvPr/>
          </p:nvCxnSpPr>
          <p:spPr>
            <a:xfrm>
              <a:off x="4738751" y="3840590"/>
              <a:ext cx="4241331" cy="2065516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021A0BBB-CB13-47EB-BAEE-6BC609283F18}"/>
                </a:ext>
              </a:extLst>
            </p:cNvPr>
            <p:cNvCxnSpPr>
              <a:cxnSpLocks/>
              <a:stCxn id="23" idx="2"/>
              <a:endCxn id="12" idx="0"/>
            </p:cNvCxnSpPr>
            <p:nvPr/>
          </p:nvCxnSpPr>
          <p:spPr>
            <a:xfrm>
              <a:off x="4738751" y="3840590"/>
              <a:ext cx="2784074" cy="2065516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avec flèche 58">
              <a:extLst>
                <a:ext uri="{FF2B5EF4-FFF2-40B4-BE49-F238E27FC236}">
                  <a16:creationId xmlns:a16="http://schemas.microsoft.com/office/drawing/2014/main" id="{30B798B6-AC71-414F-B352-0973F4059714}"/>
                </a:ext>
              </a:extLst>
            </p:cNvPr>
            <p:cNvCxnSpPr>
              <a:cxnSpLocks/>
              <a:stCxn id="23" idx="2"/>
              <a:endCxn id="16" idx="0"/>
            </p:cNvCxnSpPr>
            <p:nvPr/>
          </p:nvCxnSpPr>
          <p:spPr>
            <a:xfrm>
              <a:off x="4738751" y="3840590"/>
              <a:ext cx="97200" cy="808187"/>
            </a:xfrm>
            <a:prstGeom prst="straightConnector1">
              <a:avLst/>
            </a:prstGeom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triangle" w="lg" len="lg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1" name="Connecteur droit avec flèche 60">
              <a:extLst>
                <a:ext uri="{FF2B5EF4-FFF2-40B4-BE49-F238E27FC236}">
                  <a16:creationId xmlns:a16="http://schemas.microsoft.com/office/drawing/2014/main" id="{F9640640-BAF1-4444-96DC-907C6415E284}"/>
                </a:ext>
              </a:extLst>
            </p:cNvPr>
            <p:cNvCxnSpPr>
              <a:cxnSpLocks/>
              <a:stCxn id="23" idx="2"/>
              <a:endCxn id="17" idx="0"/>
            </p:cNvCxnSpPr>
            <p:nvPr/>
          </p:nvCxnSpPr>
          <p:spPr>
            <a:xfrm>
              <a:off x="4738751" y="3840590"/>
              <a:ext cx="5325346" cy="808187"/>
            </a:xfrm>
            <a:prstGeom prst="straightConnector1">
              <a:avLst/>
            </a:prstGeom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triangle" w="lg" len="lg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45992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sujets multiples : Architecture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8968" y="1507959"/>
            <a:ext cx="11502190" cy="4462018"/>
          </a:xfrm>
        </p:spPr>
        <p:txBody>
          <a:bodyPr numCol="2" spcCol="180000">
            <a:normAutofit fontScale="92500" lnSpcReduction="10000"/>
          </a:bodyPr>
          <a:lstStyle/>
          <a:p>
            <a:r>
              <a:rPr lang="fr-BE"/>
              <a:t>Relation Many-To-Many</a:t>
            </a:r>
          </a:p>
          <a:p>
            <a:pPr lvl="1"/>
            <a:r>
              <a:rPr lang="fr-BE"/>
              <a:t>plusieurs sujets</a:t>
            </a:r>
          </a:p>
          <a:p>
            <a:pPr lvl="1"/>
            <a:r>
              <a:rPr lang="fr-BE"/>
              <a:t>plusieurs observateurs</a:t>
            </a:r>
          </a:p>
          <a:p>
            <a:pPr lvl="1"/>
            <a:r>
              <a:rPr lang="fr-BE"/>
              <a:t>souscriptions variables </a:t>
            </a:r>
          </a:p>
          <a:p>
            <a:endParaRPr lang="fr-BE"/>
          </a:p>
          <a:p>
            <a:endParaRPr lang="fr-BE"/>
          </a:p>
          <a:p>
            <a:pPr marL="0" indent="0">
              <a:buNone/>
            </a:pPr>
            <a:endParaRPr lang="fr-BE"/>
          </a:p>
          <a:p>
            <a:endParaRPr lang="fr-BE"/>
          </a:p>
          <a:p>
            <a:endParaRPr lang="fr-BE"/>
          </a:p>
          <a:p>
            <a:r>
              <a:rPr lang="fr-BE"/>
              <a:t>Sujet </a:t>
            </a:r>
            <a:r>
              <a:rPr lang="fr-BE">
                <a:solidFill>
                  <a:schemeClr val="bg1">
                    <a:lumMod val="50000"/>
                  </a:schemeClr>
                </a:solidFill>
              </a:rPr>
              <a:t>(feu)</a:t>
            </a:r>
          </a:p>
          <a:p>
            <a:pPr lvl="1"/>
            <a:r>
              <a:rPr lang="fr-BE"/>
              <a:t>Class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Observable</a:t>
            </a:r>
            <a:r>
              <a:rPr lang="fr-BE"/>
              <a:t> </a:t>
            </a:r>
          </a:p>
          <a:p>
            <a:pPr lvl="1"/>
            <a:r>
              <a:rPr lang="fr-BE"/>
              <a:t>Si modification apportée au sujet =&gt; </a:t>
            </a:r>
            <a:r>
              <a:rPr lang="fr-BE">
                <a:solidFill>
                  <a:schemeClr val="accent2"/>
                </a:solidFill>
              </a:rPr>
              <a:t>message</a:t>
            </a:r>
            <a:r>
              <a:rPr lang="fr-BE"/>
              <a:t> émis vers les observateurs - </a:t>
            </a:r>
            <a:br>
              <a:rPr lang="fr-BE"/>
            </a:br>
            <a:r>
              <a:rPr lang="fr-BE"/>
              <a:t>call .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notifyObservers()</a:t>
            </a:r>
          </a:p>
          <a:p>
            <a:pPr lvl="1"/>
            <a:r>
              <a:rPr lang="fr-BE"/>
              <a:t>Modifications des souscriptions reçues de l'Event Engine - </a:t>
            </a:r>
            <a:br>
              <a:rPr lang="fr-BE"/>
            </a:br>
            <a:r>
              <a:rPr lang="fr-BE"/>
              <a:t>def .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subscribe()</a:t>
            </a:r>
          </a:p>
        </p:txBody>
      </p:sp>
    </p:spTree>
    <p:extLst>
      <p:ext uri="{BB962C8B-B14F-4D97-AF65-F5344CB8AC3E}">
        <p14:creationId xmlns:p14="http://schemas.microsoft.com/office/powerpoint/2010/main" val="2395153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sujets multiples : Architecture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8968" y="1507959"/>
            <a:ext cx="11502190" cy="5350042"/>
          </a:xfrm>
        </p:spPr>
        <p:txBody>
          <a:bodyPr numCol="2" spcCol="180000">
            <a:normAutofit/>
          </a:bodyPr>
          <a:lstStyle/>
          <a:p>
            <a:r>
              <a:rPr lang="fr-BE" sz="3200"/>
              <a:t>Observateur </a:t>
            </a:r>
            <a:r>
              <a:rPr lang="fr-BE" sz="3200">
                <a:solidFill>
                  <a:schemeClr val="bg1">
                    <a:lumMod val="50000"/>
                  </a:schemeClr>
                </a:solidFill>
              </a:rPr>
              <a:t>(voiture)</a:t>
            </a:r>
          </a:p>
          <a:p>
            <a:pPr lvl="1"/>
            <a:r>
              <a:rPr lang="fr-BE" sz="2800"/>
              <a:t>Class 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Observer</a:t>
            </a:r>
          </a:p>
          <a:p>
            <a:pPr lvl="1"/>
            <a:r>
              <a:rPr lang="fr-BE" sz="2800"/>
              <a:t>Si modification apportée au sujet =&gt; </a:t>
            </a:r>
            <a:r>
              <a:rPr lang="fr-BE" sz="2800">
                <a:solidFill>
                  <a:schemeClr val="accent2"/>
                </a:solidFill>
              </a:rPr>
              <a:t>message</a:t>
            </a:r>
            <a:r>
              <a:rPr lang="fr-BE" sz="2800"/>
              <a:t> reçu de la part du sujet - </a:t>
            </a:r>
            <a:br>
              <a:rPr lang="fr-BE" sz="2800"/>
            </a:br>
            <a:r>
              <a:rPr lang="fr-BE" sz="2800"/>
              <a:t>def 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.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notify()</a:t>
            </a:r>
            <a:endParaRPr lang="fr-BE" sz="28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lvl="1"/>
            <a:r>
              <a:rPr lang="fr-BE" sz="2800"/>
              <a:t>responsable de la mise à jour de son état</a:t>
            </a:r>
          </a:p>
          <a:p>
            <a:pPr lvl="1"/>
            <a:r>
              <a:rPr lang="fr-BE" sz="2800"/>
              <a:t>Si mise à jour état =&gt; </a:t>
            </a:r>
            <a:r>
              <a:rPr lang="fr-BE" sz="2800">
                <a:solidFill>
                  <a:schemeClr val="accent2"/>
                </a:solidFill>
              </a:rPr>
              <a:t>message </a:t>
            </a:r>
            <a:r>
              <a:rPr lang="fr-BE" sz="2800"/>
              <a:t>émis vers Event Engine - </a:t>
            </a:r>
            <a:br>
              <a:rPr lang="fr-BE" sz="2800"/>
            </a:br>
            <a:r>
              <a:rPr lang="fr-BE" sz="2800"/>
              <a:t>call 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.event_engine.notify()</a:t>
            </a:r>
          </a:p>
          <a:p>
            <a:endParaRPr lang="fr-BE" sz="3200"/>
          </a:p>
          <a:p>
            <a:r>
              <a:rPr lang="fr-BE" sz="3200"/>
              <a:t>Event Engine </a:t>
            </a:r>
            <a:r>
              <a:rPr lang="fr-BE" sz="3200">
                <a:solidFill>
                  <a:schemeClr val="bg1">
                    <a:lumMod val="50000"/>
                  </a:schemeClr>
                </a:solidFill>
              </a:rPr>
              <a:t>(trafic)</a:t>
            </a:r>
          </a:p>
          <a:p>
            <a:pPr lvl="1"/>
            <a:r>
              <a:rPr lang="fr-BE" sz="2800"/>
              <a:t>Class 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Event_Engine</a:t>
            </a:r>
          </a:p>
          <a:p>
            <a:pPr lvl="1"/>
            <a:r>
              <a:rPr lang="fr-BE" sz="2800"/>
              <a:t>Si état observateur mis  à jour </a:t>
            </a:r>
            <a:br>
              <a:rPr lang="fr-BE" sz="2800"/>
            </a:br>
            <a:r>
              <a:rPr lang="fr-BE" sz="2800"/>
              <a:t>=&gt; </a:t>
            </a:r>
            <a:r>
              <a:rPr lang="fr-BE" sz="2800">
                <a:solidFill>
                  <a:schemeClr val="accent2"/>
                </a:solidFill>
              </a:rPr>
              <a:t>message</a:t>
            </a:r>
            <a:r>
              <a:rPr lang="fr-BE" sz="2800"/>
              <a:t> reçu de la part de l'observateur  - </a:t>
            </a:r>
            <a:br>
              <a:rPr lang="fr-BE" sz="2800"/>
            </a:br>
            <a:r>
              <a:rPr lang="fr-BE" sz="2800"/>
              <a:t>def 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.notify()</a:t>
            </a:r>
          </a:p>
          <a:p>
            <a:pPr lvl="1"/>
            <a:r>
              <a:rPr lang="fr-BE" sz="2800"/>
              <a:t>Modifier les souscriptions  des sujets =&gt; </a:t>
            </a:r>
            <a:r>
              <a:rPr lang="fr-BE" sz="2800">
                <a:solidFill>
                  <a:schemeClr val="accent2"/>
                </a:solidFill>
              </a:rPr>
              <a:t>message</a:t>
            </a:r>
            <a:r>
              <a:rPr lang="fr-BE" sz="2800"/>
              <a:t> émis vers les sujets - </a:t>
            </a:r>
            <a:br>
              <a:rPr lang="fr-BE" sz="2800"/>
            </a:br>
            <a:r>
              <a:rPr lang="fr-BE" sz="2800"/>
              <a:t>call 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.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subscribe()</a:t>
            </a:r>
            <a:endParaRPr lang="fr-BE" sz="280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6043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94D758-719A-4B84-BE3B-5DA7EEF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17-16-18 : trafic, 2 feux, 3 voitures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80450E-1C09-49FB-88F5-7D3B3FC2CC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814011" cy="4351339"/>
          </a:xfrm>
        </p:spPr>
        <p:txBody>
          <a:bodyPr>
            <a:normAutofit fontScale="77500" lnSpcReduction="20000"/>
          </a:bodyPr>
          <a:lstStyle/>
          <a:p>
            <a:r>
              <a:rPr lang="fr-BE"/>
              <a:t>Partir de 13-01-11.</a:t>
            </a:r>
          </a:p>
          <a:p>
            <a:r>
              <a:rPr lang="fr-BE"/>
              <a:t>Implantez la classe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Traffic</a:t>
            </a:r>
            <a:r>
              <a:rPr lang="fr-BE"/>
              <a:t> (event manager) correspondant au scénario suivant.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EFEE32C-03F1-4293-8AF0-6C1208571A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52211" y="1825625"/>
            <a:ext cx="7539789" cy="5032375"/>
          </a:xfrm>
        </p:spPr>
        <p:txBody>
          <a:bodyPr>
            <a:normAutofit fontScale="77500" lnSpcReduction="20000"/>
          </a:bodyPr>
          <a:lstStyle/>
          <a:p>
            <a:pPr marL="171206" lvl="1" indent="0">
              <a:buNone/>
            </a:pP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trafic</a:t>
            </a: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= Traffic()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feu_l = [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Light("Feu01",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trafic</a:t>
            </a: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, 1, 5), …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]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voiture_l = [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Car("Peugeot",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trafic</a:t>
            </a: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), …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]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for i in range(25):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for v in voiture_l: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  v.next()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  print(v)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for f in feu_l: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  print(f)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print()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trafic</a:t>
            </a: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.next()</a:t>
            </a:r>
            <a:endParaRPr lang="fr-BE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866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94D758-719A-4B84-BE3B-5DA7EEF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17-16-18 : trafic, 2 feux, 3 voitures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80450E-1C09-49FB-88F5-7D3B3FC2C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/>
              <a:t>Scénario 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feu02</a:t>
            </a:r>
            <a:r>
              <a:rPr lang="fr-BE"/>
              <a:t> est situé après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feu01</a:t>
            </a:r>
            <a:r>
              <a:rPr lang="fr-BE"/>
              <a:t>.</a:t>
            </a:r>
          </a:p>
          <a:p>
            <a:pPr lvl="1"/>
            <a:r>
              <a:rPr lang="fr-BE"/>
              <a:t>Les voitures observent d'abord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feu01</a:t>
            </a:r>
            <a:r>
              <a:rPr lang="fr-BE"/>
              <a:t>.</a:t>
            </a:r>
          </a:p>
          <a:p>
            <a:pPr lvl="1"/>
            <a:r>
              <a:rPr lang="fr-BE"/>
              <a:t>Quand une voiture démarre, elle est désinscrite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feu01</a:t>
            </a:r>
            <a:r>
              <a:rPr lang="fr-BE"/>
              <a:t> et s'inscrit à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feu02</a:t>
            </a:r>
            <a:r>
              <a:rPr lang="fr-BE"/>
              <a:t>.</a:t>
            </a:r>
          </a:p>
          <a:p>
            <a:pPr lvl="1"/>
            <a:r>
              <a:rPr lang="fr-BE" dirty="0"/>
              <a:t>Quand une voiture passe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</a:rPr>
              <a:t>feu02</a:t>
            </a:r>
            <a:r>
              <a:rPr lang="fr-BE" dirty="0"/>
              <a:t>, elle est désinscrite de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</a:rPr>
              <a:t>feu02</a:t>
            </a:r>
            <a:r>
              <a:rPr lang="fr-BE" dirty="0"/>
              <a:t> et continue sa route. </a:t>
            </a:r>
          </a:p>
          <a:p>
            <a:r>
              <a:rPr lang="fr-BE" dirty="0"/>
              <a:t>Implantez les </a:t>
            </a:r>
            <a:r>
              <a:rPr lang="fr-BE"/>
              <a:t>méthodes  </a:t>
            </a:r>
            <a:br>
              <a:rPr lang="fr-BE"/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.(un)subscribe()</a:t>
            </a:r>
            <a:r>
              <a:rPr lang="fr-BE"/>
              <a:t>,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/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.notifyObservers()</a:t>
            </a:r>
            <a:r>
              <a:rPr lang="fr-BE"/>
              <a:t>,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/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/>
              <a:t>et les différentes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</a:rPr>
              <a:t>notify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</a:rPr>
              <a:t>()</a:t>
            </a:r>
            <a:r>
              <a:rPr lang="fr-BE" dirty="0"/>
              <a:t>.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05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18FD69-6B7A-457C-8C56-60411EFD4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Application : GUI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AB852D2-1F56-4D4A-8BB9-A8CC0F452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1026" name="Picture 2" descr="graphic">
            <a:extLst>
              <a:ext uri="{FF2B5EF4-FFF2-40B4-BE49-F238E27FC236}">
                <a16:creationId xmlns:a16="http://schemas.microsoft.com/office/drawing/2014/main" id="{C4557458-E0D6-4164-A3D5-70647C01F1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7586" y="1584995"/>
            <a:ext cx="9465860" cy="5046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7436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fr-BE"/>
              <a:t>Chapitre 17-19 : Singleton</a:t>
            </a:r>
          </a:p>
        </p:txBody>
      </p:sp>
      <p:sp>
        <p:nvSpPr>
          <p:cNvPr id="60" name="Google Shape;60;p3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Design Pattern créateur</a:t>
            </a:r>
          </a:p>
          <a:p>
            <a:pPr lvl="0"/>
            <a:endParaRPr lang="fr-BE"/>
          </a:p>
        </p:txBody>
      </p:sp>
      <p:sp>
        <p:nvSpPr>
          <p:cNvPr id="2" name="Espace réservé pour une image  1">
            <a:extLst>
              <a:ext uri="{FF2B5EF4-FFF2-40B4-BE49-F238E27FC236}">
                <a16:creationId xmlns:a16="http://schemas.microsoft.com/office/drawing/2014/main" id="{40BB0400-DCE8-D6BD-2C79-5C3DA9BC967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56186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fr-BE"/>
              <a:t> Design Pattern : Singleton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CBBABB2C-54AE-4A0D-8432-C8EBB97C5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Utilité : Limiter l'instanciation d'une classe à un seul objet.</a:t>
            </a:r>
          </a:p>
          <a:p>
            <a:pPr lvl="1"/>
            <a:r>
              <a:rPr lang="fr-BE"/>
              <a:t>Quand la création de plusieurs objets issus de la même classe met l'application en danger. </a:t>
            </a:r>
          </a:p>
          <a:p>
            <a:pPr lvl="1"/>
            <a:r>
              <a:rPr lang="fr-BE"/>
              <a:t>Limiter l'accès simultané à une ressource partagée.</a:t>
            </a:r>
          </a:p>
          <a:p>
            <a:pPr lvl="1"/>
            <a:r>
              <a:rPr lang="fr-BE"/>
              <a:t>Créer un point d'accès global pour une ressource. </a:t>
            </a:r>
          </a:p>
        </p:txBody>
      </p:sp>
    </p:spTree>
    <p:extLst>
      <p:ext uri="{BB962C8B-B14F-4D97-AF65-F5344CB8AC3E}">
        <p14:creationId xmlns:p14="http://schemas.microsoft.com/office/powerpoint/2010/main" val="1608865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fr-BE"/>
              <a:t> Design Pattern : Singleton 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CBBABB2C-54AE-4A0D-8432-C8EBB97C5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Implantation </a:t>
            </a:r>
          </a:p>
          <a:p>
            <a:pPr lvl="1"/>
            <a:r>
              <a:rPr lang="fr-BE"/>
              <a:t>Via la 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singleton() </a:t>
            </a:r>
          </a:p>
          <a:p>
            <a:pPr lvl="1"/>
            <a:r>
              <a:rPr lang="fr-BE"/>
              <a:t>Elle gère l'objet unique (création, enregistrement, vérification de l'existence).</a:t>
            </a:r>
          </a:p>
          <a:p>
            <a:pPr lvl="1"/>
            <a:r>
              <a:rPr lang="fr-BE"/>
              <a:t>Quand elle est appelée, elle renvoie l'objet unique. </a:t>
            </a:r>
          </a:p>
          <a:p>
            <a:pPr lvl="1"/>
            <a:r>
              <a:rPr lang="fr-BE" dirty="0"/>
              <a:t>Méthode statique, appelable depuis la classe</a:t>
            </a:r>
          </a:p>
          <a:p>
            <a:r>
              <a:rPr lang="fr-BE" dirty="0"/>
              <a:t>Algorithme 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</a:rPr>
              <a:t>singleton()</a:t>
            </a:r>
          </a:p>
          <a:p>
            <a:pPr lvl="1"/>
            <a:r>
              <a:rPr lang="fr-BE" dirty="0"/>
              <a:t>Si l'objet n'existe pas, alors il </a:t>
            </a:r>
            <a:r>
              <a:rPr lang="fr-BE"/>
              <a:t>est créé, </a:t>
            </a:r>
            <a:r>
              <a:rPr lang="fr-BE">
                <a:solidFill>
                  <a:schemeClr val="accent2"/>
                </a:solidFill>
              </a:rPr>
              <a:t>enregistré comme attribut</a:t>
            </a:r>
            <a:r>
              <a:rPr lang="fr-BE"/>
              <a:t>, et retourné </a:t>
            </a:r>
            <a:r>
              <a:rPr lang="fr-BE" dirty="0"/>
              <a:t>à l'appelant.</a:t>
            </a:r>
          </a:p>
          <a:p>
            <a:pPr lvl="1"/>
            <a:r>
              <a:rPr lang="fr-BE" dirty="0"/>
              <a:t>Si l'objet existe déjà, alors il est retourné à l'appelant.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81958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80BC6BB-1EF2-423F-903E-C356E1B23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Exo 17-19-05 : 2 objets, 2 dictionnaires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7398909-3468-4AE3-96DC-955305FAD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1825625"/>
            <a:ext cx="11800113" cy="4117976"/>
          </a:xfrm>
        </p:spPr>
        <p:txBody>
          <a:bodyPr numCol="2" spcCol="360000">
            <a:normAutofit fontScale="70000" lnSpcReduction="20000"/>
          </a:bodyPr>
          <a:lstStyle/>
          <a:p>
            <a:r>
              <a:rPr lang="fr-BE" dirty="0"/>
              <a:t>Écrivez une classe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Storage</a:t>
            </a:r>
            <a:r>
              <a:rPr lang="fr-BE" dirty="0"/>
              <a:t> qui gère un dictionnaire.</a:t>
            </a:r>
          </a:p>
          <a:p>
            <a:r>
              <a:rPr lang="fr-BE" dirty="0"/>
              <a:t>Méthodes : </a:t>
            </a:r>
          </a:p>
          <a:p>
            <a:pPr lvl="1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__init__()</a:t>
            </a:r>
          </a:p>
          <a:p>
            <a:pPr lvl="1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str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__()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append( key, value )</a:t>
            </a:r>
            <a:endParaRPr lang="fr-BE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2"/>
            <a:r>
              <a:rPr lang="fr-BE"/>
              <a:t>Ajoute une paire clé-valeur au dictionnaire</a:t>
            </a:r>
          </a:p>
          <a:p>
            <a:r>
              <a:rPr lang="fr-BE"/>
              <a:t>Créez deux objets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Storage</a:t>
            </a:r>
            <a:r>
              <a:rPr lang="fr-BE"/>
              <a:t> et remplissez les différemment.</a:t>
            </a:r>
          </a:p>
          <a:p>
            <a:r>
              <a:rPr lang="fr-BE"/>
              <a:t>Constatez si ces deux objets sont égaux.</a:t>
            </a:r>
          </a:p>
          <a:p>
            <a:pPr lvl="1"/>
            <a:r>
              <a:rPr lang="fr-BE"/>
              <a:t>Ils ne le sont pas.  </a:t>
            </a:r>
            <a:r>
              <a:rPr lang="fr-BE">
                <a:sym typeface="Wingdings" panose="05000000000000000000" pitchFamily="2" charset="2"/>
              </a:rPr>
              <a:t></a:t>
            </a:r>
          </a:p>
          <a:p>
            <a:pPr lvl="1"/>
            <a:r>
              <a:rPr lang="fr-BE">
                <a:sym typeface="Wingdings" panose="05000000000000000000" pitchFamily="2" charset="2"/>
              </a:rPr>
              <a:t>Approche KO</a:t>
            </a:r>
            <a:endParaRPr lang="fr-BE"/>
          </a:p>
          <a:p>
            <a:r>
              <a:rPr lang="fr-BE"/>
              <a:t>Scénario</a:t>
            </a:r>
          </a:p>
          <a:p>
            <a:pPr marL="82800" indent="0">
              <a:buNone/>
            </a:pP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s = </a:t>
            </a:r>
            <a:r>
              <a:rPr lang="en-US" sz="3100">
                <a:solidFill>
                  <a:schemeClr val="accent5"/>
                </a:solidFill>
                <a:latin typeface="Consolas" panose="020B0609020204030204" pitchFamily="49" charset="0"/>
              </a:rPr>
              <a:t>Storage</a:t>
            </a: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()</a:t>
            </a:r>
          </a:p>
          <a:p>
            <a:pPr marL="82800" indent="0">
              <a:buNone/>
            </a:pP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s.append("fname","Kevin")</a:t>
            </a:r>
          </a:p>
          <a:p>
            <a:pPr marL="82800" indent="0">
              <a:buNone/>
            </a:pPr>
            <a:endParaRPr lang="en-US" sz="31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82800" indent="0">
              <a:buNone/>
            </a:pP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t = </a:t>
            </a:r>
            <a:r>
              <a:rPr lang="en-US" sz="3100">
                <a:solidFill>
                  <a:schemeClr val="accent5"/>
                </a:solidFill>
                <a:latin typeface="Consolas" panose="020B0609020204030204" pitchFamily="49" charset="0"/>
              </a:rPr>
              <a:t>Storage</a:t>
            </a: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()</a:t>
            </a:r>
          </a:p>
          <a:p>
            <a:pPr marL="82800" indent="0">
              <a:buNone/>
            </a:pP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t.append("lname","Costner")</a:t>
            </a:r>
          </a:p>
          <a:p>
            <a:pPr marL="82800" indent="0">
              <a:buNone/>
            </a:pPr>
            <a:endParaRPr lang="en-US" sz="31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82800" indent="0">
              <a:buNone/>
            </a:pP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print(s, t)</a:t>
            </a:r>
          </a:p>
          <a:p>
            <a:pPr marL="82800" indent="0">
              <a:buNone/>
            </a:pP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print(s is t)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9AA1D4E-8934-427E-8DE8-26C121ED73B4}"/>
              </a:ext>
            </a:extLst>
          </p:cNvPr>
          <p:cNvSpPr txBox="1"/>
          <p:nvPr/>
        </p:nvSpPr>
        <p:spPr>
          <a:xfrm>
            <a:off x="6488823" y="5657671"/>
            <a:ext cx="5703176" cy="120032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</a:defRPr>
            </a:lvl1pPr>
          </a:lstStyle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s: Storage:</a:t>
            </a:r>
          </a:p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 - clé fname : valeur Kevin</a:t>
            </a:r>
          </a:p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t: Storage:</a:t>
            </a:r>
          </a:p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 - clé lname : valeur Brian</a:t>
            </a:r>
          </a:p>
        </p:txBody>
      </p:sp>
    </p:spTree>
    <p:extLst>
      <p:ext uri="{BB962C8B-B14F-4D97-AF65-F5344CB8AC3E}">
        <p14:creationId xmlns:p14="http://schemas.microsoft.com/office/powerpoint/2010/main" val="3151916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80BC6BB-1EF2-423F-903E-C356E1B23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17-19-06 : 2 réf., 1 dict,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.singleton()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7398909-3468-4AE3-96DC-955305FAD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7" y="1825625"/>
            <a:ext cx="11553370" cy="4667250"/>
          </a:xfrm>
        </p:spPr>
        <p:txBody>
          <a:bodyPr numCol="2" spcCol="360000">
            <a:noAutofit/>
          </a:bodyPr>
          <a:lstStyle/>
          <a:p>
            <a:r>
              <a:rPr lang="fr-BE" sz="2800"/>
              <a:t>Partez de l'exo précédent.</a:t>
            </a:r>
          </a:p>
          <a:p>
            <a:r>
              <a:rPr lang="fr-BE" sz="2800"/>
              <a:t>Appliquez le Design Pattern Singleton à la classe 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Storage</a:t>
            </a:r>
            <a:r>
              <a:rPr lang="fr-BE" sz="2800" b="1">
                <a:solidFill>
                  <a:srgbClr val="A87236"/>
                </a:solidFill>
                <a:latin typeface="Courier New" panose="02070309020205020404" pitchFamily="49" charset="0"/>
              </a:rPr>
              <a:t> </a:t>
            </a:r>
            <a:r>
              <a:rPr lang="fr-BE" sz="2800"/>
              <a:t>afin que le dictionnaire soit unique.</a:t>
            </a:r>
          </a:p>
          <a:p>
            <a:r>
              <a:rPr lang="fr-BE" sz="2800"/>
              <a:t>Méthodes</a:t>
            </a:r>
          </a:p>
          <a:p>
            <a:pPr lvl="1"/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singleton()</a:t>
            </a:r>
          </a:p>
          <a:p>
            <a:pPr lvl="1"/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__init__()</a:t>
            </a:r>
          </a:p>
          <a:p>
            <a:pPr lvl="1"/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__str__()</a:t>
            </a:r>
          </a:p>
          <a:p>
            <a:pPr lvl="1"/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append( key, value )</a:t>
            </a:r>
          </a:p>
          <a:p>
            <a:pPr marL="482600" lvl="1" indent="0">
              <a:buNone/>
            </a:pPr>
            <a:r>
              <a:rPr lang="fr-BE" sz="2400" b="1">
                <a:solidFill>
                  <a:srgbClr val="A87236"/>
                </a:solidFill>
                <a:latin typeface="Courier New" panose="02070309020205020404" pitchFamily="49" charset="0"/>
              </a:rPr>
              <a:t/>
            </a:r>
            <a:br>
              <a:rPr lang="fr-BE" sz="2400" b="1">
                <a:solidFill>
                  <a:srgbClr val="A87236"/>
                </a:solidFill>
                <a:latin typeface="Courier New" panose="02070309020205020404" pitchFamily="49" charset="0"/>
              </a:rPr>
            </a:br>
            <a:endParaRPr lang="fr-BE" sz="2800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r>
              <a:rPr lang="fr-BE" sz="2800"/>
              <a:t>Scénario légèrement modifié </a:t>
            </a:r>
          </a:p>
          <a:p>
            <a:pPr marL="399800" lvl="1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s = </a:t>
            </a:r>
            <a:r>
              <a:rPr lang="en-US" sz="2000">
                <a:solidFill>
                  <a:schemeClr val="accent5"/>
                </a:solidFill>
                <a:latin typeface="Consolas" panose="020B0609020204030204" pitchFamily="49" charset="0"/>
              </a:rPr>
              <a:t>Storage.singleton</a:t>
            </a: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()</a:t>
            </a:r>
          </a:p>
          <a:p>
            <a:pPr marL="399800" lvl="1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s.append("fname","Kevin")</a:t>
            </a:r>
          </a:p>
          <a:p>
            <a:pPr marL="399800" lvl="1" indent="0">
              <a:buNone/>
            </a:pPr>
            <a:endParaRPr lang="en-US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399800" lvl="1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t = </a:t>
            </a:r>
            <a:r>
              <a:rPr lang="en-US" sz="2000">
                <a:solidFill>
                  <a:schemeClr val="accent5"/>
                </a:solidFill>
                <a:latin typeface="Consolas" panose="020B0609020204030204" pitchFamily="49" charset="0"/>
              </a:rPr>
              <a:t>Storage.singleton</a:t>
            </a: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()</a:t>
            </a:r>
          </a:p>
          <a:p>
            <a:pPr marL="399800" lvl="1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t.append("lname","Costner")</a:t>
            </a:r>
          </a:p>
          <a:p>
            <a:pPr marL="399800" lvl="1" indent="0">
              <a:buNone/>
            </a:pPr>
            <a:endParaRPr lang="en-US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399800" lvl="1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print(s, t)</a:t>
            </a:r>
          </a:p>
          <a:p>
            <a:pPr marL="399800" lvl="1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print(s is t)</a:t>
            </a:r>
          </a:p>
          <a:p>
            <a:pPr marL="654300" indent="-571500"/>
            <a:endParaRPr lang="en-US" sz="2800" b="1">
              <a:solidFill>
                <a:srgbClr val="A87236"/>
              </a:solidFill>
              <a:latin typeface="Courier New" panose="02070309020205020404" pitchFamily="49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F5A71FC-EA11-4EF4-8475-102F66EEE356}"/>
              </a:ext>
            </a:extLst>
          </p:cNvPr>
          <p:cNvSpPr txBox="1"/>
          <p:nvPr/>
        </p:nvSpPr>
        <p:spPr>
          <a:xfrm>
            <a:off x="6826469" y="5102446"/>
            <a:ext cx="5365531" cy="17543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s: Storage: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fname : valeur Kevin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lname : valeur Brian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t: Storage: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fname : valeur Kevin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lname : valeur Brian</a:t>
            </a:r>
          </a:p>
        </p:txBody>
      </p:sp>
    </p:spTree>
    <p:extLst>
      <p:ext uri="{BB962C8B-B14F-4D97-AF65-F5344CB8AC3E}">
        <p14:creationId xmlns:p14="http://schemas.microsoft.com/office/powerpoint/2010/main" val="1547855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80BC6BB-1EF2-423F-903E-C356E1B23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17-19-06 : 2 réf., 1 dict,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.singleton()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7398909-3468-4AE3-96DC-955305FAD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7" y="1451429"/>
            <a:ext cx="11553370" cy="5406571"/>
          </a:xfrm>
        </p:spPr>
        <p:txBody>
          <a:bodyPr numCol="1" spcCol="360000">
            <a:normAutofit fontScale="77500" lnSpcReduction="20000"/>
          </a:bodyPr>
          <a:lstStyle/>
          <a:p>
            <a:pPr marL="82800" indent="0">
              <a:buNone/>
            </a:pPr>
            <a:r>
              <a:rPr lang="en-US" sz="2800" dirty="0">
                <a:solidFill>
                  <a:srgbClr val="A87236"/>
                </a:solidFill>
                <a:latin typeface="Consolas" panose="020B0609020204030204" pitchFamily="49" charset="0"/>
              </a:rPr>
              <a:t>class Storage:</a:t>
            </a:r>
          </a:p>
          <a:p>
            <a:pPr marL="82800" indent="0">
              <a:buNone/>
            </a:pPr>
            <a:r>
              <a:rPr lang="en-US" sz="2800" dirty="0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__instance = None</a:t>
            </a:r>
          </a:p>
          <a:p>
            <a:pPr marL="82800" indent="0">
              <a:buNone/>
            </a:pPr>
            <a:endParaRPr lang="en-US" sz="2800" dirty="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82800" indent="0">
              <a:buNone/>
            </a:pPr>
            <a:r>
              <a:rPr lang="en-US" sz="2800" dirty="0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@</a:t>
            </a:r>
            <a:r>
              <a:rPr lang="en-US" sz="2800" dirty="0" err="1">
                <a:solidFill>
                  <a:schemeClr val="accent2"/>
                </a:solidFill>
                <a:latin typeface="Consolas" panose="020B0609020204030204" pitchFamily="49" charset="0"/>
              </a:rPr>
              <a:t>classmethod</a:t>
            </a:r>
            <a:endParaRPr lang="en-US" sz="2800" dirty="0">
              <a:solidFill>
                <a:schemeClr val="accent2"/>
              </a:solidFill>
              <a:latin typeface="Consolas" panose="020B0609020204030204" pitchFamily="49" charset="0"/>
            </a:endParaRPr>
          </a:p>
          <a:p>
            <a:pPr marL="82800" indent="0">
              <a:buNone/>
            </a:pPr>
            <a:r>
              <a:rPr lang="en-US" sz="2800" dirty="0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en-US" sz="2800" dirty="0" err="1">
                <a:solidFill>
                  <a:srgbClr val="A87236"/>
                </a:solidFill>
                <a:latin typeface="Consolas" panose="020B0609020204030204" pitchFamily="49" charset="0"/>
              </a:rPr>
              <a:t>def</a:t>
            </a:r>
            <a:r>
              <a:rPr lang="en-US" sz="2800" dirty="0">
                <a:solidFill>
                  <a:srgbClr val="A87236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 smtClean="0">
                <a:solidFill>
                  <a:srgbClr val="A87236"/>
                </a:solidFill>
                <a:latin typeface="Consolas" panose="020B0609020204030204" pitchFamily="49" charset="0"/>
              </a:rPr>
              <a:t>singleton(</a:t>
            </a:r>
            <a:r>
              <a:rPr lang="en-US" sz="2800" dirty="0" err="1" smtClean="0">
                <a:solidFill>
                  <a:srgbClr val="A87236"/>
                </a:solidFill>
                <a:latin typeface="Consolas" panose="020B0609020204030204" pitchFamily="49" charset="0"/>
              </a:rPr>
              <a:t>cls</a:t>
            </a:r>
            <a:r>
              <a:rPr lang="en-US" sz="2800" dirty="0" smtClean="0">
                <a:solidFill>
                  <a:srgbClr val="A87236"/>
                </a:solidFill>
                <a:latin typeface="Consolas" panose="020B0609020204030204" pitchFamily="49" charset="0"/>
              </a:rPr>
              <a:t>):</a:t>
            </a:r>
            <a:endParaRPr lang="en-US" sz="2800" dirty="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82800" indent="0">
              <a:buNone/>
            </a:pP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    if </a:t>
            </a:r>
            <a:r>
              <a:rPr lang="en-US" sz="2800" dirty="0" err="1">
                <a:solidFill>
                  <a:schemeClr val="accent5"/>
                </a:solidFill>
                <a:latin typeface="Consolas" panose="020B0609020204030204" pitchFamily="49" charset="0"/>
              </a:rPr>
              <a:t>Storage</a:t>
            </a:r>
            <a:r>
              <a:rPr lang="en-US" sz="2800" dirty="0" err="1">
                <a:solidFill>
                  <a:schemeClr val="accent2"/>
                </a:solidFill>
                <a:latin typeface="Consolas" panose="020B0609020204030204" pitchFamily="49" charset="0"/>
              </a:rPr>
              <a:t>.__instance</a:t>
            </a: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 is None:</a:t>
            </a:r>
          </a:p>
          <a:p>
            <a:pPr marL="82800" indent="0">
              <a:buNone/>
            </a:pP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# If instance does not exist, then create it </a:t>
            </a:r>
          </a:p>
          <a:p>
            <a:pPr marL="82800" indent="0">
              <a:buNone/>
            </a:pP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</a:t>
            </a:r>
            <a:r>
              <a:rPr lang="en-US" sz="2800" dirty="0" err="1">
                <a:solidFill>
                  <a:schemeClr val="accent5"/>
                </a:solidFill>
                <a:latin typeface="Consolas" panose="020B0609020204030204" pitchFamily="49" charset="0"/>
              </a:rPr>
              <a:t>Storage</a:t>
            </a:r>
            <a:r>
              <a:rPr lang="en-US" sz="2800" dirty="0" err="1">
                <a:solidFill>
                  <a:schemeClr val="accent2"/>
                </a:solidFill>
                <a:latin typeface="Consolas" panose="020B0609020204030204" pitchFamily="49" charset="0"/>
              </a:rPr>
              <a:t>.__instance</a:t>
            </a: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chemeClr val="accent5"/>
                </a:solidFill>
                <a:latin typeface="Consolas" panose="020B0609020204030204" pitchFamily="49" charset="0"/>
              </a:rPr>
              <a:t>Storage()</a:t>
            </a:r>
          </a:p>
          <a:p>
            <a:pPr marL="82800" indent="0">
              <a:buNone/>
            </a:pP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# return the instance</a:t>
            </a:r>
          </a:p>
          <a:p>
            <a:pPr marL="82800" indent="0">
              <a:buNone/>
            </a:pP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    return </a:t>
            </a:r>
            <a:r>
              <a:rPr lang="en-US" sz="2800" dirty="0" err="1">
                <a:solidFill>
                  <a:schemeClr val="accent5"/>
                </a:solidFill>
                <a:latin typeface="Consolas" panose="020B0609020204030204" pitchFamily="49" charset="0"/>
              </a:rPr>
              <a:t>Storage</a:t>
            </a:r>
            <a:r>
              <a:rPr lang="en-US" sz="2800" dirty="0" err="1">
                <a:solidFill>
                  <a:schemeClr val="accent2"/>
                </a:solidFill>
                <a:latin typeface="Consolas" panose="020B0609020204030204" pitchFamily="49" charset="0"/>
              </a:rPr>
              <a:t>.__instance</a:t>
            </a: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</a:p>
          <a:p>
            <a:pPr marL="82800" indent="0">
              <a:buNone/>
            </a:pPr>
            <a:endParaRPr lang="en-US" sz="2800" dirty="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82800" indent="0">
              <a:buNone/>
            </a:pPr>
            <a:r>
              <a:rPr lang="en-US" sz="2800" dirty="0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en-US" sz="2800" dirty="0" err="1">
                <a:solidFill>
                  <a:srgbClr val="A87236"/>
                </a:solidFill>
                <a:latin typeface="Consolas" panose="020B0609020204030204" pitchFamily="49" charset="0"/>
              </a:rPr>
              <a:t>def</a:t>
            </a:r>
            <a:r>
              <a:rPr lang="en-US" sz="2800" dirty="0">
                <a:solidFill>
                  <a:srgbClr val="A87236"/>
                </a:solidFill>
                <a:latin typeface="Consolas" panose="020B0609020204030204" pitchFamily="49" charset="0"/>
              </a:rPr>
              <a:t> __</a:t>
            </a:r>
            <a:r>
              <a:rPr lang="en-US" sz="2800" dirty="0" err="1">
                <a:solidFill>
                  <a:srgbClr val="A87236"/>
                </a:solidFill>
                <a:latin typeface="Consolas" panose="020B0609020204030204" pitchFamily="49" charset="0"/>
              </a:rPr>
              <a:t>init</a:t>
            </a:r>
            <a:r>
              <a:rPr lang="en-US" sz="2800" dirty="0">
                <a:solidFill>
                  <a:srgbClr val="A87236"/>
                </a:solidFill>
                <a:latin typeface="Consolas" panose="020B0609020204030204" pitchFamily="49" charset="0"/>
              </a:rPr>
              <a:t>__(self):</a:t>
            </a:r>
          </a:p>
          <a:p>
            <a:pPr marL="82800" indent="0">
              <a:buNone/>
            </a:pP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# If instance already exists, then exception</a:t>
            </a:r>
          </a:p>
          <a:p>
            <a:pPr marL="82800" indent="0">
              <a:buNone/>
            </a:pP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    if </a:t>
            </a:r>
            <a:r>
              <a:rPr lang="en-US" sz="2800" dirty="0" err="1">
                <a:solidFill>
                  <a:schemeClr val="accent2"/>
                </a:solidFill>
                <a:latin typeface="Consolas" panose="020B0609020204030204" pitchFamily="49" charset="0"/>
              </a:rPr>
              <a:t>self.__instance</a:t>
            </a: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 is not None:</a:t>
            </a:r>
          </a:p>
          <a:p>
            <a:pPr marL="82800" indent="0">
              <a:buNone/>
            </a:pP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      raise Exception("This class is a singleton!")</a:t>
            </a:r>
          </a:p>
          <a:p>
            <a:pPr marL="82800" indent="0">
              <a:buNone/>
            </a:pPr>
            <a:endParaRPr lang="en-US" sz="2800" dirty="0">
              <a:solidFill>
                <a:srgbClr val="A87236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383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80BC6BB-1EF2-423F-903E-C356E1B23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17-19-06 : 2 réf., 1 dict,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.singleton()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7398909-3468-4AE3-96DC-955305FAD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7" y="1451429"/>
            <a:ext cx="11553370" cy="5406571"/>
          </a:xfrm>
        </p:spPr>
        <p:txBody>
          <a:bodyPr numCol="1" spcCol="360000">
            <a:normAutofit fontScale="77500" lnSpcReduction="20000"/>
          </a:bodyPr>
          <a:lstStyle/>
          <a:p>
            <a:pPr marL="82800" indent="0">
              <a:buNone/>
            </a:pPr>
            <a:r>
              <a:rPr lang="en-US" sz="2800">
                <a:solidFill>
                  <a:srgbClr val="A87236"/>
                </a:solidFill>
                <a:latin typeface="Consolas" panose="020B0609020204030204" pitchFamily="49" charset="0"/>
              </a:rPr>
              <a:t>class Storage:</a:t>
            </a:r>
          </a:p>
          <a:p>
            <a:pPr marL="82800" indent="0">
              <a:buNone/>
            </a:pPr>
            <a:r>
              <a:rPr lang="en-US" sz="2800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__instance = None</a:t>
            </a:r>
          </a:p>
          <a:p>
            <a:pPr marL="82800" indent="0">
              <a:buNone/>
            </a:pPr>
            <a:endParaRPr lang="en-US" sz="28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82800" indent="0">
              <a:buNone/>
            </a:pPr>
            <a:r>
              <a:rPr lang="en-US" sz="2800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@classmethod</a:t>
            </a:r>
          </a:p>
          <a:p>
            <a:pPr marL="82800" indent="0">
              <a:buNone/>
            </a:pPr>
            <a:r>
              <a:rPr lang="en-US" sz="2800">
                <a:solidFill>
                  <a:srgbClr val="A87236"/>
                </a:solidFill>
                <a:latin typeface="Consolas" panose="020B0609020204030204" pitchFamily="49" charset="0"/>
              </a:rPr>
              <a:t>  def singleton(cls):</a:t>
            </a:r>
          </a:p>
          <a:p>
            <a:pPr marL="82800" indent="0">
              <a:buNone/>
            </a:pP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    if </a:t>
            </a:r>
            <a:r>
              <a:rPr lang="en-US" sz="2800">
                <a:solidFill>
                  <a:schemeClr val="accent5"/>
                </a:solidFill>
                <a:latin typeface="Consolas" panose="020B0609020204030204" pitchFamily="49" charset="0"/>
              </a:rPr>
              <a:t>cls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.__instance is None:</a:t>
            </a:r>
          </a:p>
          <a:p>
            <a:pPr marL="82800" indent="0">
              <a:buNone/>
            </a:pPr>
            <a:r>
              <a:rPr lang="en-US" sz="28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# If instance does not exist, then create it </a:t>
            </a:r>
          </a:p>
          <a:p>
            <a:pPr marL="82800" indent="0">
              <a:buNone/>
            </a:pPr>
            <a:r>
              <a:rPr lang="en-US" sz="28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</a:t>
            </a:r>
            <a:r>
              <a:rPr lang="en-US" sz="2800">
                <a:solidFill>
                  <a:schemeClr val="accent5"/>
                </a:solidFill>
                <a:latin typeface="Consolas" panose="020B0609020204030204" pitchFamily="49" charset="0"/>
              </a:rPr>
              <a:t>cls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.__instance = </a:t>
            </a:r>
            <a:r>
              <a:rPr lang="en-US" sz="2800">
                <a:solidFill>
                  <a:schemeClr val="accent5"/>
                </a:solidFill>
                <a:latin typeface="Consolas" panose="020B0609020204030204" pitchFamily="49" charset="0"/>
              </a:rPr>
              <a:t>cls()</a:t>
            </a:r>
          </a:p>
          <a:p>
            <a:pPr marL="82800" indent="0">
              <a:buNone/>
            </a:pPr>
            <a:r>
              <a:rPr lang="en-US" sz="28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# return the instance</a:t>
            </a:r>
          </a:p>
          <a:p>
            <a:pPr marL="82800" indent="0">
              <a:buNone/>
            </a:pP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    return </a:t>
            </a:r>
            <a:r>
              <a:rPr lang="en-US" sz="2800">
                <a:solidFill>
                  <a:schemeClr val="accent5"/>
                </a:solidFill>
                <a:latin typeface="Consolas" panose="020B0609020204030204" pitchFamily="49" charset="0"/>
              </a:rPr>
              <a:t>cls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.__instance </a:t>
            </a:r>
          </a:p>
          <a:p>
            <a:pPr marL="82800" indent="0">
              <a:buNone/>
            </a:pPr>
            <a:endParaRPr lang="en-US" sz="28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82800" indent="0">
              <a:buNone/>
            </a:pPr>
            <a:r>
              <a:rPr lang="en-US" sz="2800">
                <a:solidFill>
                  <a:srgbClr val="A87236"/>
                </a:solidFill>
                <a:latin typeface="Consolas" panose="020B0609020204030204" pitchFamily="49" charset="0"/>
              </a:rPr>
              <a:t>  def __init__(self):</a:t>
            </a:r>
          </a:p>
          <a:p>
            <a:pPr marL="82800" indent="0">
              <a:buNone/>
            </a:pPr>
            <a:r>
              <a:rPr lang="en-US" sz="28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If instance already exists, then exception</a:t>
            </a:r>
          </a:p>
          <a:p>
            <a:pPr marL="82800" indent="0">
              <a:buNone/>
            </a:pP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    if self.__instance</a:t>
            </a: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is </a:t>
            </a: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not None:</a:t>
            </a:r>
          </a:p>
          <a:p>
            <a:pPr marL="82800" indent="0">
              <a:buNone/>
            </a:pP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      raise Exception("This class is a singleton!")</a:t>
            </a:r>
          </a:p>
        </p:txBody>
      </p:sp>
    </p:spTree>
    <p:extLst>
      <p:ext uri="{BB962C8B-B14F-4D97-AF65-F5344CB8AC3E}">
        <p14:creationId xmlns:p14="http://schemas.microsoft.com/office/powerpoint/2010/main" val="1980289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DB9D894-A9DB-4D86-8ECB-96954BA87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Préalable : magic method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.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__new__()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FD54A74-3512-4D54-8462-4DAE55EE5C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numCol="1">
            <a:normAutofit lnSpcReduction="10000"/>
          </a:bodyPr>
          <a:lstStyle/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__new__()</a:t>
            </a:r>
          </a:p>
          <a:p>
            <a:pPr marL="939800" lvl="1" indent="-457200">
              <a:buFont typeface="Arial" panose="020B0604020202020204" pitchFamily="34" charset="0"/>
              <a:buChar char="•"/>
            </a:pPr>
            <a:r>
              <a:rPr lang="fr-BE"/>
              <a:t>Créer un objet d'une certaine classe</a:t>
            </a:r>
          </a:p>
          <a:p>
            <a:pPr marL="939800" lvl="1" indent="-457200">
              <a:buFont typeface="Arial" panose="020B0604020202020204" pitchFamily="34" charset="0"/>
              <a:buChar char="•"/>
            </a:pPr>
            <a:r>
              <a:rPr lang="fr-BE"/>
              <a:t>Retourne un objet</a:t>
            </a:r>
            <a:br>
              <a:rPr lang="fr-BE"/>
            </a:br>
            <a:endParaRPr lang="fr-BE"/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__init__()</a:t>
            </a:r>
          </a:p>
          <a:p>
            <a:pPr marL="939800" lvl="1" indent="-457200">
              <a:buFont typeface="Arial" panose="020B0604020202020204" pitchFamily="34" charset="0"/>
              <a:buChar char="•"/>
            </a:pPr>
            <a:r>
              <a:rPr lang="fr-BE"/>
              <a:t>Initialiser un objet juste créé</a:t>
            </a:r>
          </a:p>
          <a:p>
            <a:pPr marL="939800" lvl="1" indent="-457200">
              <a:buFont typeface="Arial" panose="020B0604020202020204" pitchFamily="34" charset="0"/>
              <a:buChar char="•"/>
            </a:pPr>
            <a:r>
              <a:rPr lang="fr-BE"/>
              <a:t>Ne retourne rien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fr-BE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941F5F75-EB78-4CD4-BD31-6285E171D4B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fr-BE"/>
              <a:t>Exo 17-19-02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/>
              <a:t>Lire et exécuter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/>
              <a:t>Type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a</a:t>
            </a:r>
            <a:r>
              <a:rPr lang="fr-BE"/>
              <a:t> ? Pourquoi ?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/>
              <a:t>Type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b</a:t>
            </a:r>
            <a:r>
              <a:rPr lang="fr-BE"/>
              <a:t> ? Pourquoi ?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5E3C44E-EE87-D721-20A2-F4E8E3C04901}"/>
              </a:ext>
            </a:extLst>
          </p:cNvPr>
          <p:cNvSpPr txBox="1">
            <a:spLocks noChangeAspect="1"/>
          </p:cNvSpPr>
          <p:nvPr/>
        </p:nvSpPr>
        <p:spPr>
          <a:xfrm>
            <a:off x="7760911" y="4607304"/>
            <a:ext cx="2661555" cy="15696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 anchorCtr="0">
            <a:spAutoFit/>
          </a:bodyPr>
          <a:lstStyle/>
          <a:p>
            <a:pPr algn="ctr"/>
            <a:r>
              <a:rPr lang="fr-BE" sz="3200" b="1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  <a:latin typeface="Garamond" panose="02020404030301010803" pitchFamily="18" charset="0"/>
              </a:rPr>
              <a:t>Pour programmeur avancé</a:t>
            </a:r>
          </a:p>
        </p:txBody>
      </p:sp>
    </p:spTree>
    <p:extLst>
      <p:ext uri="{BB962C8B-B14F-4D97-AF65-F5344CB8AC3E}">
        <p14:creationId xmlns:p14="http://schemas.microsoft.com/office/powerpoint/2010/main" val="867994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7B6D403F-B303-4F8F-9780-885ADE5781EE}"/>
              </a:ext>
            </a:extLst>
          </p:cNvPr>
          <p:cNvSpPr txBox="1"/>
          <p:nvPr/>
        </p:nvSpPr>
        <p:spPr>
          <a:xfrm>
            <a:off x="8084414" y="5080427"/>
            <a:ext cx="4107585" cy="17543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s: Storage: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fname : valeur Kevin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lname : valeur Brian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t: Storage: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fname : valeur Kevin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lname : valeur Brian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080BC6BB-1EF2-423F-903E-C356E1B23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17-19-07 : 2 réf., 1 dict,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.__new__()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7398909-3468-4AE3-96DC-955305FAD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1825625"/>
            <a:ext cx="11800113" cy="4351339"/>
          </a:xfrm>
        </p:spPr>
        <p:txBody>
          <a:bodyPr numCol="2" spcCol="360000">
            <a:normAutofit fontScale="77500" lnSpcReduction="20000"/>
          </a:bodyPr>
          <a:lstStyle/>
          <a:p>
            <a:r>
              <a:rPr lang="fr-BE"/>
              <a:t>Partez de l'exo précédent.</a:t>
            </a:r>
          </a:p>
          <a:p>
            <a:r>
              <a:rPr lang="fr-BE"/>
              <a:t>Utilisez la méthode magique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__new__</a:t>
            </a:r>
            <a:r>
              <a:rPr lang="fr-BE"/>
              <a:t> afin de pouvoir appeler directement la classe, sans la 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singleton</a:t>
            </a:r>
            <a:r>
              <a:rPr lang="fr-BE"/>
              <a:t>.</a:t>
            </a:r>
          </a:p>
          <a:p>
            <a:r>
              <a:rPr lang="fr-BE"/>
              <a:t>Méthodes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__new__()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__init__()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__str__()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append( key, value )</a:t>
            </a: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/>
            </a:r>
            <a:b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</a:br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r>
              <a:rPr lang="fr-BE"/>
              <a:t>Scénario légèrement modifié </a:t>
            </a:r>
          </a:p>
          <a:p>
            <a:pPr marL="508012" lvl="1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s = 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</a:rPr>
              <a:t>Storage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()</a:t>
            </a:r>
          </a:p>
          <a:p>
            <a:pPr marL="508012" lvl="1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s.append( "k_s", "v_s")</a:t>
            </a:r>
          </a:p>
          <a:p>
            <a:pPr marL="508012" lvl="1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s.append("fname","Kevin")</a:t>
            </a:r>
          </a:p>
          <a:p>
            <a:pPr marL="508012" lvl="1" indent="0">
              <a:buNone/>
            </a:pPr>
            <a:endParaRPr lang="en-US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508012" lvl="1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t = 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</a:rPr>
              <a:t>Storage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()</a:t>
            </a:r>
          </a:p>
          <a:p>
            <a:pPr marL="508012" lvl="1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t.append("lname","Costner")</a:t>
            </a:r>
          </a:p>
          <a:p>
            <a:pPr marL="508012" lvl="1" indent="0">
              <a:buNone/>
            </a:pPr>
            <a:endParaRPr lang="en-US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508012" lvl="1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print(s, t)</a:t>
            </a:r>
          </a:p>
          <a:p>
            <a:pPr marL="508012" lvl="1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print(s is t)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4FD885F-71AC-D23D-6EBD-2FF45D1893AC}"/>
              </a:ext>
            </a:extLst>
          </p:cNvPr>
          <p:cNvSpPr txBox="1">
            <a:spLocks noChangeAspect="1"/>
          </p:cNvSpPr>
          <p:nvPr/>
        </p:nvSpPr>
        <p:spPr>
          <a:xfrm>
            <a:off x="1898542" y="5288340"/>
            <a:ext cx="2661555" cy="15696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 anchorCtr="0">
            <a:spAutoFit/>
          </a:bodyPr>
          <a:lstStyle/>
          <a:p>
            <a:pPr algn="ctr"/>
            <a:r>
              <a:rPr lang="fr-BE" sz="3200" b="1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  <a:latin typeface="Garamond" panose="02020404030301010803" pitchFamily="18" charset="0"/>
              </a:rPr>
              <a:t>Pour programmeur avancé</a:t>
            </a:r>
          </a:p>
        </p:txBody>
      </p:sp>
    </p:spTree>
    <p:extLst>
      <p:ext uri="{BB962C8B-B14F-4D97-AF65-F5344CB8AC3E}">
        <p14:creationId xmlns:p14="http://schemas.microsoft.com/office/powerpoint/2010/main" val="1828240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8E3914-FDA3-4BDE-84F5-B6A841A8E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17-19-24 : la jungle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9AF7726-C5DE-474C-A70F-B193FC5EA6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Partez de l'exo 13-53-24</a:t>
            </a:r>
          </a:p>
          <a:p>
            <a:r>
              <a:rPr lang="fr-BE"/>
              <a:t>Nouvelles hypothèses :</a:t>
            </a:r>
          </a:p>
          <a:p>
            <a:pPr lvl="1"/>
            <a:r>
              <a:rPr lang="fr-BE"/>
              <a:t>Le point d'eau est une ressource unique</a:t>
            </a:r>
          </a:p>
          <a:p>
            <a:pPr lvl="1"/>
            <a:r>
              <a:rPr lang="fr-BE"/>
              <a:t>Le buisson  est une ressource unique</a:t>
            </a:r>
          </a:p>
          <a:p>
            <a:r>
              <a:rPr lang="fr-BE"/>
              <a:t>Adaptez le code en conséquence.</a:t>
            </a:r>
          </a:p>
          <a:p>
            <a:pPr lvl="1"/>
            <a:r>
              <a:rPr lang="fr-BE"/>
              <a:t>On ne crée plus d'objet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lac</a:t>
            </a:r>
            <a:r>
              <a:rPr lang="fr-BE"/>
              <a:t> ou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buisson</a:t>
            </a:r>
            <a:r>
              <a:rPr lang="fr-BE"/>
              <a:t> à partir des classes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Water</a:t>
            </a:r>
            <a:r>
              <a:rPr lang="fr-BE"/>
              <a:t> ou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Archaeplastida</a:t>
            </a: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.</a:t>
            </a:r>
          </a:p>
          <a:p>
            <a:pPr lvl="1"/>
            <a:r>
              <a:rPr lang="fr-BE"/>
              <a:t>Les méthodes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set_water()</a:t>
            </a:r>
            <a:r>
              <a:rPr lang="fr-BE"/>
              <a:t> et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set_food()</a:t>
            </a:r>
            <a:r>
              <a:rPr lang="fr-BE"/>
              <a:t> disparaissent.</a:t>
            </a:r>
          </a:p>
          <a:p>
            <a:pPr lvl="1"/>
            <a:r>
              <a:rPr lang="fr-BE"/>
              <a:t>L'utilisation de ces resources se fera via un singleton.</a:t>
            </a:r>
          </a:p>
        </p:txBody>
      </p:sp>
    </p:spTree>
    <p:extLst>
      <p:ext uri="{BB962C8B-B14F-4D97-AF65-F5344CB8AC3E}">
        <p14:creationId xmlns:p14="http://schemas.microsoft.com/office/powerpoint/2010/main" val="4270717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7354" y="1122363"/>
            <a:ext cx="8100646" cy="2387600"/>
          </a:xfrm>
        </p:spPr>
        <p:txBody>
          <a:bodyPr>
            <a:normAutofit fontScale="90000"/>
          </a:bodyPr>
          <a:lstStyle/>
          <a:p>
            <a:r>
              <a:rPr lang="fr-BE" dirty="0"/>
              <a:t>Bachelier en Informatique de Gestion</a:t>
            </a:r>
            <a:br>
              <a:rPr lang="fr-BE" dirty="0"/>
            </a:br>
            <a:r>
              <a:rPr lang="fr-BE" dirty="0"/>
              <a:t/>
            </a:r>
            <a:br>
              <a:rPr lang="fr-BE" dirty="0"/>
            </a:br>
            <a:r>
              <a:rPr lang="fr-BE"/>
              <a:t>Projet Orientée Objet</a:t>
            </a:r>
            <a:endParaRPr lang="fr-BE" noProof="0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ctr"/>
            <a:r>
              <a:rPr lang="fr-FR" sz="115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FIN</a:t>
            </a:r>
          </a:p>
        </p:txBody>
      </p:sp>
      <p:pic>
        <p:nvPicPr>
          <p:cNvPr id="17" name="Picture 16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596" y="289351"/>
            <a:ext cx="1674557" cy="1674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624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urotix">
  <a:themeElements>
    <a:clrScheme name="Custom 4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DD3D1"/>
      </a:accent1>
      <a:accent2>
        <a:srgbClr val="1963A1"/>
      </a:accent2>
      <a:accent3>
        <a:srgbClr val="E5CBAD"/>
      </a:accent3>
      <a:accent4>
        <a:srgbClr val="5DF5F3"/>
      </a:accent4>
      <a:accent5>
        <a:srgbClr val="56A4E4"/>
      </a:accent5>
      <a:accent6>
        <a:srgbClr val="EFDFCD"/>
      </a:accent6>
      <a:hlink>
        <a:srgbClr val="000000"/>
      </a:hlink>
      <a:folHlink>
        <a:srgbClr val="3F3F3F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ides discret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rotix2022.potm" id="{7A707283-01BA-4932-B574-4A389620091B}" vid="{093B5C4F-DD58-40B6-A0EE-0D8451AE628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burotix2022</Template>
  <TotalTime>12558</TotalTime>
  <Words>3644</Words>
  <Application>Microsoft Office PowerPoint</Application>
  <PresentationFormat>Grand écran</PresentationFormat>
  <Paragraphs>707</Paragraphs>
  <Slides>72</Slides>
  <Notes>12</Notes>
  <HiddenSlides>1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72</vt:i4>
      </vt:variant>
    </vt:vector>
  </HeadingPairs>
  <TitlesOfParts>
    <vt:vector size="79" baseType="lpstr">
      <vt:lpstr>Consolas</vt:lpstr>
      <vt:lpstr>Wingdings</vt:lpstr>
      <vt:lpstr>Calibri</vt:lpstr>
      <vt:lpstr>Arial</vt:lpstr>
      <vt:lpstr>Courier New</vt:lpstr>
      <vt:lpstr>Garamond</vt:lpstr>
      <vt:lpstr>burotix</vt:lpstr>
      <vt:lpstr>Bachelier en Informatique de Gestion  Programmation Orientée Objet</vt:lpstr>
      <vt:lpstr>Table des matières</vt:lpstr>
      <vt:lpstr>Partie 17 Programmation Orientée Objet  "Patron de Conception" (Design Pattern)</vt:lpstr>
      <vt:lpstr>17. POO Design Pattern</vt:lpstr>
      <vt:lpstr>Design Pattern : références </vt:lpstr>
      <vt:lpstr>Design Pattern : références </vt:lpstr>
      <vt:lpstr>Design Pattern : définition</vt:lpstr>
      <vt:lpstr>Design Pattern : pro &amp; con</vt:lpstr>
      <vt:lpstr>Design Pattern : familles</vt:lpstr>
      <vt:lpstr>Les design patterns du gang of four</vt:lpstr>
      <vt:lpstr>Chapitre 17-01 : Décorateur</vt:lpstr>
      <vt:lpstr>Design Pattern : Decorator</vt:lpstr>
      <vt:lpstr>Design Pattern : Decorator</vt:lpstr>
      <vt:lpstr>Decorator : @classmethod</vt:lpstr>
      <vt:lpstr>Decorator : @classmethod</vt:lpstr>
      <vt:lpstr>Decorator : @classmethod</vt:lpstr>
      <vt:lpstr>Remarque : décorateurs  @classmethod vs. @staticmethod</vt:lpstr>
      <vt:lpstr>Remarque : décorateurs  @classmethod vs. @staticmethod</vt:lpstr>
      <vt:lpstr>Chapitre 17-02 : Factory</vt:lpstr>
      <vt:lpstr> Design Pattern : Factory</vt:lpstr>
      <vt:lpstr> Design Pattern : Factory </vt:lpstr>
      <vt:lpstr>Exo 17-02-05 : translator (sample)</vt:lpstr>
      <vt:lpstr>Exo 17-02-13 : quadrilatère</vt:lpstr>
      <vt:lpstr>Exo 17-02-14 : formes géométriques</vt:lpstr>
      <vt:lpstr>Chapitre 17-13 : Iterator</vt:lpstr>
      <vt:lpstr>Préalable : Generator</vt:lpstr>
      <vt:lpstr>Préalable : Generator : Exo 17-13-01  sample</vt:lpstr>
      <vt:lpstr>Préalable : Generator : Exo 17-13-02 application à la lecture d'un gros fichier</vt:lpstr>
      <vt:lpstr>Préalable : Generator : Exo 17-13-03  fonctions iter() et next()</vt:lpstr>
      <vt:lpstr>Préalable : Generator : fonctions avancées</vt:lpstr>
      <vt:lpstr>Design Pattern : Iterator</vt:lpstr>
      <vt:lpstr>Design Pattern : Iterator</vt:lpstr>
      <vt:lpstr>Design Pattern : Iterator : création </vt:lpstr>
      <vt:lpstr>Design Pattern : Iterator : Exo 17-13-06</vt:lpstr>
      <vt:lpstr>Design Pattern : Iterator : Exo 17-13-06</vt:lpstr>
      <vt:lpstr>Exo 17-13-11 : feu de signalisation</vt:lpstr>
      <vt:lpstr>Exo 17-13-24 : la jungle</vt:lpstr>
      <vt:lpstr>Chapitre 17-16 : Observer</vt:lpstr>
      <vt:lpstr>Présentation PowerPoint</vt:lpstr>
      <vt:lpstr>Design Pattern : Observer</vt:lpstr>
      <vt:lpstr>Design Pattern : Observer</vt:lpstr>
      <vt:lpstr>Design Pattern : Observer</vt:lpstr>
      <vt:lpstr>Design Pattern : Observer : Souscription</vt:lpstr>
      <vt:lpstr>Design Pattern : Observer : Architecture</vt:lpstr>
      <vt:lpstr>Design Pattern : Observer : UML</vt:lpstr>
      <vt:lpstr>Présentation PowerPoint</vt:lpstr>
      <vt:lpstr>Observer : exo 17-16-02 : trivial … mais complet !</vt:lpstr>
      <vt:lpstr>Observer : exo 17-16-12 : trafic</vt:lpstr>
      <vt:lpstr>Exo 17-16-12 : trafic, un feu, une voiture</vt:lpstr>
      <vt:lpstr>Exo 17-16-12 : la morale de l'histoire </vt:lpstr>
      <vt:lpstr>Observer : exo 17-16-14 : trafic</vt:lpstr>
      <vt:lpstr>Exo 17-16-14 : trafic, un feu, deux voitures</vt:lpstr>
      <vt:lpstr>Exo 17-16-16 : trafic, un feu, trois voitures</vt:lpstr>
      <vt:lpstr>Observer : sujets multiples </vt:lpstr>
      <vt:lpstr>Observer : sujets multiples </vt:lpstr>
      <vt:lpstr>Observer : sujets multiples </vt:lpstr>
      <vt:lpstr>Observer : sujets multiples : Architecture</vt:lpstr>
      <vt:lpstr>Observer : sujets multiples : Architecture</vt:lpstr>
      <vt:lpstr>Exo 17-16-18 : trafic, 2 feux, 3 voitures</vt:lpstr>
      <vt:lpstr>Exo 17-16-18 : trafic, 2 feux, 3 voitures</vt:lpstr>
      <vt:lpstr>Observer : Application : GUI</vt:lpstr>
      <vt:lpstr>Chapitre 17-19 : Singleton</vt:lpstr>
      <vt:lpstr> Design Pattern : Singleton</vt:lpstr>
      <vt:lpstr> Design Pattern : Singleton </vt:lpstr>
      <vt:lpstr>Exo 17-19-05 : 2 objets, 2 dictionnaires</vt:lpstr>
      <vt:lpstr>Exo 17-19-06 : 2 réf., 1 dict, .singleton()</vt:lpstr>
      <vt:lpstr>Exo 17-19-06 : 2 réf., 1 dict, .singleton()</vt:lpstr>
      <vt:lpstr>Exo 17-19-06 : 2 réf., 1 dict, .singleton()</vt:lpstr>
      <vt:lpstr>Préalable : magic method .__new__()</vt:lpstr>
      <vt:lpstr>Exo 17-19-07 : 2 réf., 1 dict, .__new__()</vt:lpstr>
      <vt:lpstr>Exo 17-19-24 : la jungle</vt:lpstr>
      <vt:lpstr>Bachelier en Informatique de Gestion  Projet Orientée Objet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17 :  Programmation Orientée Objet  Design Pattern</dc:title>
  <dc:creator>Alain Wafflard</dc:creator>
  <cp:lastModifiedBy>PROF</cp:lastModifiedBy>
  <cp:revision>124</cp:revision>
  <dcterms:created xsi:type="dcterms:W3CDTF">2022-01-25T16:31:00Z</dcterms:created>
  <dcterms:modified xsi:type="dcterms:W3CDTF">2025-12-11T20:25:36Z</dcterms:modified>
</cp:coreProperties>
</file>